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fntdata" ContentType="application/x-fontdata"/>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autoCompressPictures="0">
  <p:sldMasterIdLst>
    <p:sldMasterId id="2147483660" r:id="rId1"/>
  </p:sldMasterIdLst>
  <p:notesMasterIdLst>
    <p:notesMasterId r:id="rId40"/>
  </p:notesMasterIdLst>
  <p:sldIdLst>
    <p:sldId id="256" r:id="rId2"/>
    <p:sldId id="257" r:id="rId3"/>
    <p:sldId id="258" r:id="rId4"/>
    <p:sldId id="260" r:id="rId5"/>
    <p:sldId id="291" r:id="rId6"/>
    <p:sldId id="261" r:id="rId7"/>
    <p:sldId id="262" r:id="rId8"/>
    <p:sldId id="263" r:id="rId9"/>
    <p:sldId id="274" r:id="rId10"/>
    <p:sldId id="275" r:id="rId11"/>
    <p:sldId id="280" r:id="rId12"/>
    <p:sldId id="281" r:id="rId13"/>
    <p:sldId id="268" r:id="rId14"/>
    <p:sldId id="269" r:id="rId15"/>
    <p:sldId id="264" r:id="rId16"/>
    <p:sldId id="265" r:id="rId17"/>
    <p:sldId id="266" r:id="rId18"/>
    <p:sldId id="267" r:id="rId19"/>
    <p:sldId id="272" r:id="rId20"/>
    <p:sldId id="273" r:id="rId21"/>
    <p:sldId id="282" r:id="rId22"/>
    <p:sldId id="302" r:id="rId23"/>
    <p:sldId id="303" r:id="rId24"/>
    <p:sldId id="304" r:id="rId25"/>
    <p:sldId id="305" r:id="rId26"/>
    <p:sldId id="287" r:id="rId27"/>
    <p:sldId id="285" r:id="rId28"/>
    <p:sldId id="292" r:id="rId29"/>
    <p:sldId id="293" r:id="rId30"/>
    <p:sldId id="294" r:id="rId31"/>
    <p:sldId id="295" r:id="rId32"/>
    <p:sldId id="296" r:id="rId33"/>
    <p:sldId id="298" r:id="rId34"/>
    <p:sldId id="297" r:id="rId35"/>
    <p:sldId id="283" r:id="rId36"/>
    <p:sldId id="299" r:id="rId37"/>
    <p:sldId id="300" r:id="rId38"/>
    <p:sldId id="301" r:id="rId39"/>
  </p:sldIdLst>
  <p:sldSz cx="9144000" cy="5143500" type="screen16x9"/>
  <p:notesSz cx="6858000" cy="9144000"/>
  <p:embeddedFontLst>
    <p:embeddedFont>
      <p:font typeface="Calibri" panose="020F0502020204030204" pitchFamily="34" charset="0"/>
      <p:regular r:id="rId41"/>
      <p:bold r:id="rId42"/>
      <p:italic r:id="rId43"/>
      <p:boldItalic r:id="rId44"/>
    </p:embeddedFont>
    <p:embeddedFont>
      <p:font typeface="Calibri Light" panose="020F0302020204030204" pitchFamily="34" charset="0"/>
      <p:regular r:id="rId45"/>
      <p:italic r:id="rId46"/>
    </p:embeddedFont>
    <p:embeddedFont>
      <p:font typeface="Playfair Display" panose="02000503000000020003" pitchFamily="2" charset="0"/>
      <p:regular r:id="rId4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74021" autoAdjust="0"/>
  </p:normalViewPr>
  <p:slideViewPr>
    <p:cSldViewPr snapToGrid="0">
      <p:cViewPr varScale="1">
        <p:scale>
          <a:sx n="74" d="100"/>
          <a:sy n="74" d="100"/>
        </p:scale>
        <p:origin x="1266" y="6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font" Target="fonts/font2.fntdata"/><Relationship Id="rId47" Type="http://schemas.openxmlformats.org/officeDocument/2006/relationships/font" Target="fonts/font7.fntdata"/><Relationship Id="rId50"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notesMaster" Target="notesMasters/notesMaster1.xml"/><Relationship Id="rId45" Type="http://schemas.openxmlformats.org/officeDocument/2006/relationships/font" Target="fonts/font5.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font" Target="fonts/font4.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font" Target="fonts/font3.fntdata"/><Relationship Id="rId48"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font" Target="fonts/font6.fntdata"/><Relationship Id="rId20" Type="http://schemas.openxmlformats.org/officeDocument/2006/relationships/slide" Target="slides/slide19.xml"/><Relationship Id="rId41" Type="http://schemas.openxmlformats.org/officeDocument/2006/relationships/font" Target="fonts/font1.fntdata"/><Relationship Id="rId1" Type="http://schemas.openxmlformats.org/officeDocument/2006/relationships/slideMaster" Target="slideMasters/slideMaster1.xml"/><Relationship Id="rId6" Type="http://schemas.openxmlformats.org/officeDocument/2006/relationships/slide" Target="slides/slide5.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57487577-C226-47D5-9E10-E30DE5F97108}"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en-US"/>
        </a:p>
      </dgm:t>
    </dgm:pt>
    <dgm:pt modelId="{D69DCEC7-1391-43DB-983D-E2BDEEA8D3AD}">
      <dgm:prSet/>
      <dgm:spPr/>
      <dgm:t>
        <a:bodyPr/>
        <a:lstStyle/>
        <a:p>
          <a:pPr algn="ctr" rtl="0"/>
          <a:r>
            <a:rPr lang="en-US" b="1" i="1" baseline="0" dirty="0" smtClean="0"/>
            <a:t>Thank You</a:t>
          </a:r>
          <a:endParaRPr lang="en-US" dirty="0"/>
        </a:p>
      </dgm:t>
    </dgm:pt>
    <dgm:pt modelId="{34251D42-AFC1-4AAA-9989-30E82E9FF1E4}" type="parTrans" cxnId="{8484441E-773F-4A39-8B85-8B3A06BE3E0C}">
      <dgm:prSet/>
      <dgm:spPr/>
      <dgm:t>
        <a:bodyPr/>
        <a:lstStyle/>
        <a:p>
          <a:endParaRPr lang="en-US"/>
        </a:p>
      </dgm:t>
    </dgm:pt>
    <dgm:pt modelId="{BAC80D60-25B2-44A4-952F-67ECA8540C6E}" type="sibTrans" cxnId="{8484441E-773F-4A39-8B85-8B3A06BE3E0C}">
      <dgm:prSet/>
      <dgm:spPr/>
      <dgm:t>
        <a:bodyPr/>
        <a:lstStyle/>
        <a:p>
          <a:endParaRPr lang="en-US"/>
        </a:p>
      </dgm:t>
    </dgm:pt>
    <dgm:pt modelId="{AC72195A-13E4-40E4-AA76-528A3EB1540A}" type="pres">
      <dgm:prSet presAssocID="{57487577-C226-47D5-9E10-E30DE5F97108}" presName="linear" presStyleCnt="0">
        <dgm:presLayoutVars>
          <dgm:animLvl val="lvl"/>
          <dgm:resizeHandles val="exact"/>
        </dgm:presLayoutVars>
      </dgm:prSet>
      <dgm:spPr/>
      <dgm:t>
        <a:bodyPr/>
        <a:lstStyle/>
        <a:p>
          <a:endParaRPr lang="en-US"/>
        </a:p>
      </dgm:t>
    </dgm:pt>
    <dgm:pt modelId="{0E5E69CC-C617-4A3E-A711-291B1E0D03A9}" type="pres">
      <dgm:prSet presAssocID="{D69DCEC7-1391-43DB-983D-E2BDEEA8D3AD}" presName="parentText" presStyleLbl="node1" presStyleIdx="0" presStyleCnt="1">
        <dgm:presLayoutVars>
          <dgm:chMax val="0"/>
          <dgm:bulletEnabled val="1"/>
        </dgm:presLayoutVars>
      </dgm:prSet>
      <dgm:spPr/>
      <dgm:t>
        <a:bodyPr/>
        <a:lstStyle/>
        <a:p>
          <a:endParaRPr lang="en-US"/>
        </a:p>
      </dgm:t>
    </dgm:pt>
  </dgm:ptLst>
  <dgm:cxnLst>
    <dgm:cxn modelId="{7F480E35-21E1-43D6-AD3A-227F84F05822}" type="presOf" srcId="{D69DCEC7-1391-43DB-983D-E2BDEEA8D3AD}" destId="{0E5E69CC-C617-4A3E-A711-291B1E0D03A9}" srcOrd="0" destOrd="0" presId="urn:microsoft.com/office/officeart/2005/8/layout/vList2"/>
    <dgm:cxn modelId="{8484441E-773F-4A39-8B85-8B3A06BE3E0C}" srcId="{57487577-C226-47D5-9E10-E30DE5F97108}" destId="{D69DCEC7-1391-43DB-983D-E2BDEEA8D3AD}" srcOrd="0" destOrd="0" parTransId="{34251D42-AFC1-4AAA-9989-30E82E9FF1E4}" sibTransId="{BAC80D60-25B2-44A4-952F-67ECA8540C6E}"/>
    <dgm:cxn modelId="{AD360DC6-B1C9-4AD9-A7E4-6F260642B100}" type="presOf" srcId="{57487577-C226-47D5-9E10-E30DE5F97108}" destId="{AC72195A-13E4-40E4-AA76-528A3EB1540A}" srcOrd="0" destOrd="0" presId="urn:microsoft.com/office/officeart/2005/8/layout/vList2"/>
    <dgm:cxn modelId="{BEA45B95-837B-4DDC-A096-AAECF122C93F}" type="presParOf" srcId="{AC72195A-13E4-40E4-AA76-528A3EB1540A}" destId="{0E5E69CC-C617-4A3E-A711-291B1E0D03A9}"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E5E69CC-C617-4A3E-A711-291B1E0D03A9}">
      <dsp:nvSpPr>
        <dsp:cNvPr id="0" name=""/>
        <dsp:cNvSpPr/>
      </dsp:nvSpPr>
      <dsp:spPr>
        <a:xfrm>
          <a:off x="0" y="198548"/>
          <a:ext cx="8520600" cy="1559025"/>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47650" tIns="247650" rIns="247650" bIns="247650" numCol="1" spcCol="1270" anchor="ctr" anchorCtr="0">
          <a:noAutofit/>
        </a:bodyPr>
        <a:lstStyle/>
        <a:p>
          <a:pPr lvl="0" algn="ctr" defTabSz="2889250" rtl="0">
            <a:lnSpc>
              <a:spcPct val="90000"/>
            </a:lnSpc>
            <a:spcBef>
              <a:spcPct val="0"/>
            </a:spcBef>
            <a:spcAft>
              <a:spcPct val="35000"/>
            </a:spcAft>
          </a:pPr>
          <a:r>
            <a:rPr lang="en-US" sz="6500" b="1" i="1" kern="1200" baseline="0" dirty="0" smtClean="0"/>
            <a:t>Thank You</a:t>
          </a:r>
          <a:endParaRPr lang="en-US" sz="6500" kern="1200" dirty="0"/>
        </a:p>
      </dsp:txBody>
      <dsp:txXfrm>
        <a:off x="76105" y="274653"/>
        <a:ext cx="8368390" cy="1406815"/>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Shape 3"/>
          <p:cNvSpPr>
            <a:spLocks noGrp="1" noRot="1" noChangeAspect="1"/>
          </p:cNvSpPr>
          <p:nvPr>
            <p:ph type="sldImg" idx="2"/>
          </p:nvPr>
        </p:nvSpPr>
        <p:spPr>
          <a:xfrm>
            <a:off x="381300" y="685800"/>
            <a:ext cx="6096075"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
        <p:nvSpPr>
          <p:cNvPr id="4" name="Shape 4"/>
          <p:cNvSpPr txBox="1">
            <a:spLocks noGrp="1"/>
          </p:cNvSpPr>
          <p:nvPr>
            <p:ph type="body" idx="1"/>
          </p:nvPr>
        </p:nvSpPr>
        <p:spPr>
          <a:xfrm>
            <a:off x="685800" y="4343400"/>
            <a:ext cx="5486400" cy="4114800"/>
          </a:xfrm>
          <a:prstGeom prst="rect">
            <a:avLst/>
          </a:prstGeom>
          <a:noFill/>
          <a:ln>
            <a:noFill/>
          </a:ln>
        </p:spPr>
        <p:txBody>
          <a:bodyPr wrap="square" lIns="91425" tIns="91425" rIns="91425" bIns="91425" anchor="t" anchorCtr="0"/>
          <a:lstStyle>
            <a:lvl1pPr lvl="0">
              <a:spcBef>
                <a:spcPts val="0"/>
              </a:spcBef>
              <a:buSzPct val="100000"/>
              <a:buChar char="●"/>
              <a:defRPr sz="1100"/>
            </a:lvl1pPr>
            <a:lvl2pPr lvl="1">
              <a:spcBef>
                <a:spcPts val="0"/>
              </a:spcBef>
              <a:buSzPct val="100000"/>
              <a:buChar char="○"/>
              <a:defRPr sz="1100"/>
            </a:lvl2pPr>
            <a:lvl3pPr lvl="2">
              <a:spcBef>
                <a:spcPts val="0"/>
              </a:spcBef>
              <a:buSzPct val="100000"/>
              <a:buChar char="■"/>
              <a:defRPr sz="1100"/>
            </a:lvl3pPr>
            <a:lvl4pPr lvl="3">
              <a:spcBef>
                <a:spcPts val="0"/>
              </a:spcBef>
              <a:buSzPct val="100000"/>
              <a:buChar char="●"/>
              <a:defRPr sz="1100"/>
            </a:lvl4pPr>
            <a:lvl5pPr lvl="4">
              <a:spcBef>
                <a:spcPts val="0"/>
              </a:spcBef>
              <a:buSzPct val="100000"/>
              <a:buChar char="○"/>
              <a:defRPr sz="1100"/>
            </a:lvl5pPr>
            <a:lvl6pPr lvl="5">
              <a:spcBef>
                <a:spcPts val="0"/>
              </a:spcBef>
              <a:buSzPct val="100000"/>
              <a:buChar char="■"/>
              <a:defRPr sz="1100"/>
            </a:lvl6pPr>
            <a:lvl7pPr lvl="6">
              <a:spcBef>
                <a:spcPts val="0"/>
              </a:spcBef>
              <a:buSzPct val="100000"/>
              <a:buChar char="●"/>
              <a:defRPr sz="1100"/>
            </a:lvl7pPr>
            <a:lvl8pPr lvl="7">
              <a:spcBef>
                <a:spcPts val="0"/>
              </a:spcBef>
              <a:buSzPct val="100000"/>
              <a:buChar char="○"/>
              <a:defRPr sz="1100"/>
            </a:lvl8pPr>
            <a:lvl9pPr lvl="8">
              <a:spcBef>
                <a:spcPts val="0"/>
              </a:spcBef>
              <a:buSzPct val="100000"/>
              <a:buChar char="■"/>
              <a:defRPr sz="1100"/>
            </a:lvl9pPr>
          </a:lstStyle>
          <a:p>
            <a:endParaRPr dirty="0"/>
          </a:p>
        </p:txBody>
      </p:sp>
    </p:spTree>
    <p:extLst>
      <p:ext uri="{BB962C8B-B14F-4D97-AF65-F5344CB8AC3E}">
        <p14:creationId xmlns:p14="http://schemas.microsoft.com/office/powerpoint/2010/main" val="2126962360"/>
      </p:ext>
    </p:extLst>
  </p:cSld>
  <p:clrMap bg1="lt1" tx1="dk1" bg2="dk2" tx2="lt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Times New Roman" panose="02020603050405020304" pitchFamily="18" charset="0"/>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
        <p:cNvGrpSpPr/>
        <p:nvPr/>
      </p:nvGrpSpPr>
      <p:grpSpPr>
        <a:xfrm>
          <a:off x="0" y="0"/>
          <a:ext cx="0" cy="0"/>
          <a:chOff x="0" y="0"/>
          <a:chExt cx="0" cy="0"/>
        </a:xfrm>
      </p:grpSpPr>
      <p:sp>
        <p:nvSpPr>
          <p:cNvPr id="55" name="Shape 55"/>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56" name="Shape 56"/>
          <p:cNvSpPr txBox="1">
            <a:spLocks noGrp="1"/>
          </p:cNvSpPr>
          <p:nvPr>
            <p:ph type="body" idx="1"/>
          </p:nvPr>
        </p:nvSpPr>
        <p:spPr>
          <a:xfrm>
            <a:off x="685800" y="4343400"/>
            <a:ext cx="5486400" cy="4114800"/>
          </a:xfrm>
          <a:prstGeom prst="rect">
            <a:avLst/>
          </a:prstGeom>
        </p:spPr>
        <p:txBody>
          <a:bodyPr wrap="square" lIns="91425" tIns="91425" rIns="91425" bIns="91425" anchor="t" anchorCtr="0">
            <a:noAutofit/>
          </a:bodyPr>
          <a:lstStyle/>
          <a:p>
            <a:pPr lvl="0">
              <a:spcBef>
                <a:spcPts val="0"/>
              </a:spcBef>
              <a:buNone/>
            </a:pPr>
            <a:r>
              <a:rPr lang="en-US" dirty="0" smtClean="0"/>
              <a:t>The</a:t>
            </a:r>
            <a:r>
              <a:rPr lang="en-US" baseline="0" dirty="0" smtClean="0"/>
              <a:t> topic of my presentation is </a:t>
            </a:r>
            <a:endParaRPr dirty="0"/>
          </a:p>
        </p:txBody>
      </p:sp>
    </p:spTree>
    <p:extLst>
      <p:ext uri="{BB962C8B-B14F-4D97-AF65-F5344CB8AC3E}">
        <p14:creationId xmlns:p14="http://schemas.microsoft.com/office/powerpoint/2010/main" val="429384154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
        <p:cNvGrpSpPr/>
        <p:nvPr/>
      </p:nvGrpSpPr>
      <p:grpSpPr>
        <a:xfrm>
          <a:off x="0" y="0"/>
          <a:ext cx="0" cy="0"/>
          <a:chOff x="0" y="0"/>
          <a:chExt cx="0" cy="0"/>
        </a:xfrm>
      </p:grpSpPr>
      <p:sp>
        <p:nvSpPr>
          <p:cNvPr id="61" name="Shape 61"/>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62" name="Shape 62"/>
          <p:cNvSpPr txBox="1">
            <a:spLocks noGrp="1"/>
          </p:cNvSpPr>
          <p:nvPr>
            <p:ph type="body" idx="1"/>
          </p:nvPr>
        </p:nvSpPr>
        <p:spPr>
          <a:xfrm>
            <a:off x="685800" y="4343400"/>
            <a:ext cx="5486400" cy="4114800"/>
          </a:xfrm>
          <a:prstGeom prst="rect">
            <a:avLst/>
          </a:prstGeom>
        </p:spPr>
        <p:txBody>
          <a:bodyPr wrap="square" lIns="91425" tIns="91425" rIns="91425" bIns="91425" anchor="t" anchorCtr="0">
            <a:noAutofit/>
          </a:bodyPr>
          <a:lstStyle/>
          <a:p>
            <a:pPr lvl="0">
              <a:spcBef>
                <a:spcPts val="0"/>
              </a:spcBef>
              <a:buNone/>
            </a:pPr>
            <a:r>
              <a:rPr lang="en-US" sz="1100" kern="1200" dirty="0" smtClean="0">
                <a:solidFill>
                  <a:schemeClr val="tx1"/>
                </a:solidFill>
                <a:effectLst/>
                <a:latin typeface="Times New Roman" panose="02020603050405020304" pitchFamily="18" charset="0"/>
                <a:ea typeface="+mn-ea"/>
                <a:cs typeface="+mn-cs"/>
              </a:rPr>
              <a:t>In my presentation I am going to cover the following contents</a:t>
            </a:r>
            <a:endParaRPr dirty="0"/>
          </a:p>
        </p:txBody>
      </p:sp>
    </p:spTree>
    <p:extLst>
      <p:ext uri="{BB962C8B-B14F-4D97-AF65-F5344CB8AC3E}">
        <p14:creationId xmlns:p14="http://schemas.microsoft.com/office/powerpoint/2010/main" val="397501117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
        <p:cNvGrpSpPr/>
        <p:nvPr/>
      </p:nvGrpSpPr>
      <p:grpSpPr>
        <a:xfrm>
          <a:off x="0" y="0"/>
          <a:ext cx="0" cy="0"/>
          <a:chOff x="0" y="0"/>
          <a:chExt cx="0" cy="0"/>
        </a:xfrm>
      </p:grpSpPr>
      <p:sp>
        <p:nvSpPr>
          <p:cNvPr id="67" name="Shape 67"/>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68" name="Shape 68"/>
          <p:cNvSpPr txBox="1">
            <a:spLocks noGrp="1"/>
          </p:cNvSpPr>
          <p:nvPr>
            <p:ph type="body" idx="1"/>
          </p:nvPr>
        </p:nvSpPr>
        <p:spPr>
          <a:xfrm>
            <a:off x="685800" y="4343400"/>
            <a:ext cx="5486400" cy="4114800"/>
          </a:xfrm>
          <a:prstGeom prst="rect">
            <a:avLst/>
          </a:prstGeom>
        </p:spPr>
        <p:txBody>
          <a:bodyPr wrap="square" lIns="91425" tIns="91425" rIns="91425" bIns="91425" anchor="t" anchorCtr="0">
            <a:noAutofit/>
          </a:bodyPr>
          <a:lstStyle/>
          <a:p>
            <a:pPr lvl="0">
              <a:spcBef>
                <a:spcPts val="0"/>
              </a:spcBef>
              <a:buNone/>
            </a:pPr>
            <a:r>
              <a:rPr lang="en" dirty="0"/>
              <a:t>Ant colony algorithm is inspired from the foraging behavior of the ants to find the particular food source. </a:t>
            </a:r>
            <a:endParaRPr lang="en" dirty="0" smtClean="0"/>
          </a:p>
          <a:p>
            <a:pPr lvl="0">
              <a:spcBef>
                <a:spcPts val="0"/>
              </a:spcBef>
              <a:buNone/>
            </a:pPr>
            <a:r>
              <a:rPr lang="en" dirty="0" smtClean="0"/>
              <a:t>The </a:t>
            </a:r>
            <a:r>
              <a:rPr lang="en" dirty="0"/>
              <a:t>ants deposit pheromone trails along their route to the food source so other ants can follow them. </a:t>
            </a:r>
            <a:endParaRPr lang="en" dirty="0" smtClean="0"/>
          </a:p>
          <a:p>
            <a:pPr lvl="0">
              <a:spcBef>
                <a:spcPts val="0"/>
              </a:spcBef>
              <a:buNone/>
            </a:pPr>
            <a:r>
              <a:rPr lang="en" dirty="0" smtClean="0"/>
              <a:t>The </a:t>
            </a:r>
            <a:r>
              <a:rPr lang="en" dirty="0"/>
              <a:t>path in ACO correspond to one solution to a problem, the more the pheromone on the path hence more the quality of the solution. </a:t>
            </a:r>
            <a:endParaRPr lang="en" dirty="0" smtClean="0"/>
          </a:p>
          <a:p>
            <a:pPr lvl="0">
              <a:spcBef>
                <a:spcPts val="0"/>
              </a:spcBef>
              <a:buNone/>
            </a:pPr>
            <a:r>
              <a:rPr lang="en" dirty="0" smtClean="0"/>
              <a:t>These </a:t>
            </a:r>
            <a:r>
              <a:rPr lang="en" dirty="0"/>
              <a:t>algorithms are mainly used to solve combinatorial optimization problems over discrete search spaces problems which were considered as NP hard problems it is impossible to find efficient algorithm to solve these problems in polynomial time</a:t>
            </a:r>
            <a:r>
              <a:rPr lang="en" dirty="0" smtClean="0"/>
              <a:t>.</a:t>
            </a:r>
          </a:p>
          <a:p>
            <a:pPr lvl="0">
              <a:spcBef>
                <a:spcPts val="0"/>
              </a:spcBef>
              <a:buNone/>
            </a:pPr>
            <a:r>
              <a:rPr lang="en" dirty="0" smtClean="0"/>
              <a:t>The </a:t>
            </a:r>
            <a:r>
              <a:rPr lang="en" dirty="0"/>
              <a:t>central component of the ACO algorithm is the pheromone model, which is used to probabilistically sample the search space.Now researchers </a:t>
            </a:r>
            <a:r>
              <a:rPr lang="en" dirty="0" smtClean="0"/>
              <a:t>have </a:t>
            </a:r>
            <a:r>
              <a:rPr lang="en" dirty="0"/>
              <a:t>modified the ant colony algorithm to make it useful to solve continuous optimization problems.</a:t>
            </a:r>
          </a:p>
          <a:p>
            <a:pPr lvl="0">
              <a:spcBef>
                <a:spcPts val="0"/>
              </a:spcBef>
              <a:buNone/>
            </a:pPr>
            <a:endParaRPr dirty="0"/>
          </a:p>
        </p:txBody>
      </p:sp>
    </p:spTree>
    <p:extLst>
      <p:ext uri="{BB962C8B-B14F-4D97-AF65-F5344CB8AC3E}">
        <p14:creationId xmlns:p14="http://schemas.microsoft.com/office/powerpoint/2010/main" val="166872262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
        <p:cNvGrpSpPr/>
        <p:nvPr/>
      </p:nvGrpSpPr>
      <p:grpSpPr>
        <a:xfrm>
          <a:off x="0" y="0"/>
          <a:ext cx="0" cy="0"/>
          <a:chOff x="0" y="0"/>
          <a:chExt cx="0" cy="0"/>
        </a:xfrm>
      </p:grpSpPr>
      <p:sp>
        <p:nvSpPr>
          <p:cNvPr id="79" name="Shape 79"/>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80" name="Shape 80"/>
          <p:cNvSpPr txBox="1">
            <a:spLocks noGrp="1"/>
          </p:cNvSpPr>
          <p:nvPr>
            <p:ph type="body" idx="1"/>
          </p:nvPr>
        </p:nvSpPr>
        <p:spPr>
          <a:xfrm>
            <a:off x="685800" y="4343400"/>
            <a:ext cx="5486400" cy="4114800"/>
          </a:xfrm>
          <a:prstGeom prst="rect">
            <a:avLst/>
          </a:prstGeom>
        </p:spPr>
        <p:txBody>
          <a:bodyPr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Tx/>
              <a:buSzPct val="100000"/>
              <a:buFontTx/>
              <a:buNone/>
              <a:tabLst/>
              <a:defRPr/>
            </a:pPr>
            <a:r>
              <a:rPr lang="en-US" sz="1100" kern="1200" dirty="0" smtClean="0">
                <a:solidFill>
                  <a:schemeClr val="tx1"/>
                </a:solidFill>
                <a:effectLst/>
                <a:latin typeface="Times New Roman" panose="02020603050405020304" pitchFamily="18" charset="0"/>
                <a:ea typeface="+mn-ea"/>
                <a:cs typeface="+mn-cs"/>
              </a:rPr>
              <a:t>Before going further I would like to explore some background knowledge of Ant colony algorithm..</a:t>
            </a:r>
          </a:p>
          <a:p>
            <a:pPr marL="0" marR="0" lvl="0" indent="0" algn="l" defTabSz="914400" rtl="0" eaLnBrk="1" fontAlgn="auto" latinLnBrk="0" hangingPunct="1">
              <a:lnSpc>
                <a:spcPct val="100000"/>
              </a:lnSpc>
              <a:spcBef>
                <a:spcPts val="0"/>
              </a:spcBef>
              <a:spcAft>
                <a:spcPts val="0"/>
              </a:spcAft>
              <a:buClrTx/>
              <a:buSzPct val="100000"/>
              <a:buFontTx/>
              <a:buNone/>
              <a:tabLst/>
              <a:defRPr/>
            </a:pPr>
            <a:r>
              <a:rPr lang="en-US" sz="1100" kern="1200" dirty="0" smtClean="0">
                <a:solidFill>
                  <a:schemeClr val="tx1"/>
                </a:solidFill>
                <a:effectLst/>
                <a:latin typeface="Times New Roman" panose="02020603050405020304" pitchFamily="18" charset="0"/>
                <a:ea typeface="+mn-ea"/>
                <a:cs typeface="+mn-cs"/>
              </a:rPr>
              <a:t>Ant </a:t>
            </a:r>
            <a:r>
              <a:rPr lang="en-US" sz="1100" kern="1200" dirty="0" smtClean="0">
                <a:solidFill>
                  <a:schemeClr val="tx1"/>
                </a:solidFill>
                <a:effectLst/>
                <a:latin typeface="Times New Roman" panose="02020603050405020304" pitchFamily="18" charset="0"/>
                <a:ea typeface="+mn-ea"/>
                <a:cs typeface="+mn-cs"/>
              </a:rPr>
              <a:t>colony algorithm has basically three major components, ant based sol construction,  pheromone update and the demon action.</a:t>
            </a:r>
          </a:p>
          <a:p>
            <a:pPr marL="0" marR="0" lvl="0" indent="0" algn="l" defTabSz="914400" rtl="0" eaLnBrk="1" fontAlgn="auto" latinLnBrk="0" hangingPunct="1">
              <a:lnSpc>
                <a:spcPct val="100000"/>
              </a:lnSpc>
              <a:spcBef>
                <a:spcPts val="0"/>
              </a:spcBef>
              <a:spcAft>
                <a:spcPts val="0"/>
              </a:spcAft>
              <a:buClrTx/>
              <a:buSzPct val="100000"/>
              <a:buFontTx/>
              <a:buNone/>
              <a:tabLst/>
              <a:defRPr/>
            </a:pPr>
            <a:r>
              <a:rPr lang="en-US" sz="1100" kern="1200" dirty="0" smtClean="0">
                <a:solidFill>
                  <a:schemeClr val="tx1"/>
                </a:solidFill>
                <a:effectLst/>
                <a:latin typeface="Times New Roman" panose="02020603050405020304" pitchFamily="18" charset="0"/>
                <a:ea typeface="+mn-ea"/>
                <a:cs typeface="+mn-cs"/>
              </a:rPr>
              <a:t>Ants construct solution from sequences of the solution components. </a:t>
            </a:r>
          </a:p>
          <a:p>
            <a:pPr marL="0" marR="0" lvl="0" indent="0" algn="l" defTabSz="914400" rtl="0" eaLnBrk="1" fontAlgn="auto" latinLnBrk="0" hangingPunct="1">
              <a:lnSpc>
                <a:spcPct val="100000"/>
              </a:lnSpc>
              <a:spcBef>
                <a:spcPts val="0"/>
              </a:spcBef>
              <a:spcAft>
                <a:spcPts val="0"/>
              </a:spcAft>
              <a:buClrTx/>
              <a:buSzPct val="100000"/>
              <a:buFontTx/>
              <a:buNone/>
              <a:tabLst/>
              <a:defRPr/>
            </a:pPr>
            <a:r>
              <a:rPr lang="en-US" sz="1100" kern="1200" dirty="0" smtClean="0">
                <a:solidFill>
                  <a:schemeClr val="tx1"/>
                </a:solidFill>
                <a:effectLst/>
                <a:latin typeface="Times New Roman" panose="02020603050405020304" pitchFamily="18" charset="0"/>
                <a:ea typeface="+mn-ea"/>
                <a:cs typeface="+mn-cs"/>
              </a:rPr>
              <a:t>These solution components are chosen probabilistically at each construction step, with each solution component there is a some pheromone and a heuristic value. </a:t>
            </a:r>
          </a:p>
          <a:p>
            <a:pPr marL="0" marR="0" lvl="0" indent="0" algn="l" defTabSz="914400" rtl="0" eaLnBrk="1" fontAlgn="auto" latinLnBrk="0" hangingPunct="1">
              <a:lnSpc>
                <a:spcPct val="100000"/>
              </a:lnSpc>
              <a:spcBef>
                <a:spcPts val="0"/>
              </a:spcBef>
              <a:spcAft>
                <a:spcPts val="0"/>
              </a:spcAft>
              <a:buClrTx/>
              <a:buSzPct val="100000"/>
              <a:buFontTx/>
              <a:buNone/>
              <a:tabLst/>
              <a:defRPr/>
            </a:pPr>
            <a:r>
              <a:rPr lang="en-US" sz="1100" kern="1200" dirty="0" smtClean="0">
                <a:solidFill>
                  <a:schemeClr val="tx1"/>
                </a:solidFill>
                <a:effectLst/>
                <a:latin typeface="Times New Roman" panose="02020603050405020304" pitchFamily="18" charset="0"/>
                <a:ea typeface="+mn-ea"/>
                <a:cs typeface="+mn-cs"/>
              </a:rPr>
              <a:t>As ant constructs one solution the pheromone is updated according to the quality of the solution by the algorithm. </a:t>
            </a:r>
          </a:p>
          <a:p>
            <a:pPr marL="0" marR="0" lvl="0" indent="0" algn="l" defTabSz="914400" rtl="0" eaLnBrk="1" fontAlgn="auto" latinLnBrk="0" hangingPunct="1">
              <a:lnSpc>
                <a:spcPct val="100000"/>
              </a:lnSpc>
              <a:spcBef>
                <a:spcPts val="0"/>
              </a:spcBef>
              <a:spcAft>
                <a:spcPts val="0"/>
              </a:spcAft>
              <a:buClrTx/>
              <a:buSzPct val="100000"/>
              <a:buFontTx/>
              <a:buNone/>
              <a:tabLst/>
              <a:defRPr/>
            </a:pPr>
            <a:r>
              <a:rPr lang="en-US" sz="1100" kern="1200" dirty="0" smtClean="0">
                <a:solidFill>
                  <a:schemeClr val="tx1"/>
                </a:solidFill>
                <a:effectLst/>
                <a:latin typeface="Times New Roman" panose="02020603050405020304" pitchFamily="18" charset="0"/>
                <a:ea typeface="+mn-ea"/>
                <a:cs typeface="+mn-cs"/>
              </a:rPr>
              <a:t>The algorithm updates the pheromone by using the iteration best solution or by using the best solution so far. The best so far solution update leads to a faster convergence while the iteration best update allows for more diversification of the search.</a:t>
            </a:r>
          </a:p>
          <a:p>
            <a:pPr lvl="0">
              <a:spcBef>
                <a:spcPts val="0"/>
              </a:spcBef>
              <a:buNone/>
            </a:pPr>
            <a:endParaRPr lang="en" dirty="0" smtClean="0"/>
          </a:p>
          <a:p>
            <a:pPr lvl="0">
              <a:spcBef>
                <a:spcPts val="0"/>
              </a:spcBef>
              <a:buNone/>
            </a:pPr>
            <a:endParaRPr lang="en" dirty="0" smtClean="0"/>
          </a:p>
          <a:p>
            <a:pPr lvl="0">
              <a:spcBef>
                <a:spcPts val="0"/>
              </a:spcBef>
              <a:buNone/>
            </a:pPr>
            <a:endParaRPr lang="en" dirty="0" smtClean="0"/>
          </a:p>
          <a:p>
            <a:pPr lvl="0">
              <a:spcBef>
                <a:spcPts val="0"/>
              </a:spcBef>
              <a:buNone/>
            </a:pPr>
            <a:r>
              <a:rPr lang="en" dirty="0" smtClean="0"/>
              <a:t>Iteration </a:t>
            </a:r>
            <a:r>
              <a:rPr lang="en" dirty="0"/>
              <a:t>best solution: The best solution found in the last iteration</a:t>
            </a:r>
          </a:p>
          <a:p>
            <a:pPr lvl="0">
              <a:spcBef>
                <a:spcPts val="0"/>
              </a:spcBef>
              <a:buNone/>
            </a:pPr>
            <a:r>
              <a:rPr lang="en" dirty="0"/>
              <a:t>Best so far solution: The best solution from the start of the algorithm</a:t>
            </a:r>
          </a:p>
          <a:p>
            <a:pPr lvl="0" rtl="0">
              <a:spcBef>
                <a:spcPts val="0"/>
              </a:spcBef>
              <a:buNone/>
            </a:pPr>
            <a:r>
              <a:rPr lang="en" dirty="0"/>
              <a:t>&gt;The best so far solution update leads to a faster convergence while the iteration best update allows for more diversification of the search.</a:t>
            </a:r>
          </a:p>
        </p:txBody>
      </p:sp>
    </p:spTree>
    <p:extLst>
      <p:ext uri="{BB962C8B-B14F-4D97-AF65-F5344CB8AC3E}">
        <p14:creationId xmlns:p14="http://schemas.microsoft.com/office/powerpoint/2010/main" val="94473294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
        <p:cNvGrpSpPr/>
        <p:nvPr/>
      </p:nvGrpSpPr>
      <p:grpSpPr>
        <a:xfrm>
          <a:off x="0" y="0"/>
          <a:ext cx="0" cy="0"/>
          <a:chOff x="0" y="0"/>
          <a:chExt cx="0" cy="0"/>
        </a:xfrm>
      </p:grpSpPr>
      <p:sp>
        <p:nvSpPr>
          <p:cNvPr id="79" name="Shape 79"/>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80" name="Shape 80"/>
          <p:cNvSpPr txBox="1">
            <a:spLocks noGrp="1"/>
          </p:cNvSpPr>
          <p:nvPr>
            <p:ph type="body" idx="1"/>
          </p:nvPr>
        </p:nvSpPr>
        <p:spPr>
          <a:xfrm>
            <a:off x="685800" y="4343400"/>
            <a:ext cx="5486400" cy="4114800"/>
          </a:xfrm>
          <a:prstGeom prst="rect">
            <a:avLst/>
          </a:prstGeom>
        </p:spPr>
        <p:txBody>
          <a:bodyPr wrap="square" lIns="91425" tIns="91425" rIns="91425" bIns="91425" anchor="t" anchorCtr="0">
            <a:noAutofit/>
          </a:bodyPr>
          <a:lstStyle/>
          <a:p>
            <a:pPr>
              <a:buNone/>
            </a:pPr>
            <a:r>
              <a:rPr lang="en-US" sz="1100" b="0" i="0" u="none" strike="noStrike" kern="1200" baseline="0" dirty="0" smtClean="0">
                <a:solidFill>
                  <a:schemeClr val="tx1"/>
                </a:solidFill>
                <a:latin typeface="Times New Roman" panose="02020603050405020304" pitchFamily="18" charset="0"/>
                <a:ea typeface="+mn-ea"/>
                <a:cs typeface="+mn-cs"/>
              </a:rPr>
              <a:t>To tackle multi-modal optimization problems, different methods have been proposed in the literature. Among those the most adopted method is known as niching and speciation. Niching is basically the division of an environment and the subpopulation maintained in a specific niche is called species. In terms of optimization, niche refers to the area of a fitness landscape where within the bounds of it an optimal solution resides and species is the subpopulation around this optimal solution.</a:t>
            </a:r>
            <a:endParaRPr lang="en" dirty="0"/>
          </a:p>
        </p:txBody>
      </p:sp>
    </p:spTree>
    <p:extLst>
      <p:ext uri="{BB962C8B-B14F-4D97-AF65-F5344CB8AC3E}">
        <p14:creationId xmlns:p14="http://schemas.microsoft.com/office/powerpoint/2010/main" val="407456431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Shape 85"/>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86" name="Shape 86"/>
          <p:cNvSpPr txBox="1">
            <a:spLocks noGrp="1"/>
          </p:cNvSpPr>
          <p:nvPr>
            <p:ph type="body" idx="1"/>
          </p:nvPr>
        </p:nvSpPr>
        <p:spPr>
          <a:xfrm>
            <a:off x="685800" y="4343400"/>
            <a:ext cx="5486400" cy="4114800"/>
          </a:xfrm>
          <a:prstGeom prst="rect">
            <a:avLst/>
          </a:prstGeom>
        </p:spPr>
        <p:txBody>
          <a:bodyPr wrap="square" lIns="91425" tIns="91425" rIns="91425" bIns="91425" anchor="t" anchorCtr="0">
            <a:noAutofit/>
          </a:bodyPr>
          <a:lstStyle/>
          <a:p>
            <a:pPr lvl="0">
              <a:spcBef>
                <a:spcPts val="0"/>
              </a:spcBef>
              <a:buNone/>
            </a:pPr>
            <a:endParaRPr dirty="0"/>
          </a:p>
        </p:txBody>
      </p:sp>
    </p:spTree>
    <p:extLst>
      <p:ext uri="{BB962C8B-B14F-4D97-AF65-F5344CB8AC3E}">
        <p14:creationId xmlns:p14="http://schemas.microsoft.com/office/powerpoint/2010/main" val="66145341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Shape 91"/>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92" name="Shape 92"/>
          <p:cNvSpPr txBox="1">
            <a:spLocks noGrp="1"/>
          </p:cNvSpPr>
          <p:nvPr>
            <p:ph type="body" idx="1"/>
          </p:nvPr>
        </p:nvSpPr>
        <p:spPr>
          <a:xfrm>
            <a:off x="685800" y="4343400"/>
            <a:ext cx="5486400" cy="4114800"/>
          </a:xfrm>
          <a:prstGeom prst="rect">
            <a:avLst/>
          </a:prstGeom>
        </p:spPr>
        <p:txBody>
          <a:bodyPr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Tx/>
              <a:buSzPct val="100000"/>
              <a:buFontTx/>
              <a:buNone/>
              <a:tabLst/>
              <a:defRPr/>
            </a:pPr>
            <a:r>
              <a:rPr lang="en-US" sz="1100" kern="1200" dirty="0" smtClean="0">
                <a:solidFill>
                  <a:schemeClr val="tx1"/>
                </a:solidFill>
                <a:effectLst/>
                <a:latin typeface="Times New Roman" panose="02020603050405020304" pitchFamily="18" charset="0"/>
                <a:ea typeface="+mn-ea"/>
                <a:cs typeface="+mn-cs"/>
              </a:rPr>
              <a:t>Now what motivates me for this research is that multiple optimal solutions representing various designs with the same or very similar performance are in demand in many practical applications so that decision makers can have multiple choices. To obtain multiple optima practitioners turn their attention towards population based evolutionary algorithms. Existing algorithms suffer from various drawbacks, </a:t>
            </a:r>
          </a:p>
          <a:p>
            <a:pPr marL="0" marR="0" lvl="0" indent="0" algn="l" defTabSz="914400" rtl="0" eaLnBrk="1" fontAlgn="auto" latinLnBrk="0" hangingPunct="1">
              <a:lnSpc>
                <a:spcPct val="100000"/>
              </a:lnSpc>
              <a:spcBef>
                <a:spcPts val="0"/>
              </a:spcBef>
              <a:spcAft>
                <a:spcPts val="0"/>
              </a:spcAft>
              <a:buClrTx/>
              <a:buSzPct val="100000"/>
              <a:buFontTx/>
              <a:buNone/>
              <a:tabLst/>
              <a:defRPr/>
            </a:pPr>
            <a:r>
              <a:rPr lang="en-US" sz="1100" kern="1200" dirty="0" smtClean="0">
                <a:solidFill>
                  <a:schemeClr val="tx1"/>
                </a:solidFill>
                <a:effectLst/>
                <a:latin typeface="Times New Roman" panose="02020603050405020304" pitchFamily="18" charset="0"/>
                <a:ea typeface="+mn-ea"/>
                <a:cs typeface="+mn-cs"/>
              </a:rPr>
              <a:t>Therefore this research will try to focus upon these issues.</a:t>
            </a:r>
          </a:p>
          <a:p>
            <a:pPr lvl="0">
              <a:spcBef>
                <a:spcPts val="0"/>
              </a:spcBef>
              <a:buNone/>
            </a:pPr>
            <a:endParaRPr dirty="0"/>
          </a:p>
        </p:txBody>
      </p:sp>
    </p:spTree>
    <p:extLst>
      <p:ext uri="{BB962C8B-B14F-4D97-AF65-F5344CB8AC3E}">
        <p14:creationId xmlns:p14="http://schemas.microsoft.com/office/powerpoint/2010/main" val="179320756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
        <p:cNvGrpSpPr/>
        <p:nvPr/>
      </p:nvGrpSpPr>
      <p:grpSpPr>
        <a:xfrm>
          <a:off x="0" y="0"/>
          <a:ext cx="0" cy="0"/>
          <a:chOff x="0" y="0"/>
          <a:chExt cx="0" cy="0"/>
        </a:xfrm>
      </p:grpSpPr>
      <p:sp>
        <p:nvSpPr>
          <p:cNvPr id="97" name="Shape 97"/>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98" name="Shape 98"/>
          <p:cNvSpPr txBox="1">
            <a:spLocks noGrp="1"/>
          </p:cNvSpPr>
          <p:nvPr>
            <p:ph type="body" idx="1"/>
          </p:nvPr>
        </p:nvSpPr>
        <p:spPr>
          <a:xfrm>
            <a:off x="685800" y="4343400"/>
            <a:ext cx="5486400" cy="4114800"/>
          </a:xfrm>
          <a:prstGeom prst="rect">
            <a:avLst/>
          </a:prstGeom>
        </p:spPr>
        <p:txBody>
          <a:bodyPr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Tx/>
              <a:buSzPct val="100000"/>
              <a:buFontTx/>
              <a:buNone/>
              <a:tabLst/>
              <a:defRPr/>
            </a:pPr>
            <a:r>
              <a:rPr lang="en-US" sz="1100" kern="1200" dirty="0" smtClean="0">
                <a:solidFill>
                  <a:schemeClr val="tx1"/>
                </a:solidFill>
                <a:effectLst/>
                <a:latin typeface="Times New Roman" panose="02020603050405020304" pitchFamily="18" charset="0"/>
                <a:ea typeface="+mn-ea"/>
                <a:cs typeface="+mn-cs"/>
              </a:rPr>
              <a:t>Now going to discuss the literature review done in the past few months.</a:t>
            </a:r>
          </a:p>
          <a:p>
            <a:pPr lvl="0">
              <a:spcBef>
                <a:spcPts val="0"/>
              </a:spcBef>
              <a:buNone/>
            </a:pPr>
            <a:endParaRPr dirty="0"/>
          </a:p>
        </p:txBody>
      </p:sp>
    </p:spTree>
    <p:extLst>
      <p:ext uri="{BB962C8B-B14F-4D97-AF65-F5344CB8AC3E}">
        <p14:creationId xmlns:p14="http://schemas.microsoft.com/office/powerpoint/2010/main" val="14840061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1"/>
        <p:cNvGrpSpPr/>
        <p:nvPr/>
      </p:nvGrpSpPr>
      <p:grpSpPr>
        <a:xfrm>
          <a:off x="0" y="0"/>
          <a:ext cx="0" cy="0"/>
          <a:chOff x="0" y="0"/>
          <a:chExt cx="0" cy="0"/>
        </a:xfrm>
      </p:grpSpPr>
      <p:sp>
        <p:nvSpPr>
          <p:cNvPr id="162" name="Shape 162"/>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163" name="Shape 163"/>
          <p:cNvSpPr txBox="1">
            <a:spLocks noGrp="1"/>
          </p:cNvSpPr>
          <p:nvPr>
            <p:ph type="body" idx="1"/>
          </p:nvPr>
        </p:nvSpPr>
        <p:spPr>
          <a:xfrm>
            <a:off x="685800" y="4343400"/>
            <a:ext cx="5486400" cy="4114800"/>
          </a:xfrm>
          <a:prstGeom prst="rect">
            <a:avLst/>
          </a:prstGeom>
        </p:spPr>
        <p:txBody>
          <a:bodyPr wrap="square" lIns="91425" tIns="91425" rIns="91425" bIns="91425" anchor="t" anchorCtr="0">
            <a:noAutofit/>
          </a:bodyPr>
          <a:lstStyle/>
          <a:p>
            <a:pPr>
              <a:buNone/>
            </a:pPr>
            <a:r>
              <a:rPr lang="en-US" sz="1100" b="0" i="0" u="none" strike="noStrike" kern="1200" baseline="0" dirty="0" smtClean="0">
                <a:solidFill>
                  <a:schemeClr val="tx1"/>
                </a:solidFill>
                <a:latin typeface="Times New Roman" panose="02020603050405020304" pitchFamily="18" charset="0"/>
                <a:ea typeface="+mn-ea"/>
                <a:cs typeface="+mn-cs"/>
              </a:rPr>
              <a:t>The authors had modified the ant colony algorithm to make it useful to solve continuous optimization problems. </a:t>
            </a:r>
          </a:p>
          <a:p>
            <a:pPr>
              <a:buNone/>
            </a:pPr>
            <a:r>
              <a:rPr lang="en-US" sz="1100" b="0" i="0" u="none" strike="noStrike" kern="1200" baseline="0" dirty="0" smtClean="0">
                <a:solidFill>
                  <a:schemeClr val="tx1"/>
                </a:solidFill>
                <a:latin typeface="Times New Roman" panose="02020603050405020304" pitchFamily="18" charset="0"/>
                <a:ea typeface="+mn-ea"/>
                <a:cs typeface="+mn-cs"/>
              </a:rPr>
              <a:t>They have modified the discrete probability distribution used by the ants to select the new solution component to a continuous by using Gaussian probability density function. </a:t>
            </a:r>
          </a:p>
          <a:p>
            <a:pPr>
              <a:buNone/>
            </a:pPr>
            <a:r>
              <a:rPr lang="en-US" sz="1100" b="0" i="0" u="none" strike="noStrike" kern="1200" baseline="0" dirty="0" smtClean="0">
                <a:solidFill>
                  <a:schemeClr val="tx1"/>
                </a:solidFill>
                <a:latin typeface="Times New Roman" panose="02020603050405020304" pitchFamily="18" charset="0"/>
                <a:ea typeface="+mn-ea"/>
                <a:cs typeface="+mn-cs"/>
              </a:rPr>
              <a:t>Furthermore pheromone component of a solution is replaced by the weight of the solution which effects the selection probability of the solution. </a:t>
            </a:r>
          </a:p>
          <a:p>
            <a:pPr>
              <a:buNone/>
            </a:pPr>
            <a:r>
              <a:rPr lang="en-US" sz="1100" b="0" i="0" u="none" strike="noStrike" kern="1200" baseline="0" smtClean="0">
                <a:solidFill>
                  <a:schemeClr val="tx1"/>
                </a:solidFill>
                <a:latin typeface="Times New Roman" panose="02020603050405020304" pitchFamily="18" charset="0"/>
                <a:ea typeface="+mn-ea"/>
                <a:cs typeface="+mn-cs"/>
              </a:rPr>
              <a:t>Moreover </a:t>
            </a:r>
            <a:r>
              <a:rPr lang="en-US" sz="1100" b="0" i="0" u="none" strike="noStrike" kern="1200" baseline="0" dirty="0" smtClean="0">
                <a:solidFill>
                  <a:schemeClr val="tx1"/>
                </a:solidFill>
                <a:latin typeface="Times New Roman" panose="02020603050405020304" pitchFamily="18" charset="0"/>
                <a:ea typeface="+mn-ea"/>
                <a:cs typeface="+mn-cs"/>
              </a:rPr>
              <a:t>the pheromone persistence is being controlled by the parameter sigma, whose value further controls the exploration and exploitation behavior of the algorithm.</a:t>
            </a:r>
            <a:endParaRPr dirty="0"/>
          </a:p>
        </p:txBody>
      </p:sp>
    </p:spTree>
    <p:extLst>
      <p:ext uri="{BB962C8B-B14F-4D97-AF65-F5344CB8AC3E}">
        <p14:creationId xmlns:p14="http://schemas.microsoft.com/office/powerpoint/2010/main" val="60105177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7"/>
        <p:cNvGrpSpPr/>
        <p:nvPr/>
      </p:nvGrpSpPr>
      <p:grpSpPr>
        <a:xfrm>
          <a:off x="0" y="0"/>
          <a:ext cx="0" cy="0"/>
          <a:chOff x="0" y="0"/>
          <a:chExt cx="0" cy="0"/>
        </a:xfrm>
      </p:grpSpPr>
      <p:sp>
        <p:nvSpPr>
          <p:cNvPr id="168" name="Shape 168"/>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169" name="Shape 169"/>
          <p:cNvSpPr txBox="1">
            <a:spLocks noGrp="1"/>
          </p:cNvSpPr>
          <p:nvPr>
            <p:ph type="body" idx="1"/>
          </p:nvPr>
        </p:nvSpPr>
        <p:spPr>
          <a:xfrm>
            <a:off x="685800" y="4343400"/>
            <a:ext cx="5486400" cy="4114800"/>
          </a:xfrm>
          <a:prstGeom prst="rect">
            <a:avLst/>
          </a:prstGeom>
        </p:spPr>
        <p:txBody>
          <a:bodyPr wrap="square" lIns="91425" tIns="91425" rIns="91425" bIns="91425" anchor="t" anchorCtr="0">
            <a:noAutofit/>
          </a:bodyPr>
          <a:lstStyle/>
          <a:p>
            <a:pPr lvl="0" rtl="0">
              <a:spcBef>
                <a:spcPts val="0"/>
              </a:spcBef>
              <a:buNone/>
            </a:pPr>
            <a:endParaRPr/>
          </a:p>
        </p:txBody>
      </p:sp>
    </p:spTree>
    <p:extLst>
      <p:ext uri="{BB962C8B-B14F-4D97-AF65-F5344CB8AC3E}">
        <p14:creationId xmlns:p14="http://schemas.microsoft.com/office/powerpoint/2010/main" val="301442642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1"/>
        <p:cNvGrpSpPr/>
        <p:nvPr/>
      </p:nvGrpSpPr>
      <p:grpSpPr>
        <a:xfrm>
          <a:off x="0" y="0"/>
          <a:ext cx="0" cy="0"/>
          <a:chOff x="0" y="0"/>
          <a:chExt cx="0" cy="0"/>
        </a:xfrm>
      </p:grpSpPr>
      <p:sp>
        <p:nvSpPr>
          <p:cNvPr id="162" name="Shape 162"/>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163" name="Shape 163"/>
          <p:cNvSpPr txBox="1">
            <a:spLocks noGrp="1"/>
          </p:cNvSpPr>
          <p:nvPr>
            <p:ph type="body" idx="1"/>
          </p:nvPr>
        </p:nvSpPr>
        <p:spPr>
          <a:xfrm>
            <a:off x="685800" y="4343400"/>
            <a:ext cx="5486400" cy="4114800"/>
          </a:xfrm>
          <a:prstGeom prst="rect">
            <a:avLst/>
          </a:prstGeom>
        </p:spPr>
        <p:txBody>
          <a:bodyPr wrap="square" lIns="91425" tIns="91425" rIns="91425" bIns="91425" anchor="t" anchorCtr="0">
            <a:noAutofit/>
          </a:bodyPr>
          <a:lstStyle/>
          <a:p>
            <a:pPr>
              <a:buFont typeface="Wingdings" panose="05000000000000000000" pitchFamily="2" charset="2"/>
              <a:buChar char="§"/>
            </a:pPr>
            <a:r>
              <a:rPr lang="en-US" dirty="0" smtClean="0"/>
              <a:t>Extends the previous ACO algorithm to deal with multimodal optimization.</a:t>
            </a:r>
          </a:p>
          <a:p>
            <a:pPr>
              <a:buFont typeface="Wingdings" panose="05000000000000000000" pitchFamily="2" charset="2"/>
              <a:buChar char="§"/>
            </a:pPr>
            <a:r>
              <a:rPr lang="en-US" dirty="0" smtClean="0"/>
              <a:t> They combined ACO</a:t>
            </a:r>
            <a:r>
              <a:rPr lang="en-US" baseline="0" dirty="0" smtClean="0"/>
              <a:t> with current niching methods the crowding and speciation niching techniques to solve the multimodal problem. </a:t>
            </a:r>
          </a:p>
          <a:p>
            <a:pPr>
              <a:buFont typeface="Wingdings" panose="05000000000000000000" pitchFamily="2" charset="2"/>
              <a:buChar char="§"/>
            </a:pPr>
            <a:r>
              <a:rPr lang="en-US" baseline="0" dirty="0" smtClean="0"/>
              <a:t>They even introduced the adaptive parameter settings which further improves the robustness of the algorithm. </a:t>
            </a:r>
          </a:p>
          <a:p>
            <a:pPr>
              <a:buFont typeface="Wingdings" panose="05000000000000000000" pitchFamily="2" charset="2"/>
              <a:buChar char="§"/>
            </a:pPr>
            <a:r>
              <a:rPr lang="en-US" sz="1100" dirty="0" smtClean="0">
                <a:solidFill>
                  <a:schemeClr val="tx1"/>
                </a:solidFill>
                <a:latin typeface="Times New Roman" panose="02020603050405020304" pitchFamily="18" charset="0"/>
                <a:cs typeface="Times New Roman" panose="02020603050405020304" pitchFamily="18" charset="0"/>
              </a:rPr>
              <a:t>Differential evolution mutation operator is used to increase the convergence speed and its potential in locating multiple global optima</a:t>
            </a:r>
          </a:p>
          <a:p>
            <a:pPr>
              <a:buFont typeface="Wingdings" panose="05000000000000000000" pitchFamily="2" charset="2"/>
              <a:buChar char="§"/>
            </a:pPr>
            <a:r>
              <a:rPr lang="en-US" sz="1100" dirty="0" smtClean="0">
                <a:solidFill>
                  <a:schemeClr val="tx1"/>
                </a:solidFill>
                <a:latin typeface="Times New Roman" panose="02020603050405020304" pitchFamily="18" charset="0"/>
                <a:cs typeface="Times New Roman" panose="02020603050405020304" pitchFamily="18" charset="0"/>
              </a:rPr>
              <a:t> Further more a random based niche size setting strategy is added to the used niching methods to relieve the algorithm from the sensitivity of the niche size</a:t>
            </a:r>
          </a:p>
          <a:p>
            <a:pPr lvl="0" rtl="0">
              <a:spcBef>
                <a:spcPts val="0"/>
              </a:spcBef>
              <a:buNone/>
            </a:pPr>
            <a:endParaRPr dirty="0"/>
          </a:p>
        </p:txBody>
      </p:sp>
    </p:spTree>
    <p:extLst>
      <p:ext uri="{BB962C8B-B14F-4D97-AF65-F5344CB8AC3E}">
        <p14:creationId xmlns:p14="http://schemas.microsoft.com/office/powerpoint/2010/main" val="99787265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7"/>
        <p:cNvGrpSpPr/>
        <p:nvPr/>
      </p:nvGrpSpPr>
      <p:grpSpPr>
        <a:xfrm>
          <a:off x="0" y="0"/>
          <a:ext cx="0" cy="0"/>
          <a:chOff x="0" y="0"/>
          <a:chExt cx="0" cy="0"/>
        </a:xfrm>
      </p:grpSpPr>
      <p:sp>
        <p:nvSpPr>
          <p:cNvPr id="168" name="Shape 168"/>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169" name="Shape 169"/>
          <p:cNvSpPr txBox="1">
            <a:spLocks noGrp="1"/>
          </p:cNvSpPr>
          <p:nvPr>
            <p:ph type="body" idx="1"/>
          </p:nvPr>
        </p:nvSpPr>
        <p:spPr>
          <a:xfrm>
            <a:off x="685800" y="4343400"/>
            <a:ext cx="5486400" cy="4114800"/>
          </a:xfrm>
          <a:prstGeom prst="rect">
            <a:avLst/>
          </a:prstGeom>
        </p:spPr>
        <p:txBody>
          <a:bodyPr wrap="square" lIns="91425" tIns="91425" rIns="91425" bIns="91425" anchor="t" anchorCtr="0">
            <a:noAutofit/>
          </a:bodyPr>
          <a:lstStyle/>
          <a:p>
            <a:pPr lvl="0" rtl="0">
              <a:spcBef>
                <a:spcPts val="0"/>
              </a:spcBef>
              <a:buNone/>
            </a:pPr>
            <a:endParaRPr/>
          </a:p>
        </p:txBody>
      </p:sp>
    </p:spTree>
    <p:extLst>
      <p:ext uri="{BB962C8B-B14F-4D97-AF65-F5344CB8AC3E}">
        <p14:creationId xmlns:p14="http://schemas.microsoft.com/office/powerpoint/2010/main" val="394438803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5"/>
        <p:cNvGrpSpPr/>
        <p:nvPr/>
      </p:nvGrpSpPr>
      <p:grpSpPr>
        <a:xfrm>
          <a:off x="0" y="0"/>
          <a:ext cx="0" cy="0"/>
          <a:chOff x="0" y="0"/>
          <a:chExt cx="0" cy="0"/>
        </a:xfrm>
      </p:grpSpPr>
      <p:sp>
        <p:nvSpPr>
          <p:cNvPr id="126" name="Shape 126"/>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127" name="Shape 127"/>
          <p:cNvSpPr txBox="1">
            <a:spLocks noGrp="1"/>
          </p:cNvSpPr>
          <p:nvPr>
            <p:ph type="body" idx="1"/>
          </p:nvPr>
        </p:nvSpPr>
        <p:spPr>
          <a:xfrm>
            <a:off x="685800" y="4343400"/>
            <a:ext cx="5486400" cy="4114800"/>
          </a:xfrm>
          <a:prstGeom prst="rect">
            <a:avLst/>
          </a:prstGeom>
        </p:spPr>
        <p:txBody>
          <a:bodyPr wrap="square" lIns="91425" tIns="91425" rIns="91425" bIns="91425" anchor="t" anchorCtr="0">
            <a:noAutofit/>
          </a:bodyPr>
          <a:lstStyle/>
          <a:p>
            <a:r>
              <a:rPr lang="en-US" sz="1100" b="0" i="0" u="none" strike="noStrike" kern="1200" baseline="0" dirty="0" smtClean="0">
                <a:solidFill>
                  <a:schemeClr val="tx1"/>
                </a:solidFill>
                <a:latin typeface="Times New Roman" panose="02020603050405020304" pitchFamily="18" charset="0"/>
                <a:ea typeface="+mn-ea"/>
                <a:cs typeface="+mn-cs"/>
              </a:rPr>
              <a:t>Authors proposed UACOR, a unified ant colony optimization (ACO) algorithm for continuous optimization.</a:t>
            </a:r>
          </a:p>
          <a:p>
            <a:r>
              <a:rPr lang="en-US" sz="1100" b="0" i="0" u="none" strike="noStrike" kern="1200" baseline="0" dirty="0" smtClean="0">
                <a:solidFill>
                  <a:schemeClr val="tx1"/>
                </a:solidFill>
                <a:latin typeface="Times New Roman" panose="02020603050405020304" pitchFamily="18" charset="0"/>
                <a:ea typeface="+mn-ea"/>
                <a:cs typeface="+mn-cs"/>
              </a:rPr>
              <a:t>UACOR includes algorithmic components from ACOR; DACOR and IACOR-LS, three ACO algorithms for continuous optimization that have been proposed previously</a:t>
            </a:r>
          </a:p>
          <a:p>
            <a:r>
              <a:rPr lang="en-US" sz="1100" b="0" i="0" u="none" strike="noStrike" kern="1200" baseline="0" dirty="0" smtClean="0">
                <a:solidFill>
                  <a:schemeClr val="tx1"/>
                </a:solidFill>
                <a:latin typeface="Times New Roman" panose="02020603050405020304" pitchFamily="18" charset="0"/>
                <a:ea typeface="+mn-ea"/>
                <a:cs typeface="+mn-cs"/>
              </a:rPr>
              <a:t>Thus, it can be used to instantiate each of these three earlier algorithms .</a:t>
            </a:r>
          </a:p>
          <a:p>
            <a:r>
              <a:rPr lang="en-US" sz="1100" b="0" i="0" u="none" strike="noStrike" kern="1200" baseline="0" dirty="0" smtClean="0">
                <a:solidFill>
                  <a:schemeClr val="tx1"/>
                </a:solidFill>
                <a:latin typeface="Times New Roman" panose="02020603050405020304" pitchFamily="18" charset="0"/>
                <a:ea typeface="+mn-ea"/>
                <a:cs typeface="+mn-cs"/>
              </a:rPr>
              <a:t>To show the benefits of UACOR’s flexibility, they automatically configure two new ACO algorithms, UACOR-s  and UACOR-c, and evaluated them on two sets of benchmark functions from a recent special issue of the  Soft Computing (SOCO) journal and the IEEE 2005 Congress on Evolutionary Computation (CEC’05), respectively</a:t>
            </a:r>
            <a:endParaRPr dirty="0"/>
          </a:p>
        </p:txBody>
      </p:sp>
    </p:spTree>
    <p:extLst>
      <p:ext uri="{BB962C8B-B14F-4D97-AF65-F5344CB8AC3E}">
        <p14:creationId xmlns:p14="http://schemas.microsoft.com/office/powerpoint/2010/main" val="13024749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p:cNvGrpSpPr/>
        <p:nvPr/>
      </p:nvGrpSpPr>
      <p:grpSpPr>
        <a:xfrm>
          <a:off x="0" y="0"/>
          <a:ext cx="0" cy="0"/>
          <a:chOff x="0" y="0"/>
          <a:chExt cx="0" cy="0"/>
        </a:xfrm>
      </p:grpSpPr>
      <p:sp>
        <p:nvSpPr>
          <p:cNvPr id="132" name="Shape 132"/>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133" name="Shape 133"/>
          <p:cNvSpPr txBox="1">
            <a:spLocks noGrp="1"/>
          </p:cNvSpPr>
          <p:nvPr>
            <p:ph type="body" idx="1"/>
          </p:nvPr>
        </p:nvSpPr>
        <p:spPr>
          <a:xfrm>
            <a:off x="685800" y="4343400"/>
            <a:ext cx="5486400" cy="4114800"/>
          </a:xfrm>
          <a:prstGeom prst="rect">
            <a:avLst/>
          </a:prstGeom>
        </p:spPr>
        <p:txBody>
          <a:bodyPr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Tx/>
              <a:buSzPct val="100000"/>
              <a:buFontTx/>
              <a:buNone/>
              <a:tabLst/>
              <a:defRPr/>
            </a:pPr>
            <a:r>
              <a:rPr lang="en" sz="1100" dirty="0" smtClean="0">
                <a:solidFill>
                  <a:schemeClr val="tx1"/>
                </a:solidFill>
                <a:latin typeface="Times New Roman" panose="02020603050405020304" pitchFamily="18" charset="0"/>
                <a:cs typeface="Times New Roman" panose="02020603050405020304" pitchFamily="18" charset="0"/>
              </a:rPr>
              <a:t>Before every run an automatic tuning process is initialized once for the </a:t>
            </a:r>
            <a:r>
              <a:rPr lang="en-US" sz="1100" b="0" i="0" u="none" strike="noStrike" kern="1200" baseline="0" dirty="0" smtClean="0">
                <a:solidFill>
                  <a:schemeClr val="tx1"/>
                </a:solidFill>
                <a:latin typeface="Times New Roman" panose="02020603050405020304" pitchFamily="18" charset="0"/>
                <a:ea typeface="+mn-ea"/>
                <a:cs typeface="+mn-cs"/>
              </a:rPr>
              <a:t>benchmark functions from a recent special issue of the  Soft Computing (SOCO) journal and the IEEE 2005 Congress on Evolutionary Computation (CEC’05), respectively.</a:t>
            </a:r>
            <a:endParaRPr lang="en-US" dirty="0" smtClean="0"/>
          </a:p>
          <a:p>
            <a:pPr lvl="0" rtl="0">
              <a:spcBef>
                <a:spcPts val="0"/>
              </a:spcBef>
              <a:buNone/>
            </a:pPr>
            <a:endParaRPr dirty="0"/>
          </a:p>
        </p:txBody>
      </p:sp>
    </p:spTree>
    <p:extLst>
      <p:ext uri="{BB962C8B-B14F-4D97-AF65-F5344CB8AC3E}">
        <p14:creationId xmlns:p14="http://schemas.microsoft.com/office/powerpoint/2010/main" val="170274451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p:cNvGrpSpPr/>
        <p:nvPr/>
      </p:nvGrpSpPr>
      <p:grpSpPr>
        <a:xfrm>
          <a:off x="0" y="0"/>
          <a:ext cx="0" cy="0"/>
          <a:chOff x="0" y="0"/>
          <a:chExt cx="0" cy="0"/>
        </a:xfrm>
      </p:grpSpPr>
      <p:sp>
        <p:nvSpPr>
          <p:cNvPr id="102" name="Shape 102"/>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103" name="Shape 103"/>
          <p:cNvSpPr txBox="1">
            <a:spLocks noGrp="1"/>
          </p:cNvSpPr>
          <p:nvPr>
            <p:ph type="body" idx="1"/>
          </p:nvPr>
        </p:nvSpPr>
        <p:spPr>
          <a:xfrm>
            <a:off x="685800" y="4343400"/>
            <a:ext cx="5486400" cy="4114800"/>
          </a:xfrm>
          <a:prstGeom prst="rect">
            <a:avLst/>
          </a:prstGeom>
        </p:spPr>
        <p:txBody>
          <a:bodyPr wrap="square" lIns="91425" tIns="91425" rIns="91425" bIns="91425" anchor="t" anchorCtr="0">
            <a:noAutofit/>
          </a:bodyPr>
          <a:lstStyle/>
          <a:p>
            <a:pPr lvl="0">
              <a:spcBef>
                <a:spcPts val="0"/>
              </a:spcBef>
              <a:buNone/>
            </a:pPr>
            <a:r>
              <a:rPr lang="en-US" dirty="0" smtClean="0"/>
              <a:t>they proposed a</a:t>
            </a:r>
            <a:r>
              <a:rPr lang="en-US" baseline="0" dirty="0" smtClean="0"/>
              <a:t> </a:t>
            </a:r>
            <a:r>
              <a:rPr lang="en-US" dirty="0" smtClean="0"/>
              <a:t>transformation technique</a:t>
            </a:r>
            <a:r>
              <a:rPr lang="en-US" baseline="0" dirty="0" smtClean="0"/>
              <a:t> </a:t>
            </a:r>
            <a:r>
              <a:rPr lang="en-US" dirty="0" smtClean="0"/>
              <a:t>based on </a:t>
            </a:r>
            <a:r>
              <a:rPr lang="en-US" dirty="0" err="1" smtClean="0"/>
              <a:t>multiobjective</a:t>
            </a:r>
            <a:r>
              <a:rPr lang="en-US" dirty="0" smtClean="0"/>
              <a:t> optimization for MMOPs, called</a:t>
            </a:r>
            <a:r>
              <a:rPr lang="en-US" baseline="0" dirty="0" smtClean="0"/>
              <a:t> </a:t>
            </a:r>
            <a:r>
              <a:rPr lang="en-US" dirty="0" smtClean="0"/>
              <a:t>MOMMOP. </a:t>
            </a:r>
          </a:p>
          <a:p>
            <a:pPr lvl="0">
              <a:spcBef>
                <a:spcPts val="0"/>
              </a:spcBef>
              <a:buNone/>
            </a:pPr>
            <a:r>
              <a:rPr lang="en-US" dirty="0" smtClean="0"/>
              <a:t>MOMMOP transforms an MMOP into a </a:t>
            </a:r>
            <a:r>
              <a:rPr lang="en-US" dirty="0" err="1" smtClean="0"/>
              <a:t>multiobjective</a:t>
            </a:r>
            <a:r>
              <a:rPr lang="en-US" baseline="0" dirty="0" smtClean="0"/>
              <a:t> </a:t>
            </a:r>
            <a:r>
              <a:rPr lang="en-US" dirty="0" smtClean="0"/>
              <a:t>optimization problem with two conflicting objectives.</a:t>
            </a:r>
          </a:p>
          <a:p>
            <a:pPr lvl="0">
              <a:spcBef>
                <a:spcPts val="0"/>
              </a:spcBef>
              <a:buNone/>
            </a:pPr>
            <a:r>
              <a:rPr lang="en-US" dirty="0" smtClean="0"/>
              <a:t>After</a:t>
            </a:r>
            <a:r>
              <a:rPr lang="en-US" baseline="0" dirty="0" smtClean="0"/>
              <a:t> </a:t>
            </a:r>
            <a:r>
              <a:rPr lang="en-US" dirty="0" smtClean="0"/>
              <a:t>the above transformation, all the optimal solutions of an MMOP</a:t>
            </a:r>
            <a:r>
              <a:rPr lang="en-US" baseline="0" dirty="0" smtClean="0"/>
              <a:t> </a:t>
            </a:r>
            <a:r>
              <a:rPr lang="en-US" dirty="0" smtClean="0"/>
              <a:t>become the Pareto optimal solutions of the transformed problem.</a:t>
            </a:r>
            <a:r>
              <a:rPr lang="en-US" baseline="0" dirty="0" smtClean="0"/>
              <a:t> </a:t>
            </a:r>
          </a:p>
          <a:p>
            <a:pPr lvl="0">
              <a:spcBef>
                <a:spcPts val="0"/>
              </a:spcBef>
              <a:buNone/>
            </a:pPr>
            <a:r>
              <a:rPr lang="en-US" dirty="0" smtClean="0"/>
              <a:t>Thus, </a:t>
            </a:r>
            <a:r>
              <a:rPr lang="en-US" dirty="0" err="1" smtClean="0"/>
              <a:t>multiobjective</a:t>
            </a:r>
            <a:r>
              <a:rPr lang="en-US" dirty="0" smtClean="0"/>
              <a:t> evolutionary algorithms can be readily</a:t>
            </a:r>
            <a:r>
              <a:rPr lang="en-US" baseline="0" dirty="0" smtClean="0"/>
              <a:t> </a:t>
            </a:r>
            <a:r>
              <a:rPr lang="en-US" dirty="0" smtClean="0"/>
              <a:t>applied to find a set of representative Pareto optimal solutions of</a:t>
            </a:r>
            <a:r>
              <a:rPr lang="en-US" baseline="0" dirty="0" smtClean="0"/>
              <a:t> </a:t>
            </a:r>
            <a:r>
              <a:rPr lang="en-US" dirty="0" smtClean="0"/>
              <a:t>the transformed problem, and as a result, multiple optimal solutions</a:t>
            </a:r>
            <a:r>
              <a:rPr lang="en-US" baseline="0" dirty="0" smtClean="0"/>
              <a:t> </a:t>
            </a:r>
            <a:r>
              <a:rPr lang="en-US" dirty="0" smtClean="0"/>
              <a:t>of the original MMOP could also be simultaneously located</a:t>
            </a:r>
            <a:r>
              <a:rPr lang="en-US" baseline="0" dirty="0" smtClean="0"/>
              <a:t> </a:t>
            </a:r>
            <a:r>
              <a:rPr lang="en-US" dirty="0" smtClean="0"/>
              <a:t>in a single run.</a:t>
            </a:r>
            <a:r>
              <a:rPr lang="en" sz="1100" dirty="0" smtClean="0">
                <a:solidFill>
                  <a:schemeClr val="tx1"/>
                </a:solidFill>
                <a:latin typeface="Times New Roman" panose="02020603050405020304" pitchFamily="18" charset="0"/>
                <a:cs typeface="Times New Roman" panose="02020603050405020304" pitchFamily="18" charset="0"/>
              </a:rPr>
              <a:t> </a:t>
            </a:r>
          </a:p>
        </p:txBody>
      </p:sp>
    </p:spTree>
    <p:extLst>
      <p:ext uri="{BB962C8B-B14F-4D97-AF65-F5344CB8AC3E}">
        <p14:creationId xmlns:p14="http://schemas.microsoft.com/office/powerpoint/2010/main" val="100191910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
        <p:cNvGrpSpPr/>
        <p:nvPr/>
      </p:nvGrpSpPr>
      <p:grpSpPr>
        <a:xfrm>
          <a:off x="0" y="0"/>
          <a:ext cx="0" cy="0"/>
          <a:chOff x="0" y="0"/>
          <a:chExt cx="0" cy="0"/>
        </a:xfrm>
      </p:grpSpPr>
      <p:sp>
        <p:nvSpPr>
          <p:cNvPr id="108" name="Shape 108"/>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109" name="Shape 109"/>
          <p:cNvSpPr txBox="1">
            <a:spLocks noGrp="1"/>
          </p:cNvSpPr>
          <p:nvPr>
            <p:ph type="body" idx="1"/>
          </p:nvPr>
        </p:nvSpPr>
        <p:spPr>
          <a:xfrm>
            <a:off x="685800" y="4343400"/>
            <a:ext cx="5486400" cy="4114800"/>
          </a:xfrm>
          <a:prstGeom prst="rect">
            <a:avLst/>
          </a:prstGeom>
        </p:spPr>
        <p:txBody>
          <a:bodyPr wrap="square" lIns="91425" tIns="91425" rIns="91425" bIns="91425" anchor="t" anchorCtr="0">
            <a:noAutofit/>
          </a:bodyPr>
          <a:lstStyle/>
          <a:p>
            <a:pPr lvl="0" rtl="0">
              <a:spcBef>
                <a:spcPts val="0"/>
              </a:spcBef>
              <a:buNone/>
            </a:pPr>
            <a:endParaRPr/>
          </a:p>
        </p:txBody>
      </p:sp>
    </p:spTree>
    <p:extLst>
      <p:ext uri="{BB962C8B-B14F-4D97-AF65-F5344CB8AC3E}">
        <p14:creationId xmlns:p14="http://schemas.microsoft.com/office/powerpoint/2010/main" val="24553123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p:cNvGrpSpPr/>
        <p:nvPr/>
      </p:nvGrpSpPr>
      <p:grpSpPr>
        <a:xfrm>
          <a:off x="0" y="0"/>
          <a:ext cx="0" cy="0"/>
          <a:chOff x="0" y="0"/>
          <a:chExt cx="0" cy="0"/>
        </a:xfrm>
      </p:grpSpPr>
      <p:sp>
        <p:nvSpPr>
          <p:cNvPr id="114" name="Shape 114"/>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115" name="Shape 115"/>
          <p:cNvSpPr txBox="1">
            <a:spLocks noGrp="1"/>
          </p:cNvSpPr>
          <p:nvPr>
            <p:ph type="body" idx="1"/>
          </p:nvPr>
        </p:nvSpPr>
        <p:spPr>
          <a:xfrm>
            <a:off x="685800" y="4343400"/>
            <a:ext cx="5486400" cy="4114800"/>
          </a:xfrm>
          <a:prstGeom prst="rect">
            <a:avLst/>
          </a:prstGeom>
        </p:spPr>
        <p:txBody>
          <a:bodyPr wrap="square" lIns="91425" tIns="91425" rIns="91425" bIns="91425" anchor="t" anchorCtr="0">
            <a:noAutofit/>
          </a:bodyPr>
          <a:lstStyle/>
          <a:p>
            <a:pPr lvl="0" rtl="0">
              <a:spcBef>
                <a:spcPts val="0"/>
              </a:spcBef>
              <a:buNone/>
            </a:pPr>
            <a:r>
              <a:rPr lang="en-US" sz="1100" b="0" i="0" u="none" strike="noStrike" kern="1200" baseline="0" dirty="0" smtClean="0">
                <a:solidFill>
                  <a:schemeClr val="tx1"/>
                </a:solidFill>
                <a:latin typeface="Times New Roman" panose="02020603050405020304" pitchFamily="18" charset="0"/>
                <a:ea typeface="+mn-ea"/>
                <a:cs typeface="+mn-cs"/>
              </a:rPr>
              <a:t>Congress on Evolutionary Computation </a:t>
            </a:r>
            <a:endParaRPr dirty="0"/>
          </a:p>
        </p:txBody>
      </p:sp>
    </p:spTree>
    <p:extLst>
      <p:ext uri="{BB962C8B-B14F-4D97-AF65-F5344CB8AC3E}">
        <p14:creationId xmlns:p14="http://schemas.microsoft.com/office/powerpoint/2010/main" val="103607438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p:cNvGrpSpPr/>
        <p:nvPr/>
      </p:nvGrpSpPr>
      <p:grpSpPr>
        <a:xfrm>
          <a:off x="0" y="0"/>
          <a:ext cx="0" cy="0"/>
          <a:chOff x="0" y="0"/>
          <a:chExt cx="0" cy="0"/>
        </a:xfrm>
      </p:grpSpPr>
      <p:sp>
        <p:nvSpPr>
          <p:cNvPr id="120" name="Shape 120"/>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121" name="Shape 121"/>
          <p:cNvSpPr txBox="1">
            <a:spLocks noGrp="1"/>
          </p:cNvSpPr>
          <p:nvPr>
            <p:ph type="body" idx="1"/>
          </p:nvPr>
        </p:nvSpPr>
        <p:spPr>
          <a:xfrm>
            <a:off x="685800" y="4343400"/>
            <a:ext cx="5486400" cy="4114800"/>
          </a:xfrm>
          <a:prstGeom prst="rect">
            <a:avLst/>
          </a:prstGeom>
        </p:spPr>
        <p:txBody>
          <a:bodyPr wrap="square" lIns="91425" tIns="91425" rIns="91425" bIns="91425" anchor="t" anchorCtr="0">
            <a:noAutofit/>
          </a:bodyPr>
          <a:lstStyle/>
          <a:p>
            <a:pPr lvl="0" rtl="0">
              <a:spcBef>
                <a:spcPts val="0"/>
              </a:spcBef>
              <a:buNone/>
            </a:pPr>
            <a:endParaRPr/>
          </a:p>
        </p:txBody>
      </p:sp>
    </p:spTree>
    <p:extLst>
      <p:ext uri="{BB962C8B-B14F-4D97-AF65-F5344CB8AC3E}">
        <p14:creationId xmlns:p14="http://schemas.microsoft.com/office/powerpoint/2010/main" val="383507240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9"/>
        <p:cNvGrpSpPr/>
        <p:nvPr/>
      </p:nvGrpSpPr>
      <p:grpSpPr>
        <a:xfrm>
          <a:off x="0" y="0"/>
          <a:ext cx="0" cy="0"/>
          <a:chOff x="0" y="0"/>
          <a:chExt cx="0" cy="0"/>
        </a:xfrm>
      </p:grpSpPr>
      <p:sp>
        <p:nvSpPr>
          <p:cNvPr id="150" name="Shape 150"/>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151" name="Shape 151"/>
          <p:cNvSpPr txBox="1">
            <a:spLocks noGrp="1"/>
          </p:cNvSpPr>
          <p:nvPr>
            <p:ph type="body" idx="1"/>
          </p:nvPr>
        </p:nvSpPr>
        <p:spPr>
          <a:xfrm>
            <a:off x="685800" y="4343400"/>
            <a:ext cx="5486400" cy="4114800"/>
          </a:xfrm>
          <a:prstGeom prst="rect">
            <a:avLst/>
          </a:prstGeom>
        </p:spPr>
        <p:txBody>
          <a:bodyPr wrap="square" lIns="91425" tIns="91425" rIns="91425" bIns="91425" anchor="t" anchorCtr="0">
            <a:noAutofit/>
          </a:bodyPr>
          <a:lstStyle/>
          <a:p>
            <a:pPr lvl="0" rtl="0">
              <a:spcBef>
                <a:spcPts val="0"/>
              </a:spcBef>
              <a:buNone/>
            </a:pPr>
            <a:r>
              <a:rPr lang="en-US" dirty="0" smtClean="0"/>
              <a:t>In this paper they proposed a distance-based locally</a:t>
            </a:r>
            <a:r>
              <a:rPr lang="en-US" baseline="0" dirty="0" smtClean="0"/>
              <a:t> </a:t>
            </a:r>
            <a:r>
              <a:rPr lang="en-US" dirty="0" smtClean="0"/>
              <a:t>informed particle swarm (LIPS) optimizer, which eliminates the</a:t>
            </a:r>
            <a:r>
              <a:rPr lang="en-US" baseline="0" dirty="0" smtClean="0"/>
              <a:t> </a:t>
            </a:r>
            <a:r>
              <a:rPr lang="en-US" dirty="0" smtClean="0"/>
              <a:t>need to specify any niching parameter and enhance the fine</a:t>
            </a:r>
            <a:r>
              <a:rPr lang="en-US" baseline="0" dirty="0" smtClean="0"/>
              <a:t> </a:t>
            </a:r>
            <a:r>
              <a:rPr lang="en-US" dirty="0" smtClean="0"/>
              <a:t>search ability of PSO.</a:t>
            </a:r>
          </a:p>
          <a:p>
            <a:pPr lvl="0" rtl="0">
              <a:spcBef>
                <a:spcPts val="0"/>
              </a:spcBef>
              <a:buNone/>
            </a:pPr>
            <a:r>
              <a:rPr lang="en-US" dirty="0" smtClean="0"/>
              <a:t>Instead of using the global best particle,</a:t>
            </a:r>
            <a:r>
              <a:rPr lang="en-US" baseline="0" dirty="0" smtClean="0"/>
              <a:t> </a:t>
            </a:r>
            <a:r>
              <a:rPr lang="en-US" dirty="0" smtClean="0"/>
              <a:t>LIPS uses several local bests to guide the search of each particle.</a:t>
            </a:r>
            <a:r>
              <a:rPr lang="en-US" baseline="0" dirty="0" smtClean="0"/>
              <a:t> </a:t>
            </a:r>
          </a:p>
          <a:p>
            <a:pPr lvl="0" rtl="0">
              <a:spcBef>
                <a:spcPts val="0"/>
              </a:spcBef>
              <a:buNone/>
            </a:pPr>
            <a:r>
              <a:rPr lang="en-US" dirty="0" smtClean="0"/>
              <a:t>LIPS can operate as a stable niching algorithm by using the</a:t>
            </a:r>
            <a:r>
              <a:rPr lang="en-US" baseline="0" dirty="0" smtClean="0"/>
              <a:t> </a:t>
            </a:r>
            <a:r>
              <a:rPr lang="en-US" dirty="0" smtClean="0"/>
              <a:t>information provided by its neighborhoods. </a:t>
            </a:r>
          </a:p>
          <a:p>
            <a:pPr lvl="0" rtl="0">
              <a:spcBef>
                <a:spcPts val="0"/>
              </a:spcBef>
              <a:buNone/>
            </a:pPr>
            <a:r>
              <a:rPr lang="en-US" dirty="0" smtClean="0"/>
              <a:t>The neighborhoods</a:t>
            </a:r>
            <a:r>
              <a:rPr lang="en-US" baseline="0" dirty="0" smtClean="0"/>
              <a:t> </a:t>
            </a:r>
            <a:r>
              <a:rPr lang="en-US" dirty="0" smtClean="0"/>
              <a:t>are estimated in terms of Euclidean distance.</a:t>
            </a:r>
            <a:endParaRPr dirty="0"/>
          </a:p>
        </p:txBody>
      </p:sp>
    </p:spTree>
    <p:extLst>
      <p:ext uri="{BB962C8B-B14F-4D97-AF65-F5344CB8AC3E}">
        <p14:creationId xmlns:p14="http://schemas.microsoft.com/office/powerpoint/2010/main" val="249599041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p:cNvGrpSpPr/>
        <p:nvPr/>
      </p:nvGrpSpPr>
      <p:grpSpPr>
        <a:xfrm>
          <a:off x="0" y="0"/>
          <a:ext cx="0" cy="0"/>
          <a:chOff x="0" y="0"/>
          <a:chExt cx="0" cy="0"/>
        </a:xfrm>
      </p:grpSpPr>
      <p:sp>
        <p:nvSpPr>
          <p:cNvPr id="156" name="Shape 156"/>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157" name="Shape 157"/>
          <p:cNvSpPr txBox="1">
            <a:spLocks noGrp="1"/>
          </p:cNvSpPr>
          <p:nvPr>
            <p:ph type="body" idx="1"/>
          </p:nvPr>
        </p:nvSpPr>
        <p:spPr>
          <a:xfrm>
            <a:off x="685800" y="4343400"/>
            <a:ext cx="5486400" cy="4114800"/>
          </a:xfrm>
          <a:prstGeom prst="rect">
            <a:avLst/>
          </a:prstGeom>
        </p:spPr>
        <p:txBody>
          <a:bodyPr wrap="square" lIns="91425" tIns="91425" rIns="91425" bIns="91425" anchor="t" anchorCtr="0">
            <a:noAutofit/>
          </a:bodyPr>
          <a:lstStyle/>
          <a:p>
            <a:pPr lvl="0" rtl="0">
              <a:spcBef>
                <a:spcPts val="0"/>
              </a:spcBef>
              <a:buNone/>
            </a:pPr>
            <a:endParaRPr/>
          </a:p>
        </p:txBody>
      </p:sp>
    </p:spTree>
    <p:extLst>
      <p:ext uri="{BB962C8B-B14F-4D97-AF65-F5344CB8AC3E}">
        <p14:creationId xmlns:p14="http://schemas.microsoft.com/office/powerpoint/2010/main" val="19884727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17326585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73933543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94204634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a:buNone/>
            </a:pPr>
            <a:r>
              <a:rPr lang="en-US" dirty="0" smtClean="0"/>
              <a:t>The</a:t>
            </a:r>
            <a:r>
              <a:rPr lang="en-US" baseline="0" dirty="0" smtClean="0"/>
              <a:t> proposed technique is an extension of ant colony optimization for continuous optimization problems. The whole working of the proposed methodology is explained in the form of flow chart. The initial parameters will be initialized like ant size, total population size in this case it is called archive size etc. The k sized population will be initialized randomly, categorical attribute values will be chosen randomly from the set of available values. Then this randomly initialized solution archive will partitioned in to niches. Then for each niche each ant will construct solution for mixed variables. From all the available solutions and from all the newly constructed solutions only k best solutions will be selected for next iteration. </a:t>
            </a:r>
          </a:p>
          <a:p>
            <a:pPr>
              <a:buNone/>
            </a:pPr>
            <a:r>
              <a:rPr lang="en-US" baseline="0" dirty="0" smtClean="0"/>
              <a:t> Now further how ants will construct solutions for mixed variables is discussed in upcoming slides.</a:t>
            </a:r>
            <a:endParaRPr lang="en-US" dirty="0"/>
          </a:p>
        </p:txBody>
      </p:sp>
    </p:spTree>
    <p:extLst>
      <p:ext uri="{BB962C8B-B14F-4D97-AF65-F5344CB8AC3E}">
        <p14:creationId xmlns:p14="http://schemas.microsoft.com/office/powerpoint/2010/main" val="145908926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a:buNone/>
            </a:pPr>
            <a:endParaRPr lang="en-US" sz="1100" b="0" i="0" u="none" strike="noStrike" kern="1200" baseline="0" dirty="0" smtClean="0">
              <a:solidFill>
                <a:schemeClr val="tx1"/>
              </a:solidFill>
              <a:latin typeface="Times New Roman" panose="02020603050405020304" pitchFamily="18" charset="0"/>
              <a:ea typeface="+mn-ea"/>
              <a:cs typeface="+mn-cs"/>
            </a:endParaRPr>
          </a:p>
          <a:p>
            <a:r>
              <a:rPr lang="en-US" sz="1100" b="0" i="0" u="none" strike="noStrike" kern="1200" baseline="0" dirty="0" smtClean="0">
                <a:solidFill>
                  <a:schemeClr val="tx1"/>
                </a:solidFill>
                <a:latin typeface="Times New Roman" panose="02020603050405020304" pitchFamily="18" charset="0"/>
                <a:ea typeface="+mn-ea"/>
                <a:cs typeface="+mn-cs"/>
              </a:rPr>
              <a:t>For solving mixed variable multi-modal optimization problem the solutions are represented in the form of solution archive. This solution archive is divided in to two parts. One part represents continuous decision variables and other part represents discrete decision variables. The solution archive contains k complete solutions of the problem and this solution archive S is sorted according to the fitness values (best to worst) as shown in figure. Each solution has an associated weight which is proportional to the solution quality.</a:t>
            </a:r>
            <a:endParaRPr lang="en-US" sz="1800" dirty="0" smtClean="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3506357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a:buNone/>
            </a:pPr>
            <a:r>
              <a:rPr lang="en-US" dirty="0" smtClean="0"/>
              <a:t>Weight effects the selection probability</a:t>
            </a:r>
            <a:r>
              <a:rPr lang="en-US" baseline="0" dirty="0" smtClean="0"/>
              <a:t> of the solution.</a:t>
            </a:r>
            <a:endParaRPr lang="en-US" dirty="0" smtClean="0"/>
          </a:p>
          <a:p>
            <a:pPr>
              <a:buNone/>
            </a:pPr>
            <a:r>
              <a:rPr lang="en-US" dirty="0" smtClean="0"/>
              <a:t>The weight associated with each solution is</a:t>
            </a:r>
            <a:r>
              <a:rPr lang="en-US" baseline="0" dirty="0" smtClean="0"/>
              <a:t> calculated using equation 1 shown.</a:t>
            </a:r>
          </a:p>
          <a:p>
            <a:pPr>
              <a:buNone/>
            </a:pPr>
            <a:r>
              <a:rPr lang="en-US" baseline="0" dirty="0" smtClean="0"/>
              <a:t>This weight is calculated using Gaussian function which essentially defines the weight to be a value of the Gaussian function with rank of the solution j as the argument , mean equal to 1 and standard deviation equals to q times the size of the solution archive.</a:t>
            </a:r>
          </a:p>
          <a:p>
            <a:pPr>
              <a:buNone/>
            </a:pPr>
            <a:r>
              <a:rPr lang="en-US" baseline="0" dirty="0" smtClean="0"/>
              <a:t>By setting the mean of the Gaussian function to 1 corresponds to setting the best solution with the highest weight and the weight of the other solutions decreases exponentially with their rank.</a:t>
            </a:r>
          </a:p>
          <a:p>
            <a:pPr marL="0" marR="0" lvl="0" indent="0" algn="l" defTabSz="914400" rtl="0" eaLnBrk="1" fontAlgn="auto" latinLnBrk="0" hangingPunct="1">
              <a:lnSpc>
                <a:spcPct val="100000"/>
              </a:lnSpc>
              <a:spcBef>
                <a:spcPts val="0"/>
              </a:spcBef>
              <a:spcAft>
                <a:spcPts val="0"/>
              </a:spcAft>
              <a:buClrTx/>
              <a:buSzPct val="100000"/>
              <a:buFontTx/>
              <a:buNone/>
              <a:tabLst/>
              <a:defRPr/>
            </a:pPr>
            <a:r>
              <a:rPr lang="en-US" sz="1100" dirty="0" smtClean="0">
                <a:solidFill>
                  <a:schemeClr val="tx1"/>
                </a:solidFill>
                <a:latin typeface="Times New Roman" panose="02020603050405020304" pitchFamily="18" charset="0"/>
                <a:cs typeface="Times New Roman" panose="02020603050405020304" pitchFamily="18" charset="0"/>
              </a:rPr>
              <a:t>The parameter q has a special effect, with small value of q top ranked solutions will be preferred, where as the large value suggests a uniform probability distribution of the solutions, Q is basically</a:t>
            </a:r>
            <a:r>
              <a:rPr lang="en-US" sz="1100" baseline="0" dirty="0" smtClean="0">
                <a:solidFill>
                  <a:schemeClr val="tx1"/>
                </a:solidFill>
                <a:latin typeface="Times New Roman" panose="02020603050405020304" pitchFamily="18" charset="0"/>
                <a:cs typeface="Times New Roman" panose="02020603050405020304" pitchFamily="18" charset="0"/>
              </a:rPr>
              <a:t> controlling the selective pressure of the population. When q approaches 0 it means that only the Gaussian function associated with the best solution found so far will be used for generating further solutions by the ants. When using large q the algorithm samples the search space based on the larger number of reasonably good solutions hence the search is more diversified.</a:t>
            </a:r>
            <a:endParaRPr lang="en-US" sz="1100" dirty="0" smtClean="0">
              <a:solidFill>
                <a:schemeClr val="tx1"/>
              </a:solidFill>
              <a:latin typeface="Times New Roman" panose="02020603050405020304" pitchFamily="18" charset="0"/>
              <a:cs typeface="Times New Roman" panose="02020603050405020304" pitchFamily="18" charset="0"/>
            </a:endParaRPr>
          </a:p>
          <a:p>
            <a:pPr>
              <a:buNone/>
            </a:pPr>
            <a:r>
              <a:rPr lang="en-US" dirty="0" smtClean="0"/>
              <a:t>Then ant</a:t>
            </a:r>
            <a:r>
              <a:rPr lang="en-US" baseline="0" dirty="0" smtClean="0"/>
              <a:t> probabilistically chooses one of the solution from the solution archive using equation 2 shown where weight is calculated using equation 1 above.</a:t>
            </a:r>
            <a:endParaRPr lang="en-US" dirty="0" smtClean="0"/>
          </a:p>
          <a:p>
            <a:pPr>
              <a:buNone/>
            </a:pPr>
            <a:endParaRPr lang="en-US" dirty="0" smtClean="0"/>
          </a:p>
          <a:p>
            <a:pPr>
              <a:buNone/>
            </a:pPr>
            <a:endParaRPr lang="en-US" dirty="0" smtClean="0"/>
          </a:p>
          <a:p>
            <a:pPr>
              <a:buNone/>
            </a:pPr>
            <a:r>
              <a:rPr lang="en-US" sz="1100" b="1" i="0" kern="1200" dirty="0" smtClean="0">
                <a:solidFill>
                  <a:schemeClr val="tx1"/>
                </a:solidFill>
                <a:effectLst/>
                <a:latin typeface="Times New Roman" panose="02020603050405020304" pitchFamily="18" charset="0"/>
                <a:ea typeface="+mn-ea"/>
                <a:cs typeface="+mn-cs"/>
              </a:rPr>
              <a:t>Uniform Distribution</a:t>
            </a:r>
            <a:r>
              <a:rPr lang="en-US" sz="1100" b="0" i="0" kern="1200" dirty="0" smtClean="0">
                <a:solidFill>
                  <a:schemeClr val="tx1"/>
                </a:solidFill>
                <a:effectLst/>
                <a:latin typeface="Times New Roman" panose="02020603050405020304" pitchFamily="18" charset="0"/>
                <a:ea typeface="+mn-ea"/>
                <a:cs typeface="+mn-cs"/>
              </a:rPr>
              <a:t>' In statistics, a type of probability </a:t>
            </a:r>
            <a:r>
              <a:rPr lang="en-US" sz="1100" b="1" i="0" kern="1200" dirty="0" smtClean="0">
                <a:solidFill>
                  <a:schemeClr val="tx1"/>
                </a:solidFill>
                <a:effectLst/>
                <a:latin typeface="Times New Roman" panose="02020603050405020304" pitchFamily="18" charset="0"/>
                <a:ea typeface="+mn-ea"/>
                <a:cs typeface="+mn-cs"/>
              </a:rPr>
              <a:t>distribution </a:t>
            </a:r>
            <a:r>
              <a:rPr lang="en-US" sz="1100" b="0" i="0" kern="1200" dirty="0" smtClean="0">
                <a:solidFill>
                  <a:schemeClr val="tx1"/>
                </a:solidFill>
                <a:effectLst/>
                <a:latin typeface="Times New Roman" panose="02020603050405020304" pitchFamily="18" charset="0"/>
                <a:ea typeface="+mn-ea"/>
                <a:cs typeface="+mn-cs"/>
              </a:rPr>
              <a:t>in which all outcomes are equally likely to occur. A deck of cards has a </a:t>
            </a:r>
            <a:r>
              <a:rPr lang="en-US" sz="1100" b="1" i="0" kern="1200" dirty="0" smtClean="0">
                <a:solidFill>
                  <a:schemeClr val="tx1"/>
                </a:solidFill>
                <a:effectLst/>
                <a:latin typeface="Times New Roman" panose="02020603050405020304" pitchFamily="18" charset="0"/>
                <a:ea typeface="+mn-ea"/>
                <a:cs typeface="+mn-cs"/>
              </a:rPr>
              <a:t>uniform distribution </a:t>
            </a:r>
            <a:r>
              <a:rPr lang="en-US" sz="1100" b="0" i="0" kern="1200" dirty="0" smtClean="0">
                <a:solidFill>
                  <a:schemeClr val="tx1"/>
                </a:solidFill>
                <a:effectLst/>
                <a:latin typeface="Times New Roman" panose="02020603050405020304" pitchFamily="18" charset="0"/>
                <a:ea typeface="+mn-ea"/>
                <a:cs typeface="+mn-cs"/>
              </a:rPr>
              <a:t>because the likelihood of drawing a heart, a club, a diamond or a spade is equally likely.</a:t>
            </a:r>
            <a:endParaRPr lang="en-US" dirty="0"/>
          </a:p>
        </p:txBody>
      </p:sp>
    </p:spTree>
    <p:extLst>
      <p:ext uri="{BB962C8B-B14F-4D97-AF65-F5344CB8AC3E}">
        <p14:creationId xmlns:p14="http://schemas.microsoft.com/office/powerpoint/2010/main" val="402656467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Pct val="100000"/>
              <a:buFontTx/>
              <a:buNone/>
              <a:tabLst/>
              <a:defRPr/>
            </a:pPr>
            <a:r>
              <a:rPr lang="en-US" sz="1100" b="0" i="0" u="none" strike="noStrike" kern="1200" baseline="0" dirty="0" smtClean="0">
                <a:solidFill>
                  <a:schemeClr val="tx1"/>
                </a:solidFill>
                <a:latin typeface="Times New Roman" panose="02020603050405020304" pitchFamily="18" charset="0"/>
                <a:ea typeface="+mn-ea"/>
                <a:cs typeface="+mn-cs"/>
              </a:rPr>
              <a:t>After selecting probabilistically a solution from the solution archive an ant then iteratively constructs the solution in an incremental manner variable by variable for both continuous and discrete variables.</a:t>
            </a:r>
          </a:p>
          <a:p>
            <a:pPr marL="0" marR="0" lvl="0" indent="0" algn="l" defTabSz="914400" rtl="0" eaLnBrk="1" fontAlgn="auto" latinLnBrk="0" hangingPunct="1">
              <a:lnSpc>
                <a:spcPct val="100000"/>
              </a:lnSpc>
              <a:spcBef>
                <a:spcPts val="0"/>
              </a:spcBef>
              <a:spcAft>
                <a:spcPts val="0"/>
              </a:spcAft>
              <a:buClrTx/>
              <a:buSzPct val="100000"/>
              <a:buFontTx/>
              <a:buNone/>
              <a:tabLst/>
              <a:defRPr/>
            </a:pPr>
            <a:r>
              <a:rPr lang="en-US" sz="1100" b="0" i="0" u="none" strike="noStrike" kern="1200" baseline="0" dirty="0" smtClean="0">
                <a:solidFill>
                  <a:schemeClr val="tx1"/>
                </a:solidFill>
                <a:latin typeface="Times New Roman" panose="02020603050405020304" pitchFamily="18" charset="0"/>
                <a:ea typeface="+mn-ea"/>
                <a:cs typeface="+mn-cs"/>
              </a:rPr>
              <a:t>In traditional ACO the pheromone information is stored as a table. At each iteration ,when choosing a component to be added to the current partial solution an ant uses some of the values from that table as a discrete probability distribution but for the case of continuous optimization, the choice an ant makes is not restricted to a finite set. Hence it is not possible to represent pheromone as a discrete probability distribution. Hence ant samples new values for the continuous variables using Gaussian distribution. Where mu is defined as the mean of the dimension d and sigma is defined as the standard deviation which is the average of the </a:t>
            </a:r>
            <a:r>
              <a:rPr lang="en-US" sz="1100" b="0" i="0" u="none" strike="noStrike" kern="1200" baseline="0" dirty="0" err="1" smtClean="0">
                <a:solidFill>
                  <a:schemeClr val="tx1"/>
                </a:solidFill>
                <a:latin typeface="Times New Roman" panose="02020603050405020304" pitchFamily="18" charset="0"/>
                <a:ea typeface="+mn-ea"/>
                <a:cs typeface="+mn-cs"/>
              </a:rPr>
              <a:t>ith</a:t>
            </a:r>
            <a:r>
              <a:rPr lang="en-US" sz="1100" b="0" i="0" u="none" strike="noStrike" kern="1200" baseline="0" dirty="0" smtClean="0">
                <a:solidFill>
                  <a:schemeClr val="tx1"/>
                </a:solidFill>
                <a:latin typeface="Times New Roman" panose="02020603050405020304" pitchFamily="18" charset="0"/>
                <a:ea typeface="+mn-ea"/>
                <a:cs typeface="+mn-cs"/>
              </a:rPr>
              <a:t> continuous variable of the solution j and the values of the </a:t>
            </a:r>
            <a:r>
              <a:rPr lang="en-US" sz="1100" b="0" i="0" u="none" strike="noStrike" kern="1200" baseline="0" dirty="0" err="1" smtClean="0">
                <a:solidFill>
                  <a:schemeClr val="tx1"/>
                </a:solidFill>
                <a:latin typeface="Times New Roman" panose="02020603050405020304" pitchFamily="18" charset="0"/>
                <a:ea typeface="+mn-ea"/>
                <a:cs typeface="+mn-cs"/>
              </a:rPr>
              <a:t>ith</a:t>
            </a:r>
            <a:r>
              <a:rPr lang="en-US" sz="1100" b="0" i="0" u="none" strike="noStrike" kern="1200" baseline="0" dirty="0" smtClean="0">
                <a:solidFill>
                  <a:schemeClr val="tx1"/>
                </a:solidFill>
                <a:latin typeface="Times New Roman" panose="02020603050405020304" pitchFamily="18" charset="0"/>
                <a:ea typeface="+mn-ea"/>
                <a:cs typeface="+mn-cs"/>
              </a:rPr>
              <a:t> continuous variables of the other solutions in the archive multiplied by the variable zee.</a:t>
            </a:r>
          </a:p>
          <a:p>
            <a:pPr marL="0" marR="0" lvl="0" indent="0" algn="l" defTabSz="914400" rtl="0" eaLnBrk="1" fontAlgn="auto" latinLnBrk="0" hangingPunct="1">
              <a:lnSpc>
                <a:spcPct val="100000"/>
              </a:lnSpc>
              <a:spcBef>
                <a:spcPts val="0"/>
              </a:spcBef>
              <a:spcAft>
                <a:spcPts val="0"/>
              </a:spcAft>
              <a:buClrTx/>
              <a:buSzPct val="100000"/>
              <a:buFontTx/>
              <a:buNone/>
              <a:tabLst/>
              <a:defRPr/>
            </a:pPr>
            <a:r>
              <a:rPr lang="en-US" sz="1100" b="0" i="0" u="none" strike="noStrike" kern="1200" baseline="0" dirty="0" smtClean="0">
                <a:solidFill>
                  <a:schemeClr val="tx1"/>
                </a:solidFill>
                <a:latin typeface="Times New Roman" panose="02020603050405020304" pitchFamily="18" charset="0"/>
                <a:ea typeface="+mn-ea"/>
                <a:cs typeface="+mn-cs"/>
              </a:rPr>
              <a:t>This parameter zee has a special similar to the pheromone persistence in traditional ACO. The higher the value of zee the lower the convergence speed of the algorithm.</a:t>
            </a:r>
          </a:p>
          <a:p>
            <a:pPr>
              <a:buNone/>
            </a:pPr>
            <a:endParaRPr lang="en-US" dirty="0" smtClean="0"/>
          </a:p>
          <a:p>
            <a:pPr>
              <a:buNone/>
            </a:pPr>
            <a:r>
              <a:rPr lang="en-US" sz="1100" b="0" i="0" kern="1200" dirty="0" smtClean="0">
                <a:solidFill>
                  <a:schemeClr val="tx1"/>
                </a:solidFill>
                <a:effectLst/>
                <a:latin typeface="Times New Roman" panose="02020603050405020304" pitchFamily="18" charset="0"/>
                <a:ea typeface="+mn-ea"/>
                <a:cs typeface="+mn-cs"/>
              </a:rPr>
              <a:t>standard deviation: a quantity expressing by how much the members of a group differ from the mean value for the group.</a:t>
            </a:r>
            <a:endParaRPr lang="en-US" dirty="0"/>
          </a:p>
        </p:txBody>
      </p:sp>
    </p:spTree>
    <p:extLst>
      <p:ext uri="{BB962C8B-B14F-4D97-AF65-F5344CB8AC3E}">
        <p14:creationId xmlns:p14="http://schemas.microsoft.com/office/powerpoint/2010/main" val="169476211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a:buNone/>
            </a:pPr>
            <a:r>
              <a:rPr lang="en-US" dirty="0" smtClean="0"/>
              <a:t>Categorical variables are treated differently because these types of variables</a:t>
            </a:r>
            <a:r>
              <a:rPr lang="en-US" baseline="0" dirty="0" smtClean="0"/>
              <a:t> have no predefined order. Mixed variable multimodal ACO assigns value to one variable at a time. For each categorical attribute ant chooses one of the value T form the available values </a:t>
            </a:r>
            <a:r>
              <a:rPr lang="en-US" baseline="0" dirty="0" err="1" smtClean="0"/>
              <a:t>ti</a:t>
            </a:r>
            <a:r>
              <a:rPr lang="en-US" baseline="0" dirty="0" smtClean="0"/>
              <a:t> probabilistically  using equation 5.  Where weight of each value is calculated using equation 6.  </a:t>
            </a:r>
          </a:p>
          <a:p>
            <a:pPr marL="0" marR="0" lvl="0" indent="0" algn="l" defTabSz="914400" rtl="0" eaLnBrk="1" fontAlgn="auto" latinLnBrk="0" hangingPunct="1">
              <a:lnSpc>
                <a:spcPct val="100000"/>
              </a:lnSpc>
              <a:spcBef>
                <a:spcPts val="0"/>
              </a:spcBef>
              <a:spcAft>
                <a:spcPts val="0"/>
              </a:spcAft>
              <a:buClrTx/>
              <a:buSzPct val="100000"/>
              <a:buFontTx/>
              <a:buNone/>
              <a:tabLst/>
              <a:defRPr/>
            </a:pPr>
            <a:r>
              <a:rPr lang="en-US" sz="1100" dirty="0" smtClean="0">
                <a:solidFill>
                  <a:schemeClr val="tx1"/>
                </a:solidFill>
                <a:latin typeface="Times New Roman" panose="02020603050405020304" pitchFamily="18" charset="0"/>
                <a:cs typeface="Times New Roman" panose="02020603050405020304" pitchFamily="18" charset="0"/>
              </a:rPr>
              <a:t>Basically </a:t>
            </a:r>
            <a:r>
              <a:rPr lang="en-US" sz="1100" dirty="0" smtClean="0">
                <a:solidFill>
                  <a:schemeClr val="tx1"/>
                </a:solidFill>
                <a:latin typeface="Times New Roman" panose="02020603050405020304" pitchFamily="18" charset="0"/>
                <a:cs typeface="Times New Roman" panose="02020603050405020304" pitchFamily="18" charset="0"/>
              </a:rPr>
              <a:t>weight of value T is</a:t>
            </a:r>
            <a:r>
              <a:rPr lang="en-US" sz="1100" baseline="0" dirty="0" smtClean="0">
                <a:solidFill>
                  <a:schemeClr val="tx1"/>
                </a:solidFill>
                <a:latin typeface="Times New Roman" panose="02020603050405020304" pitchFamily="18" charset="0"/>
                <a:cs typeface="Times New Roman" panose="02020603050405020304" pitchFamily="18" charset="0"/>
              </a:rPr>
              <a:t> the sum of two components shown in equation 6 . Each of these components is separately explained for better understanding.</a:t>
            </a:r>
            <a:endParaRPr lang="en-US" sz="1100" dirty="0" smtClean="0">
              <a:solidFill>
                <a:schemeClr val="tx1"/>
              </a:solidFill>
              <a:latin typeface="Times New Roman" panose="02020603050405020304" pitchFamily="18" charset="0"/>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Pct val="100000"/>
              <a:buFontTx/>
              <a:buNone/>
              <a:tabLst/>
              <a:defRPr/>
            </a:pPr>
            <a:r>
              <a:rPr lang="en-US" sz="1100" dirty="0" err="1" smtClean="0">
                <a:solidFill>
                  <a:schemeClr val="tx1"/>
                </a:solidFill>
                <a:latin typeface="Times New Roman" panose="02020603050405020304" pitchFamily="18" charset="0"/>
                <a:cs typeface="Times New Roman" panose="02020603050405020304" pitchFamily="18" charset="0"/>
              </a:rPr>
              <a:t>wjT</a:t>
            </a:r>
            <a:r>
              <a:rPr lang="en-US" sz="1100" dirty="0" smtClean="0">
                <a:solidFill>
                  <a:schemeClr val="tx1"/>
                </a:solidFill>
                <a:latin typeface="Times New Roman" panose="02020603050405020304" pitchFamily="18" charset="0"/>
                <a:cs typeface="Times New Roman" panose="02020603050405020304" pitchFamily="18" charset="0"/>
              </a:rPr>
              <a:t> </a:t>
            </a:r>
            <a:r>
              <a:rPr lang="en-US" sz="1100" dirty="0" smtClean="0">
                <a:solidFill>
                  <a:schemeClr val="tx1"/>
                </a:solidFill>
                <a:latin typeface="Times New Roman" panose="02020603050405020304" pitchFamily="18" charset="0"/>
                <a:cs typeface="Times New Roman" panose="02020603050405020304" pitchFamily="18" charset="0"/>
              </a:rPr>
              <a:t>is the solution having highest quality with value T for </a:t>
            </a:r>
            <a:r>
              <a:rPr lang="en-US" sz="1100" dirty="0" smtClean="0"/>
              <a:t>the categorical attribute j in the solution archive</a:t>
            </a:r>
          </a:p>
          <a:p>
            <a:pPr marL="0" marR="0" lvl="0" indent="0" algn="l" defTabSz="914400" rtl="0" eaLnBrk="1" fontAlgn="auto" latinLnBrk="0" hangingPunct="1">
              <a:lnSpc>
                <a:spcPct val="100000"/>
              </a:lnSpc>
              <a:spcBef>
                <a:spcPts val="0"/>
              </a:spcBef>
              <a:spcAft>
                <a:spcPts val="0"/>
              </a:spcAft>
              <a:buClrTx/>
              <a:buSzPct val="100000"/>
              <a:buFontTx/>
              <a:buNone/>
              <a:tabLst/>
              <a:defRPr/>
            </a:pPr>
            <a:r>
              <a:rPr lang="en-US" sz="1100" dirty="0" smtClean="0">
                <a:solidFill>
                  <a:schemeClr val="tx1"/>
                </a:solidFill>
                <a:latin typeface="Times New Roman" panose="02020603050405020304" pitchFamily="18" charset="0"/>
                <a:cs typeface="Times New Roman" panose="02020603050405020304" pitchFamily="18" charset="0"/>
              </a:rPr>
              <a:t> </a:t>
            </a:r>
            <a:r>
              <a:rPr lang="en-US" sz="1100" dirty="0" err="1" smtClean="0">
                <a:solidFill>
                  <a:schemeClr val="tx1"/>
                </a:solidFill>
                <a:latin typeface="Times New Roman" panose="02020603050405020304" pitchFamily="18" charset="0"/>
                <a:cs typeface="Times New Roman" panose="02020603050405020304" pitchFamily="18" charset="0"/>
              </a:rPr>
              <a:t>U</a:t>
            </a:r>
            <a:r>
              <a:rPr lang="en-US" sz="1100" baseline="-25000" dirty="0" err="1" smtClean="0">
                <a:solidFill>
                  <a:schemeClr val="tx1"/>
                </a:solidFill>
                <a:latin typeface="Times New Roman" panose="02020603050405020304" pitchFamily="18" charset="0"/>
                <a:cs typeface="Times New Roman" panose="02020603050405020304" pitchFamily="18" charset="0"/>
              </a:rPr>
              <a:t>jT</a:t>
            </a:r>
            <a:r>
              <a:rPr lang="en-US" sz="1100" dirty="0" smtClean="0">
                <a:solidFill>
                  <a:schemeClr val="tx1"/>
                </a:solidFill>
                <a:latin typeface="Times New Roman" panose="02020603050405020304" pitchFamily="18" charset="0"/>
                <a:cs typeface="Times New Roman" panose="02020603050405020304" pitchFamily="18" charset="0"/>
              </a:rPr>
              <a:t> is the number of solutions in solution</a:t>
            </a:r>
            <a:r>
              <a:rPr lang="en-US" sz="1100" baseline="0" dirty="0" smtClean="0">
                <a:solidFill>
                  <a:schemeClr val="tx1"/>
                </a:solidFill>
                <a:latin typeface="Times New Roman" panose="02020603050405020304" pitchFamily="18" charset="0"/>
                <a:cs typeface="Times New Roman" panose="02020603050405020304" pitchFamily="18" charset="0"/>
              </a:rPr>
              <a:t> archive</a:t>
            </a:r>
            <a:r>
              <a:rPr lang="en-US" sz="1100" dirty="0" smtClean="0">
                <a:solidFill>
                  <a:schemeClr val="tx1"/>
                </a:solidFill>
                <a:latin typeface="Times New Roman" panose="02020603050405020304" pitchFamily="18" charset="0"/>
                <a:cs typeface="Times New Roman" panose="02020603050405020304" pitchFamily="18" charset="0"/>
              </a:rPr>
              <a:t> that use value T for the categorical variable j hence more common the value T is ,the</a:t>
            </a:r>
            <a:r>
              <a:rPr lang="en-US" sz="1100" baseline="0" dirty="0" smtClean="0">
                <a:solidFill>
                  <a:schemeClr val="tx1"/>
                </a:solidFill>
                <a:latin typeface="Times New Roman" panose="02020603050405020304" pitchFamily="18" charset="0"/>
                <a:cs typeface="Times New Roman" panose="02020603050405020304" pitchFamily="18" charset="0"/>
              </a:rPr>
              <a:t> lower is its final weight. </a:t>
            </a:r>
            <a:r>
              <a:rPr lang="en-US" sz="1100" baseline="0" dirty="0" err="1" smtClean="0">
                <a:solidFill>
                  <a:schemeClr val="tx1"/>
                </a:solidFill>
                <a:latin typeface="Times New Roman" panose="02020603050405020304" pitchFamily="18" charset="0"/>
                <a:cs typeface="Times New Roman" panose="02020603050405020304" pitchFamily="18" charset="0"/>
              </a:rPr>
              <a:t>Ujt</a:t>
            </a:r>
            <a:r>
              <a:rPr lang="en-US" sz="1100" baseline="0" dirty="0" smtClean="0">
                <a:solidFill>
                  <a:schemeClr val="tx1"/>
                </a:solidFill>
                <a:latin typeface="Times New Roman" panose="02020603050405020304" pitchFamily="18" charset="0"/>
                <a:cs typeface="Times New Roman" panose="02020603050405020304" pitchFamily="18" charset="0"/>
              </a:rPr>
              <a:t> is the variable whose value will be calculated at the run time and that controls the weight of choosing the value T form the available values for categorical variable j.</a:t>
            </a:r>
          </a:p>
          <a:p>
            <a:pPr marL="0" marR="0" lvl="0" indent="0" algn="l" defTabSz="914400" rtl="0" eaLnBrk="1" fontAlgn="auto" latinLnBrk="0" hangingPunct="1">
              <a:lnSpc>
                <a:spcPct val="100000"/>
              </a:lnSpc>
              <a:spcBef>
                <a:spcPts val="0"/>
              </a:spcBef>
              <a:spcAft>
                <a:spcPts val="0"/>
              </a:spcAft>
              <a:buClrTx/>
              <a:buSzPct val="100000"/>
              <a:buFontTx/>
              <a:buNone/>
              <a:tabLst/>
              <a:defRPr/>
            </a:pPr>
            <a:r>
              <a:rPr lang="en-US" sz="1100" baseline="0" dirty="0" smtClean="0">
                <a:solidFill>
                  <a:schemeClr val="tx1"/>
                </a:solidFill>
                <a:latin typeface="Times New Roman" panose="02020603050405020304" pitchFamily="18" charset="0"/>
                <a:cs typeface="Times New Roman" panose="02020603050405020304" pitchFamily="18" charset="0"/>
              </a:rPr>
              <a:t>The </a:t>
            </a:r>
            <a:r>
              <a:rPr lang="en-US" sz="1100" baseline="0" dirty="0" smtClean="0">
                <a:solidFill>
                  <a:schemeClr val="tx1"/>
                </a:solidFill>
                <a:latin typeface="Times New Roman" panose="02020603050405020304" pitchFamily="18" charset="0"/>
                <a:cs typeface="Times New Roman" panose="02020603050405020304" pitchFamily="18" charset="0"/>
              </a:rPr>
              <a:t>case when </a:t>
            </a:r>
            <a:r>
              <a:rPr lang="en-US" sz="1100" baseline="0" dirty="0" err="1" smtClean="0">
                <a:solidFill>
                  <a:schemeClr val="tx1"/>
                </a:solidFill>
                <a:latin typeface="Times New Roman" panose="02020603050405020304" pitchFamily="18" charset="0"/>
                <a:cs typeface="Times New Roman" panose="02020603050405020304" pitchFamily="18" charset="0"/>
              </a:rPr>
              <a:t>ujt</a:t>
            </a:r>
            <a:r>
              <a:rPr lang="en-US" sz="1100" baseline="0" dirty="0" smtClean="0">
                <a:solidFill>
                  <a:schemeClr val="tx1"/>
                </a:solidFill>
                <a:latin typeface="Times New Roman" panose="02020603050405020304" pitchFamily="18" charset="0"/>
                <a:cs typeface="Times New Roman" panose="02020603050405020304" pitchFamily="18" charset="0"/>
              </a:rPr>
              <a:t> is equal to zer0 corresponds to the value T which is not used by the solutions in the archive. In this case the weight of the value T will be q over eta where eta </a:t>
            </a:r>
            <a:r>
              <a:rPr lang="en-US" sz="1100" dirty="0" smtClean="0">
                <a:solidFill>
                  <a:schemeClr val="tx1"/>
                </a:solidFill>
                <a:latin typeface="Times New Roman" panose="02020603050405020304" pitchFamily="18" charset="0"/>
                <a:cs typeface="Times New Roman" panose="02020603050405020304" pitchFamily="18" charset="0"/>
              </a:rPr>
              <a:t>is the number of available values in t of </a:t>
            </a:r>
            <a:r>
              <a:rPr lang="en-US" sz="1100" dirty="0" err="1" smtClean="0">
                <a:solidFill>
                  <a:schemeClr val="tx1"/>
                </a:solidFill>
                <a:latin typeface="Times New Roman" panose="02020603050405020304" pitchFamily="18" charset="0"/>
                <a:cs typeface="Times New Roman" panose="02020603050405020304" pitchFamily="18" charset="0"/>
              </a:rPr>
              <a:t>i</a:t>
            </a:r>
            <a:r>
              <a:rPr lang="en-US" sz="1100" dirty="0" smtClean="0">
                <a:solidFill>
                  <a:schemeClr val="tx1"/>
                </a:solidFill>
                <a:latin typeface="Times New Roman" panose="02020603050405020304" pitchFamily="18" charset="0"/>
                <a:cs typeface="Times New Roman" panose="02020603050405020304" pitchFamily="18" charset="0"/>
              </a:rPr>
              <a:t> that are not being used by the solutions in the solution archive  again this</a:t>
            </a:r>
            <a:r>
              <a:rPr lang="en-US" sz="1100" baseline="0" dirty="0" smtClean="0">
                <a:solidFill>
                  <a:schemeClr val="tx1"/>
                </a:solidFill>
                <a:latin typeface="Times New Roman" panose="02020603050405020304" pitchFamily="18" charset="0"/>
                <a:cs typeface="Times New Roman" panose="02020603050405020304" pitchFamily="18" charset="0"/>
              </a:rPr>
              <a:t> variable will be adopted at the runtime</a:t>
            </a:r>
            <a:r>
              <a:rPr lang="en-US" sz="1100" dirty="0" smtClean="0">
                <a:solidFill>
                  <a:schemeClr val="tx1"/>
                </a:solidFill>
                <a:latin typeface="Times New Roman" panose="02020603050405020304" pitchFamily="18" charset="0"/>
                <a:cs typeface="Times New Roman" panose="02020603050405020304" pitchFamily="18" charset="0"/>
              </a:rPr>
              <a:t>. q is the same variable used in previous equation</a:t>
            </a:r>
            <a:r>
              <a:rPr lang="en-US" sz="1100" baseline="0" dirty="0" smtClean="0">
                <a:solidFill>
                  <a:schemeClr val="tx1"/>
                </a:solidFill>
                <a:latin typeface="Times New Roman" panose="02020603050405020304" pitchFamily="18" charset="0"/>
                <a:cs typeface="Times New Roman" panose="02020603050405020304" pitchFamily="18" charset="0"/>
              </a:rPr>
              <a:t> 1. this component plays an important role in exploring values for the categorical decision variables that are currently not used by any of the solution in the solution archive. In fact the weight of such values according to the first component will be zero.</a:t>
            </a:r>
          </a:p>
          <a:p>
            <a:pPr marL="0" marR="0" lvl="0" indent="0" algn="l" defTabSz="914400" rtl="0" eaLnBrk="1" fontAlgn="auto" latinLnBrk="0" hangingPunct="1">
              <a:lnSpc>
                <a:spcPct val="100000"/>
              </a:lnSpc>
              <a:spcBef>
                <a:spcPts val="0"/>
              </a:spcBef>
              <a:spcAft>
                <a:spcPts val="0"/>
              </a:spcAft>
              <a:buClrTx/>
              <a:buSzPct val="100000"/>
              <a:buFontTx/>
              <a:buNone/>
              <a:tabLst/>
              <a:defRPr/>
            </a:pPr>
            <a:endParaRPr lang="en-US" sz="1100" baseline="0" dirty="0" smtClean="0">
              <a:solidFill>
                <a:schemeClr val="tx1"/>
              </a:solidFill>
              <a:latin typeface="Times New Roman" panose="02020603050405020304" pitchFamily="18" charset="0"/>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Pct val="100000"/>
              <a:buFontTx/>
              <a:buNone/>
              <a:tabLst/>
              <a:defRPr/>
            </a:pPr>
            <a:r>
              <a:rPr lang="en-US" sz="1100" baseline="0" dirty="0" smtClean="0">
                <a:solidFill>
                  <a:schemeClr val="tx1"/>
                </a:solidFill>
                <a:latin typeface="Times New Roman" panose="02020603050405020304" pitchFamily="18" charset="0"/>
                <a:cs typeface="Times New Roman" panose="02020603050405020304" pitchFamily="18" charset="0"/>
              </a:rPr>
              <a:t>When all the values are used means eta=0 corresponds to the case in which q over n will be discarded and weight of value T will be calculated using the highest weight of the solution with value T over number of using value T for the categorical attribute j. This component basically biases the choice towards values that are chosen by the best solutions in the solution archive but they do not occur very frequently.</a:t>
            </a:r>
          </a:p>
          <a:p>
            <a:pPr marL="0" marR="0" lvl="0" indent="0" algn="l" defTabSz="914400" rtl="0" eaLnBrk="1" fontAlgn="auto" latinLnBrk="0" hangingPunct="1">
              <a:lnSpc>
                <a:spcPct val="100000"/>
              </a:lnSpc>
              <a:spcBef>
                <a:spcPts val="0"/>
              </a:spcBef>
              <a:spcAft>
                <a:spcPts val="0"/>
              </a:spcAft>
              <a:buClrTx/>
              <a:buSzPct val="100000"/>
              <a:buFontTx/>
              <a:buNone/>
              <a:tabLst/>
              <a:defRPr/>
            </a:pPr>
            <a:endParaRPr lang="en-US" sz="1100" baseline="0" dirty="0" smtClean="0">
              <a:solidFill>
                <a:schemeClr val="tx1"/>
              </a:solidFill>
              <a:latin typeface="Times New Roman" panose="02020603050405020304" pitchFamily="18" charset="0"/>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Pct val="100000"/>
              <a:buFontTx/>
              <a:buNone/>
              <a:tabLst/>
              <a:defRPr/>
            </a:pPr>
            <a:endParaRPr lang="en-US" sz="1100" baseline="0" dirty="0" smtClean="0">
              <a:solidFill>
                <a:schemeClr val="tx1"/>
              </a:solidFill>
              <a:latin typeface="Times New Roman" panose="02020603050405020304" pitchFamily="18" charset="0"/>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Pct val="100000"/>
              <a:buFontTx/>
              <a:buNone/>
              <a:tabLst/>
              <a:defRPr/>
            </a:pPr>
            <a:endParaRPr lang="en-US" sz="1100" baseline="0" dirty="0" smtClean="0">
              <a:solidFill>
                <a:schemeClr val="tx1"/>
              </a:solidFill>
              <a:latin typeface="Times New Roman" panose="02020603050405020304" pitchFamily="18" charset="0"/>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Pct val="100000"/>
              <a:buFontTx/>
              <a:buNone/>
              <a:tabLst/>
              <a:defRPr/>
            </a:pPr>
            <a:r>
              <a:rPr lang="en-US" sz="1100" baseline="0" dirty="0" smtClean="0">
                <a:solidFill>
                  <a:schemeClr val="tx1"/>
                </a:solidFill>
                <a:latin typeface="Times New Roman" panose="02020603050405020304" pitchFamily="18" charset="0"/>
                <a:cs typeface="Times New Roman" panose="02020603050405020304" pitchFamily="18" charset="0"/>
              </a:rPr>
              <a:t> </a:t>
            </a:r>
            <a:endParaRPr lang="en-US" sz="1100" dirty="0" smtClean="0">
              <a:solidFill>
                <a:schemeClr val="tx1"/>
              </a:solidFill>
              <a:latin typeface="Times New Roman" panose="02020603050405020304" pitchFamily="18" charset="0"/>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Pct val="100000"/>
              <a:buFontTx/>
              <a:buNone/>
              <a:tabLst/>
              <a:defRPr/>
            </a:pPr>
            <a:endParaRPr lang="en-US" sz="1100" dirty="0" smtClean="0">
              <a:solidFill>
                <a:schemeClr val="tx1"/>
              </a:solidFill>
              <a:latin typeface="Times New Roman" panose="02020603050405020304" pitchFamily="18" charset="0"/>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Pct val="100000"/>
              <a:buFontTx/>
              <a:buNone/>
              <a:tabLst/>
              <a:defRPr/>
            </a:pPr>
            <a:endParaRPr lang="en-US" sz="1100" dirty="0" smtClean="0"/>
          </a:p>
          <a:p>
            <a:pPr marL="0" marR="0" lvl="0" indent="0" algn="l" defTabSz="914400" rtl="0" eaLnBrk="1" fontAlgn="auto" latinLnBrk="0" hangingPunct="1">
              <a:lnSpc>
                <a:spcPct val="100000"/>
              </a:lnSpc>
              <a:spcBef>
                <a:spcPts val="0"/>
              </a:spcBef>
              <a:spcAft>
                <a:spcPts val="0"/>
              </a:spcAft>
              <a:buClrTx/>
              <a:buSzPct val="100000"/>
              <a:buFontTx/>
              <a:buNone/>
              <a:tabLst/>
              <a:defRPr/>
            </a:pPr>
            <a:endParaRPr lang="en-US" sz="1100" dirty="0" smtClean="0">
              <a:solidFill>
                <a:schemeClr val="tx1"/>
              </a:solidFill>
              <a:latin typeface="Times New Roman" panose="02020603050405020304" pitchFamily="18" charset="0"/>
              <a:cs typeface="Times New Roman" panose="02020603050405020304" pitchFamily="18" charset="0"/>
            </a:endParaRPr>
          </a:p>
          <a:p>
            <a:pPr>
              <a:buNone/>
            </a:pPr>
            <a:endParaRPr lang="en-US" dirty="0"/>
          </a:p>
        </p:txBody>
      </p:sp>
    </p:spTree>
    <p:extLst>
      <p:ext uri="{BB962C8B-B14F-4D97-AF65-F5344CB8AC3E}">
        <p14:creationId xmlns:p14="http://schemas.microsoft.com/office/powerpoint/2010/main" val="23328993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625390280"/>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algn="just">
              <a:buNone/>
            </a:pPr>
            <a:r>
              <a:rPr lang="en-US" dirty="0" smtClean="0"/>
              <a:t>Niching</a:t>
            </a:r>
            <a:r>
              <a:rPr lang="en-US" baseline="0" dirty="0" smtClean="0"/>
              <a:t> can be incorporated in to any existing evolutionary algorithm, and can maintain formation of multiple subpopulations with in a single population.</a:t>
            </a:r>
          </a:p>
          <a:p>
            <a:pPr algn="just">
              <a:buNone/>
            </a:pPr>
            <a:endParaRPr lang="en-US" baseline="0" dirty="0" smtClean="0"/>
          </a:p>
          <a:p>
            <a:pPr algn="just">
              <a:buNone/>
            </a:pPr>
            <a:r>
              <a:rPr lang="en-US" baseline="0" dirty="0" smtClean="0"/>
              <a:t>Incorporating niching for solving multimodal mixed variable optimization problems is a challenge:</a:t>
            </a:r>
          </a:p>
          <a:p>
            <a:pPr algn="just">
              <a:buNone/>
            </a:pPr>
            <a:r>
              <a:rPr lang="en-US" baseline="0" dirty="0" smtClean="0"/>
              <a:t>Many real world problems  are modeled using continuous and discrete variables , however there lack an approach how existing niching methods largely designed for continuous optimization should cope with mixed variable optimization because usually for applying niching in PSO, DE ,evolutionary strategies, or in GA a distance metric is used  whether its an Euclidean distance or hamming distance. Moreover the existing niching strategies like crowding, fitness sharing, restricted tournament selection all deals with real values. There is no approach proposed to deal with mixed variables.</a:t>
            </a:r>
          </a:p>
          <a:p>
            <a:pPr algn="just">
              <a:buNone/>
            </a:pPr>
            <a:r>
              <a:rPr lang="en-US" baseline="0" dirty="0" smtClean="0"/>
              <a:t>There are not enough studies on high dimensional multimodal optimization problems. Though evidence exists that shows niching is helpful in solving low dimensional problems, it is still unclear how much benefit we can drive from doing niching in high dimensional cases.</a:t>
            </a:r>
          </a:p>
          <a:p>
            <a:pPr algn="just">
              <a:buNone/>
            </a:pPr>
            <a:r>
              <a:rPr lang="en-US" baseline="0" dirty="0" smtClean="0"/>
              <a:t>Many new niching methods have been introduced but a problem is that these methods introduce additional parameters for tuning and these techniques may be problem dependent. How can we adapt and even remove these undesirable parameters without sacrificing performance? </a:t>
            </a:r>
          </a:p>
          <a:p>
            <a:pPr algn="just">
              <a:buNone/>
            </a:pPr>
            <a:r>
              <a:rPr lang="en-US" baseline="0" dirty="0" smtClean="0"/>
              <a:t>How do we measure the performance of niching methods where the locations and multiple optima for a mixed variable optimization problem is unknown. The existing performance metrics are clearly limited as they make some assumptions and they only deal with continuous optimization problems.</a:t>
            </a:r>
          </a:p>
          <a:p>
            <a:pPr algn="just">
              <a:buNone/>
            </a:pPr>
            <a:r>
              <a:rPr lang="en-US" baseline="0" dirty="0" smtClean="0"/>
              <a:t>How can we apply niching methods to maintain a good diversity of population in mixed variable optimization, because maintaining multiple and diverse solutions for a large number of iterations is difficult.</a:t>
            </a:r>
          </a:p>
          <a:p>
            <a:pPr algn="just">
              <a:buNone/>
            </a:pPr>
            <a:endParaRPr lang="en-US" baseline="0" dirty="0" smtClean="0"/>
          </a:p>
          <a:p>
            <a:pPr algn="just">
              <a:buNone/>
            </a:pPr>
            <a:r>
              <a:rPr lang="en-US" baseline="0" dirty="0" smtClean="0"/>
              <a:t>Therefore I need to come up with an approach that drives the subsets of mixed variable population towards different areas in the search space and promote distributed convergence to multiple peaks simultaneously which is expected to be a challenge for thesis2.</a:t>
            </a:r>
          </a:p>
          <a:p>
            <a:pPr algn="just">
              <a:buNone/>
            </a:pPr>
            <a:endParaRPr lang="en-US" baseline="0" dirty="0" smtClean="0"/>
          </a:p>
          <a:p>
            <a:pPr algn="just">
              <a:buNone/>
            </a:pPr>
            <a:endParaRPr lang="en-US" baseline="0" dirty="0" smtClean="0"/>
          </a:p>
          <a:p>
            <a:pPr algn="just">
              <a:buNone/>
            </a:pPr>
            <a:endParaRPr lang="en-US" baseline="0" dirty="0" smtClean="0"/>
          </a:p>
          <a:p>
            <a:pPr>
              <a:buNone/>
            </a:pPr>
            <a:endParaRPr lang="en-US" baseline="0" dirty="0" smtClean="0"/>
          </a:p>
          <a:p>
            <a:pPr>
              <a:buNone/>
            </a:pPr>
            <a:endParaRPr lang="en-US" baseline="0" dirty="0" smtClean="0"/>
          </a:p>
          <a:p>
            <a:pPr>
              <a:buNone/>
            </a:pPr>
            <a:endParaRPr lang="en-US" baseline="0" dirty="0" smtClean="0"/>
          </a:p>
          <a:p>
            <a:pPr>
              <a:buNone/>
            </a:pPr>
            <a:endParaRPr lang="en-US" baseline="0" dirty="0" smtClean="0"/>
          </a:p>
          <a:p>
            <a:pPr>
              <a:buNone/>
            </a:pPr>
            <a:endParaRPr lang="en-US" baseline="0" dirty="0" smtClean="0"/>
          </a:p>
          <a:p>
            <a:pPr>
              <a:buNone/>
            </a:pPr>
            <a:endParaRPr lang="en-US" dirty="0"/>
          </a:p>
        </p:txBody>
      </p:sp>
    </p:spTree>
    <p:extLst>
      <p:ext uri="{BB962C8B-B14F-4D97-AF65-F5344CB8AC3E}">
        <p14:creationId xmlns:p14="http://schemas.microsoft.com/office/powerpoint/2010/main" val="843862995"/>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smtClean="0"/>
              <a:t>Function optimization</a:t>
            </a:r>
          </a:p>
          <a:p>
            <a:endParaRPr lang="en-US" dirty="0"/>
          </a:p>
        </p:txBody>
      </p:sp>
    </p:spTree>
    <p:extLst>
      <p:ext uri="{BB962C8B-B14F-4D97-AF65-F5344CB8AC3E}">
        <p14:creationId xmlns:p14="http://schemas.microsoft.com/office/powerpoint/2010/main" val="364426968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2382" y="4800600"/>
            <a:ext cx="9141619" cy="3429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2" y="4750737"/>
            <a:ext cx="9141619" cy="4800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822960" y="569214"/>
            <a:ext cx="7543800" cy="2674620"/>
          </a:xfrm>
        </p:spPr>
        <p:txBody>
          <a:bodyPr anchor="b">
            <a:normAutofit/>
          </a:bodyPr>
          <a:lstStyle>
            <a:lvl1pPr algn="l">
              <a:lnSpc>
                <a:spcPct val="85000"/>
              </a:lnSpc>
              <a:defRPr sz="6000" spc="-38" baseline="0">
                <a:solidFill>
                  <a:schemeClr val="tx1">
                    <a:lumMod val="85000"/>
                    <a:lumOff val="15000"/>
                  </a:schemeClr>
                </a:solidFill>
              </a:defRPr>
            </a:lvl1pPr>
          </a:lstStyle>
          <a:p>
            <a:r>
              <a:rPr lang="en-US" smtClean="0"/>
              <a:t>Click to edit Master title style</a:t>
            </a:r>
            <a:endParaRPr lang="en-US" dirty="0"/>
          </a:p>
        </p:txBody>
      </p:sp>
      <p:sp>
        <p:nvSpPr>
          <p:cNvPr id="3" name="Subtitle 2"/>
          <p:cNvSpPr>
            <a:spLocks noGrp="1"/>
          </p:cNvSpPr>
          <p:nvPr>
            <p:ph type="subTitle" idx="1"/>
          </p:nvPr>
        </p:nvSpPr>
        <p:spPr>
          <a:xfrm>
            <a:off x="825038" y="3341715"/>
            <a:ext cx="7543800" cy="857250"/>
          </a:xfrm>
        </p:spPr>
        <p:txBody>
          <a:bodyPr lIns="91440" rIns="91440">
            <a:normAutofit/>
          </a:bodyPr>
          <a:lstStyle>
            <a:lvl1pPr marL="0" indent="0" algn="l">
              <a:buNone/>
              <a:defRPr sz="1800" cap="all" spc="150" baseline="0">
                <a:solidFill>
                  <a:schemeClr val="tx2"/>
                </a:solidFill>
                <a:latin typeface="+mj-lt"/>
              </a:defRPr>
            </a:lvl1pPr>
            <a:lvl2pPr marL="342900" indent="0" algn="ctr">
              <a:buNone/>
              <a:defRPr sz="1800"/>
            </a:lvl2pPr>
            <a:lvl3pPr marL="685800" indent="0" algn="ctr">
              <a:buNone/>
              <a:defRPr sz="1800"/>
            </a:lvl3pPr>
            <a:lvl4pPr marL="1028700" indent="0" algn="ctr">
              <a:buNone/>
              <a:defRPr sz="1500"/>
            </a:lvl4pPr>
            <a:lvl5pPr marL="1371600" indent="0" algn="ctr">
              <a:buNone/>
              <a:defRPr sz="1500"/>
            </a:lvl5pPr>
            <a:lvl6pPr marL="1714500" indent="0" algn="ctr">
              <a:buNone/>
              <a:defRPr sz="1500"/>
            </a:lvl6pPr>
            <a:lvl7pPr marL="2057400" indent="0" algn="ctr">
              <a:buNone/>
              <a:defRPr sz="1500"/>
            </a:lvl7pPr>
            <a:lvl8pPr marL="2400300" indent="0" algn="ctr">
              <a:buNone/>
              <a:defRPr sz="1500"/>
            </a:lvl8pPr>
            <a:lvl9pPr marL="2743200" indent="0" algn="ctr">
              <a:buNone/>
              <a:defRPr sz="1500"/>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lvl1pPr>
              <a:defRPr/>
            </a:lvl1pPr>
          </a:lstStyle>
          <a:p>
            <a:fld id="{8C5A733E-3EE9-4751-A604-4129A8F8ACBD}" type="datetime1">
              <a:rPr lang="en-US" smtClean="0"/>
              <a:pPr/>
              <a:t>1/1/2018</a:t>
            </a:fld>
            <a:endParaRPr lang="en-US" dirty="0"/>
          </a:p>
        </p:txBody>
      </p:sp>
      <p:sp>
        <p:nvSpPr>
          <p:cNvPr id="5" name="Footer Placeholder 4"/>
          <p:cNvSpPr>
            <a:spLocks noGrp="1"/>
          </p:cNvSpPr>
          <p:nvPr>
            <p:ph type="ftr" sz="quarter" idx="11"/>
          </p:nvPr>
        </p:nvSpPr>
        <p:spPr/>
        <p:txBody>
          <a:bodyPr/>
          <a:lstStyle>
            <a:lvl1pPr>
              <a:defRPr/>
            </a:lvl1pPr>
          </a:lstStyle>
          <a:p>
            <a:endParaRPr lang="en-US" dirty="0"/>
          </a:p>
        </p:txBody>
      </p:sp>
      <p:sp>
        <p:nvSpPr>
          <p:cNvPr id="6" name="Slide Number Placeholder 5"/>
          <p:cNvSpPr>
            <a:spLocks noGrp="1"/>
          </p:cNvSpPr>
          <p:nvPr>
            <p:ph type="sldNum" sz="quarter" idx="12"/>
          </p:nvPr>
        </p:nvSpPr>
        <p:spPr/>
        <p:txBody>
          <a:bodyPr/>
          <a:lstStyle/>
          <a:p>
            <a:pPr lvl="0" algn="r">
              <a:spcBef>
                <a:spcPts val="0"/>
              </a:spcBef>
              <a:buNone/>
            </a:pPr>
            <a:fld id="{00000000-1234-1234-1234-123412341234}" type="slidenum">
              <a:rPr lang="en" sz="1000" smtClean="0">
                <a:solidFill>
                  <a:schemeClr val="dk2"/>
                </a:solidFill>
                <a:latin typeface="Playfair Display"/>
                <a:ea typeface="Playfair Display"/>
                <a:cs typeface="Playfair Display"/>
                <a:sym typeface="Playfair Display"/>
              </a:rPr>
              <a:t>‹#›</a:t>
            </a:fld>
            <a:endParaRPr lang="en" sz="1000">
              <a:solidFill>
                <a:schemeClr val="dk2"/>
              </a:solidFill>
              <a:latin typeface="Playfair Display"/>
              <a:ea typeface="Playfair Display"/>
              <a:cs typeface="Playfair Display"/>
              <a:sym typeface="Playfair Display"/>
            </a:endParaRPr>
          </a:p>
        </p:txBody>
      </p:sp>
      <p:cxnSp>
        <p:nvCxnSpPr>
          <p:cNvPr id="9" name="Straight Connector 8"/>
          <p:cNvCxnSpPr/>
          <p:nvPr/>
        </p:nvCxnSpPr>
        <p:spPr>
          <a:xfrm>
            <a:off x="905744" y="3257550"/>
            <a:ext cx="740664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504692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lvl1pPr>
              <a:defRPr/>
            </a:lvl1pPr>
          </a:lstStyle>
          <a:p>
            <a:fld id="{6063DC4F-A1F5-4096-A6F9-70092359CCC5}" type="datetime1">
              <a:rPr lang="en-US" smtClean="0"/>
              <a:pPr/>
              <a:t>1/1/2018</a:t>
            </a:fld>
            <a:endParaRPr lang="en-US" dirty="0"/>
          </a:p>
        </p:txBody>
      </p:sp>
      <p:sp>
        <p:nvSpPr>
          <p:cNvPr id="5" name="Footer Placeholder 4"/>
          <p:cNvSpPr>
            <a:spLocks noGrp="1"/>
          </p:cNvSpPr>
          <p:nvPr>
            <p:ph type="ftr" sz="quarter" idx="11"/>
          </p:nvPr>
        </p:nvSpPr>
        <p:spPr/>
        <p:txBody>
          <a:bodyPr/>
          <a:lstStyle>
            <a:lvl1pPr>
              <a:defRPr/>
            </a:lvl1pPr>
          </a:lstStyle>
          <a:p>
            <a:endParaRPr lang="en-US" dirty="0"/>
          </a:p>
        </p:txBody>
      </p:sp>
      <p:sp>
        <p:nvSpPr>
          <p:cNvPr id="6" name="Slide Number Placeholder 5"/>
          <p:cNvSpPr>
            <a:spLocks noGrp="1"/>
          </p:cNvSpPr>
          <p:nvPr>
            <p:ph type="sldNum" sz="quarter" idx="12"/>
          </p:nvPr>
        </p:nvSpPr>
        <p:spPr/>
        <p:txBody>
          <a:bodyPr/>
          <a:lstStyle/>
          <a:p>
            <a:pPr lvl="0" algn="r">
              <a:spcBef>
                <a:spcPts val="0"/>
              </a:spcBef>
              <a:buNone/>
            </a:pPr>
            <a:fld id="{00000000-1234-1234-1234-123412341234}" type="slidenum">
              <a:rPr lang="en" sz="1000" smtClean="0">
                <a:solidFill>
                  <a:schemeClr val="dk2"/>
                </a:solidFill>
                <a:latin typeface="Playfair Display"/>
                <a:ea typeface="Playfair Display"/>
                <a:cs typeface="Playfair Display"/>
                <a:sym typeface="Playfair Display"/>
              </a:rPr>
              <a:t>‹#›</a:t>
            </a:fld>
            <a:endParaRPr lang="en" sz="1000">
              <a:solidFill>
                <a:schemeClr val="dk2"/>
              </a:solidFill>
              <a:latin typeface="Playfair Display"/>
              <a:ea typeface="Playfair Display"/>
              <a:cs typeface="Playfair Display"/>
              <a:sym typeface="Playfair Display"/>
            </a:endParaRPr>
          </a:p>
        </p:txBody>
      </p:sp>
    </p:spTree>
    <p:extLst>
      <p:ext uri="{BB962C8B-B14F-4D97-AF65-F5344CB8AC3E}">
        <p14:creationId xmlns:p14="http://schemas.microsoft.com/office/powerpoint/2010/main" val="6519805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2382" y="4800600"/>
            <a:ext cx="9141619" cy="3429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2" y="4750737"/>
            <a:ext cx="9141619" cy="4800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22960" y="569214"/>
            <a:ext cx="7543800" cy="2674620"/>
          </a:xfrm>
        </p:spPr>
        <p:txBody>
          <a:bodyPr anchor="b" anchorCtr="0">
            <a:normAutofit/>
          </a:bodyPr>
          <a:lstStyle>
            <a:lvl1pPr>
              <a:lnSpc>
                <a:spcPct val="85000"/>
              </a:lnSpc>
              <a:defRPr sz="6000" b="0">
                <a:solidFill>
                  <a:schemeClr val="tx1">
                    <a:lumMod val="85000"/>
                    <a:lumOff val="15000"/>
                  </a:schemeClr>
                </a:solidFill>
              </a:defRPr>
            </a:lvl1pPr>
          </a:lstStyle>
          <a:p>
            <a:r>
              <a:rPr lang="en-US" smtClean="0"/>
              <a:t>Click to edit Master title style</a:t>
            </a:r>
            <a:endParaRPr lang="en-US" dirty="0"/>
          </a:p>
        </p:txBody>
      </p:sp>
      <p:sp>
        <p:nvSpPr>
          <p:cNvPr id="3" name="Text Placeholder 2"/>
          <p:cNvSpPr>
            <a:spLocks noGrp="1"/>
          </p:cNvSpPr>
          <p:nvPr>
            <p:ph type="body" idx="1"/>
          </p:nvPr>
        </p:nvSpPr>
        <p:spPr>
          <a:xfrm>
            <a:off x="822960" y="3339846"/>
            <a:ext cx="7543800" cy="857250"/>
          </a:xfrm>
        </p:spPr>
        <p:txBody>
          <a:bodyPr lIns="91440" rIns="91440" anchor="t" anchorCtr="0">
            <a:normAutofit/>
          </a:bodyPr>
          <a:lstStyle>
            <a:lvl1pPr marL="0" indent="0">
              <a:buNone/>
              <a:defRPr sz="1800" cap="all" spc="150" baseline="0">
                <a:solidFill>
                  <a:schemeClr val="tx2"/>
                </a:solidFill>
                <a:latin typeface="+mj-lt"/>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lvl1pPr>
              <a:defRPr/>
            </a:lvl1pPr>
          </a:lstStyle>
          <a:p>
            <a:fld id="{D64796FE-F3B5-48D8-913F-413A583E429C}" type="datetime1">
              <a:rPr lang="en-US" smtClean="0"/>
              <a:pPr/>
              <a:t>1/1/2018</a:t>
            </a:fld>
            <a:endParaRPr lang="en-US" dirty="0"/>
          </a:p>
        </p:txBody>
      </p:sp>
      <p:sp>
        <p:nvSpPr>
          <p:cNvPr id="5" name="Footer Placeholder 4"/>
          <p:cNvSpPr>
            <a:spLocks noGrp="1"/>
          </p:cNvSpPr>
          <p:nvPr>
            <p:ph type="ftr" sz="quarter" idx="11"/>
          </p:nvPr>
        </p:nvSpPr>
        <p:spPr/>
        <p:txBody>
          <a:bodyPr/>
          <a:lstStyle>
            <a:lvl1pPr>
              <a:defRPr/>
            </a:lvl1pPr>
          </a:lstStyle>
          <a:p>
            <a:endParaRPr lang="en-US" dirty="0"/>
          </a:p>
        </p:txBody>
      </p:sp>
      <p:sp>
        <p:nvSpPr>
          <p:cNvPr id="6" name="Slide Number Placeholder 5"/>
          <p:cNvSpPr>
            <a:spLocks noGrp="1"/>
          </p:cNvSpPr>
          <p:nvPr>
            <p:ph type="sldNum" sz="quarter" idx="12"/>
          </p:nvPr>
        </p:nvSpPr>
        <p:spPr/>
        <p:txBody>
          <a:bodyPr/>
          <a:lstStyle/>
          <a:p>
            <a:pPr lvl="0" algn="r">
              <a:spcBef>
                <a:spcPts val="0"/>
              </a:spcBef>
              <a:buNone/>
            </a:pPr>
            <a:fld id="{00000000-1234-1234-1234-123412341234}" type="slidenum">
              <a:rPr lang="en" sz="1000" smtClean="0">
                <a:solidFill>
                  <a:schemeClr val="dk2"/>
                </a:solidFill>
                <a:latin typeface="Playfair Display"/>
                <a:ea typeface="Playfair Display"/>
                <a:cs typeface="Playfair Display"/>
                <a:sym typeface="Playfair Display"/>
              </a:rPr>
              <a:t>‹#›</a:t>
            </a:fld>
            <a:endParaRPr lang="en" sz="1000">
              <a:solidFill>
                <a:schemeClr val="dk2"/>
              </a:solidFill>
              <a:latin typeface="Playfair Display"/>
              <a:ea typeface="Playfair Display"/>
              <a:cs typeface="Playfair Display"/>
              <a:sym typeface="Playfair Display"/>
            </a:endParaRPr>
          </a:p>
        </p:txBody>
      </p:sp>
      <p:cxnSp>
        <p:nvCxnSpPr>
          <p:cNvPr id="9" name="Straight Connector 8"/>
          <p:cNvCxnSpPr/>
          <p:nvPr/>
        </p:nvCxnSpPr>
        <p:spPr>
          <a:xfrm>
            <a:off x="905744" y="3257550"/>
            <a:ext cx="740664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4286645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822960" y="214953"/>
            <a:ext cx="7543800" cy="1088068"/>
          </a:xfrm>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822959" y="1384301"/>
            <a:ext cx="3703320" cy="301752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663440" y="1384301"/>
            <a:ext cx="3703320" cy="301752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lvl1pPr>
              <a:defRPr/>
            </a:lvl1pPr>
          </a:lstStyle>
          <a:p>
            <a:fld id="{8B34014B-0889-4226-8623-258686FFF2BB}" type="datetime1">
              <a:rPr lang="en-US" smtClean="0"/>
              <a:pPr/>
              <a:t>1/1/2018</a:t>
            </a:fld>
            <a:endParaRPr lang="en-US" dirty="0"/>
          </a:p>
        </p:txBody>
      </p:sp>
      <p:sp>
        <p:nvSpPr>
          <p:cNvPr id="6" name="Footer Placeholder 5"/>
          <p:cNvSpPr>
            <a:spLocks noGrp="1"/>
          </p:cNvSpPr>
          <p:nvPr>
            <p:ph type="ftr" sz="quarter" idx="11"/>
          </p:nvPr>
        </p:nvSpPr>
        <p:spPr/>
        <p:txBody>
          <a:bodyPr/>
          <a:lstStyle>
            <a:lvl1pPr>
              <a:defRPr/>
            </a:lvl1pPr>
          </a:lstStyle>
          <a:p>
            <a:endParaRPr lang="en-US" dirty="0"/>
          </a:p>
        </p:txBody>
      </p:sp>
      <p:sp>
        <p:nvSpPr>
          <p:cNvPr id="7" name="Slide Number Placeholder 6"/>
          <p:cNvSpPr>
            <a:spLocks noGrp="1"/>
          </p:cNvSpPr>
          <p:nvPr>
            <p:ph type="sldNum" sz="quarter" idx="12"/>
          </p:nvPr>
        </p:nvSpPr>
        <p:spPr/>
        <p:txBody>
          <a:bodyPr/>
          <a:lstStyle/>
          <a:p>
            <a:pPr lvl="0" algn="r">
              <a:spcBef>
                <a:spcPts val="0"/>
              </a:spcBef>
              <a:buNone/>
            </a:pPr>
            <a:fld id="{00000000-1234-1234-1234-123412341234}" type="slidenum">
              <a:rPr lang="en" sz="1000" smtClean="0">
                <a:solidFill>
                  <a:schemeClr val="dk2"/>
                </a:solidFill>
                <a:latin typeface="Playfair Display"/>
                <a:ea typeface="Playfair Display"/>
                <a:cs typeface="Playfair Display"/>
                <a:sym typeface="Playfair Display"/>
              </a:rPr>
              <a:t>‹#›</a:t>
            </a:fld>
            <a:endParaRPr lang="en" sz="1000">
              <a:solidFill>
                <a:schemeClr val="dk2"/>
              </a:solidFill>
              <a:latin typeface="Playfair Display"/>
              <a:ea typeface="Playfair Display"/>
              <a:cs typeface="Playfair Display"/>
              <a:sym typeface="Playfair Display"/>
            </a:endParaRPr>
          </a:p>
        </p:txBody>
      </p:sp>
    </p:spTree>
    <p:extLst>
      <p:ext uri="{BB962C8B-B14F-4D97-AF65-F5344CB8AC3E}">
        <p14:creationId xmlns:p14="http://schemas.microsoft.com/office/powerpoint/2010/main" val="177406986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822960" y="214953"/>
            <a:ext cx="7543800" cy="1088068"/>
          </a:xfrm>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822960" y="1384539"/>
            <a:ext cx="3703320" cy="552212"/>
          </a:xfrm>
        </p:spPr>
        <p:txBody>
          <a:bodyPr lIns="91440" rIns="91440" anchor="ctr">
            <a:normAutofit/>
          </a:bodyPr>
          <a:lstStyle>
            <a:lvl1pPr marL="0" indent="0">
              <a:buNone/>
              <a:defRPr sz="1500" b="0" cap="all" baseline="0">
                <a:solidFill>
                  <a:schemeClr val="tx2"/>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smtClean="0"/>
              <a:t>Click to edit Master text styles</a:t>
            </a:r>
          </a:p>
        </p:txBody>
      </p:sp>
      <p:sp>
        <p:nvSpPr>
          <p:cNvPr id="4" name="Content Placeholder 3"/>
          <p:cNvSpPr>
            <a:spLocks noGrp="1"/>
          </p:cNvSpPr>
          <p:nvPr>
            <p:ph sz="half" idx="2"/>
          </p:nvPr>
        </p:nvSpPr>
        <p:spPr>
          <a:xfrm>
            <a:off x="822960" y="1936751"/>
            <a:ext cx="3703320" cy="253365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663440" y="1384539"/>
            <a:ext cx="3703320" cy="552212"/>
          </a:xfrm>
        </p:spPr>
        <p:txBody>
          <a:bodyPr lIns="91440" rIns="91440" anchor="ctr">
            <a:normAutofit/>
          </a:bodyPr>
          <a:lstStyle>
            <a:lvl1pPr marL="0" indent="0">
              <a:buNone/>
              <a:defRPr sz="1500" b="0" cap="all" baseline="0">
                <a:solidFill>
                  <a:schemeClr val="tx2"/>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smtClean="0"/>
              <a:t>Click to edit Master text styles</a:t>
            </a:r>
          </a:p>
        </p:txBody>
      </p:sp>
      <p:sp>
        <p:nvSpPr>
          <p:cNvPr id="6" name="Content Placeholder 5"/>
          <p:cNvSpPr>
            <a:spLocks noGrp="1"/>
          </p:cNvSpPr>
          <p:nvPr>
            <p:ph sz="quarter" idx="4"/>
          </p:nvPr>
        </p:nvSpPr>
        <p:spPr>
          <a:xfrm>
            <a:off x="4663440" y="1936751"/>
            <a:ext cx="3703320" cy="253365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lvl1pPr>
              <a:defRPr/>
            </a:lvl1pPr>
          </a:lstStyle>
          <a:p>
            <a:fld id="{2328A48D-8EA8-4B9A-A69C-2D3EFB357BB0}" type="datetime1">
              <a:rPr lang="en-US" smtClean="0"/>
              <a:pPr/>
              <a:t>1/1/2018</a:t>
            </a:fld>
            <a:endParaRPr lang="en-US" dirty="0"/>
          </a:p>
        </p:txBody>
      </p:sp>
      <p:sp>
        <p:nvSpPr>
          <p:cNvPr id="8" name="Footer Placeholder 7"/>
          <p:cNvSpPr>
            <a:spLocks noGrp="1"/>
          </p:cNvSpPr>
          <p:nvPr>
            <p:ph type="ftr" sz="quarter" idx="11"/>
          </p:nvPr>
        </p:nvSpPr>
        <p:spPr/>
        <p:txBody>
          <a:bodyPr/>
          <a:lstStyle>
            <a:lvl1pPr>
              <a:defRPr/>
            </a:lvl1pPr>
          </a:lstStyle>
          <a:p>
            <a:endParaRPr lang="en-US" dirty="0"/>
          </a:p>
        </p:txBody>
      </p:sp>
      <p:sp>
        <p:nvSpPr>
          <p:cNvPr id="9" name="Slide Number Placeholder 8"/>
          <p:cNvSpPr>
            <a:spLocks noGrp="1"/>
          </p:cNvSpPr>
          <p:nvPr>
            <p:ph type="sldNum" sz="quarter" idx="12"/>
          </p:nvPr>
        </p:nvSpPr>
        <p:spPr/>
        <p:txBody>
          <a:bodyPr/>
          <a:lstStyle/>
          <a:p>
            <a:pPr lvl="0" algn="r">
              <a:spcBef>
                <a:spcPts val="0"/>
              </a:spcBef>
              <a:buNone/>
            </a:pPr>
            <a:fld id="{00000000-1234-1234-1234-123412341234}" type="slidenum">
              <a:rPr lang="en" sz="1000" smtClean="0">
                <a:solidFill>
                  <a:schemeClr val="dk2"/>
                </a:solidFill>
                <a:latin typeface="Playfair Display"/>
                <a:ea typeface="Playfair Display"/>
                <a:cs typeface="Playfair Display"/>
                <a:sym typeface="Playfair Display"/>
              </a:rPr>
              <a:t>‹#›</a:t>
            </a:fld>
            <a:endParaRPr lang="en" sz="1000">
              <a:solidFill>
                <a:schemeClr val="dk2"/>
              </a:solidFill>
              <a:latin typeface="Playfair Display"/>
              <a:ea typeface="Playfair Display"/>
              <a:cs typeface="Playfair Display"/>
              <a:sym typeface="Playfair Display"/>
            </a:endParaRPr>
          </a:p>
        </p:txBody>
      </p:sp>
    </p:spTree>
    <p:extLst>
      <p:ext uri="{BB962C8B-B14F-4D97-AF65-F5344CB8AC3E}">
        <p14:creationId xmlns:p14="http://schemas.microsoft.com/office/powerpoint/2010/main" val="294741945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lvl1pPr>
              <a:defRPr/>
            </a:lvl1pPr>
          </a:lstStyle>
          <a:p>
            <a:fld id="{F3931DCF-9E64-4F34-A8BB-C21EA45956C9}" type="datetime1">
              <a:rPr lang="en-US" smtClean="0"/>
              <a:pPr/>
              <a:t>1/1/2018</a:t>
            </a:fld>
            <a:endParaRPr lang="en-US" dirty="0"/>
          </a:p>
        </p:txBody>
      </p:sp>
      <p:sp>
        <p:nvSpPr>
          <p:cNvPr id="4" name="Footer Placeholder 3"/>
          <p:cNvSpPr>
            <a:spLocks noGrp="1"/>
          </p:cNvSpPr>
          <p:nvPr>
            <p:ph type="ftr" sz="quarter" idx="11"/>
          </p:nvPr>
        </p:nvSpPr>
        <p:spPr/>
        <p:txBody>
          <a:bodyPr/>
          <a:lstStyle>
            <a:lvl1pPr>
              <a:defRPr/>
            </a:lvl1pPr>
          </a:lstStyle>
          <a:p>
            <a:endParaRPr lang="en-US" dirty="0"/>
          </a:p>
        </p:txBody>
      </p:sp>
      <p:sp>
        <p:nvSpPr>
          <p:cNvPr id="5" name="Slide Number Placeholder 4"/>
          <p:cNvSpPr>
            <a:spLocks noGrp="1"/>
          </p:cNvSpPr>
          <p:nvPr>
            <p:ph type="sldNum" sz="quarter" idx="12"/>
          </p:nvPr>
        </p:nvSpPr>
        <p:spPr/>
        <p:txBody>
          <a:bodyPr/>
          <a:lstStyle/>
          <a:p>
            <a:pPr lvl="0" algn="r">
              <a:spcBef>
                <a:spcPts val="0"/>
              </a:spcBef>
              <a:buNone/>
            </a:pPr>
            <a:fld id="{00000000-1234-1234-1234-123412341234}" type="slidenum">
              <a:rPr lang="en" sz="1000" smtClean="0">
                <a:solidFill>
                  <a:schemeClr val="dk2"/>
                </a:solidFill>
                <a:latin typeface="Playfair Display"/>
                <a:ea typeface="Playfair Display"/>
                <a:cs typeface="Playfair Display"/>
                <a:sym typeface="Playfair Display"/>
              </a:rPr>
              <a:t>‹#›</a:t>
            </a:fld>
            <a:endParaRPr lang="en" sz="1000">
              <a:solidFill>
                <a:schemeClr val="dk2"/>
              </a:solidFill>
              <a:latin typeface="Playfair Display"/>
              <a:ea typeface="Playfair Display"/>
              <a:cs typeface="Playfair Display"/>
              <a:sym typeface="Playfair Display"/>
            </a:endParaRPr>
          </a:p>
        </p:txBody>
      </p:sp>
    </p:spTree>
    <p:extLst>
      <p:ext uri="{BB962C8B-B14F-4D97-AF65-F5344CB8AC3E}">
        <p14:creationId xmlns:p14="http://schemas.microsoft.com/office/powerpoint/2010/main" val="66273483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2382" y="4800600"/>
            <a:ext cx="9141619" cy="3429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2" y="4750737"/>
            <a:ext cx="9141619" cy="4800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lvl1pPr>
              <a:defRPr/>
            </a:lvl1pPr>
          </a:lstStyle>
          <a:p>
            <a:fld id="{0440A0FB-ABC6-4971-8B38-BEC48D0FB354}" type="datetime1">
              <a:rPr lang="en-US" smtClean="0"/>
              <a:pPr/>
              <a:t>1/1/2018</a:t>
            </a:fld>
            <a:endParaRPr lang="en-US" dirty="0"/>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dirty="0"/>
          </a:p>
        </p:txBody>
      </p:sp>
      <p:sp>
        <p:nvSpPr>
          <p:cNvPr id="9" name="Slide Number Placeholder 8"/>
          <p:cNvSpPr>
            <a:spLocks noGrp="1"/>
          </p:cNvSpPr>
          <p:nvPr>
            <p:ph type="sldNum" sz="quarter" idx="12"/>
          </p:nvPr>
        </p:nvSpPr>
        <p:spPr/>
        <p:txBody>
          <a:bodyPr/>
          <a:lstStyle>
            <a:lvl1pPr>
              <a:defRPr>
                <a:latin typeface="Times New Roman" panose="02020603050405020304" pitchFamily="18" charset="0"/>
                <a:cs typeface="Times New Roman" panose="02020603050405020304" pitchFamily="18" charset="0"/>
              </a:defRPr>
            </a:lvl1pPr>
          </a:lstStyle>
          <a:p>
            <a:fld id="{00000000-1234-1234-1234-123412341234}" type="slidenum">
              <a:rPr lang="en" smtClean="0"/>
              <a:pPr/>
              <a:t>‹#›</a:t>
            </a:fld>
            <a:endParaRPr lang="en" dirty="0"/>
          </a:p>
        </p:txBody>
      </p:sp>
    </p:spTree>
    <p:extLst>
      <p:ext uri="{BB962C8B-B14F-4D97-AF65-F5344CB8AC3E}">
        <p14:creationId xmlns:p14="http://schemas.microsoft.com/office/powerpoint/2010/main" val="119566302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3" y="0"/>
            <a:ext cx="3038093" cy="51435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3030053" y="0"/>
            <a:ext cx="48006" cy="51435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342900" y="445769"/>
            <a:ext cx="2400300" cy="1714500"/>
          </a:xfrm>
        </p:spPr>
        <p:txBody>
          <a:bodyPr anchor="b">
            <a:normAutofit/>
          </a:bodyPr>
          <a:lstStyle>
            <a:lvl1pPr>
              <a:defRPr sz="2700" b="0">
                <a:solidFill>
                  <a:srgbClr val="FFFFFF"/>
                </a:solidFill>
              </a:defRPr>
            </a:lvl1pPr>
          </a:lstStyle>
          <a:p>
            <a:r>
              <a:rPr lang="en-US" smtClean="0"/>
              <a:t>Click to edit Master title style</a:t>
            </a:r>
            <a:endParaRPr lang="en-US" dirty="0"/>
          </a:p>
        </p:txBody>
      </p:sp>
      <p:sp>
        <p:nvSpPr>
          <p:cNvPr id="3" name="Content Placeholder 2"/>
          <p:cNvSpPr>
            <a:spLocks noGrp="1"/>
          </p:cNvSpPr>
          <p:nvPr>
            <p:ph idx="1"/>
          </p:nvPr>
        </p:nvSpPr>
        <p:spPr>
          <a:xfrm>
            <a:off x="3600450" y="548640"/>
            <a:ext cx="4869180" cy="394335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342900" y="2194560"/>
            <a:ext cx="2400300" cy="2534343"/>
          </a:xfrm>
        </p:spPr>
        <p:txBody>
          <a:bodyPr lIns="91440" rIns="91440">
            <a:normAutofit/>
          </a:bodyPr>
          <a:lstStyle>
            <a:lvl1pPr marL="0" indent="0">
              <a:buNone/>
              <a:defRPr sz="1125">
                <a:solidFill>
                  <a:srgbClr val="FFFFFF"/>
                </a:solidFill>
              </a:defRPr>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smtClean="0"/>
              <a:t>Click to edit Master text styles</a:t>
            </a:r>
          </a:p>
        </p:txBody>
      </p:sp>
      <p:sp>
        <p:nvSpPr>
          <p:cNvPr id="5" name="Date Placeholder 4"/>
          <p:cNvSpPr>
            <a:spLocks noGrp="1"/>
          </p:cNvSpPr>
          <p:nvPr>
            <p:ph type="dt" sz="half" idx="10"/>
          </p:nvPr>
        </p:nvSpPr>
        <p:spPr>
          <a:xfrm>
            <a:off x="349134" y="4844839"/>
            <a:ext cx="1963883" cy="273844"/>
          </a:xfrm>
        </p:spPr>
        <p:txBody>
          <a:bodyPr/>
          <a:lstStyle>
            <a:lvl1pPr algn="l">
              <a:defRPr/>
            </a:lvl1pPr>
          </a:lstStyle>
          <a:p>
            <a:fld id="{9D72948E-C126-424E-BD5C-880B49924FD9}" type="datetime1">
              <a:rPr lang="en-US" smtClean="0"/>
              <a:pPr/>
              <a:t>1/1/2018</a:t>
            </a:fld>
            <a:endParaRPr lang="en-US" dirty="0"/>
          </a:p>
        </p:txBody>
      </p:sp>
      <p:sp>
        <p:nvSpPr>
          <p:cNvPr id="6" name="Footer Placeholder 5"/>
          <p:cNvSpPr>
            <a:spLocks noGrp="1"/>
          </p:cNvSpPr>
          <p:nvPr>
            <p:ph type="ftr" sz="quarter" idx="11"/>
          </p:nvPr>
        </p:nvSpPr>
        <p:spPr>
          <a:xfrm>
            <a:off x="3600450" y="4844839"/>
            <a:ext cx="3486150" cy="273844"/>
          </a:xfrm>
        </p:spPr>
        <p:txBody>
          <a:bodyPr/>
          <a:lstStyle>
            <a:lvl1pPr algn="l">
              <a:defRPr>
                <a:solidFill>
                  <a:schemeClr val="tx2"/>
                </a:solidFill>
              </a:defRPr>
            </a:lvl1pPr>
          </a:lstStyle>
          <a:p>
            <a:endParaRPr lang="en-US" dirty="0"/>
          </a:p>
        </p:txBody>
      </p:sp>
      <p:sp>
        <p:nvSpPr>
          <p:cNvPr id="7" name="Slide Number Placeholder 6"/>
          <p:cNvSpPr>
            <a:spLocks noGrp="1"/>
          </p:cNvSpPr>
          <p:nvPr>
            <p:ph type="sldNum" sz="quarter" idx="12"/>
          </p:nvPr>
        </p:nvSpPr>
        <p:spPr/>
        <p:txBody>
          <a:bodyPr/>
          <a:lstStyle>
            <a:lvl1pPr>
              <a:defRPr>
                <a:solidFill>
                  <a:schemeClr val="tx2"/>
                </a:solidFill>
              </a:defRPr>
            </a:lvl1pPr>
          </a:lstStyle>
          <a:p>
            <a:pPr lvl="0" algn="r">
              <a:spcBef>
                <a:spcPts val="0"/>
              </a:spcBef>
              <a:buNone/>
            </a:pPr>
            <a:fld id="{00000000-1234-1234-1234-123412341234}" type="slidenum">
              <a:rPr lang="en" sz="1000" smtClean="0">
                <a:solidFill>
                  <a:schemeClr val="dk2"/>
                </a:solidFill>
                <a:latin typeface="Playfair Display"/>
                <a:ea typeface="Playfair Display"/>
                <a:cs typeface="Playfair Display"/>
                <a:sym typeface="Playfair Display"/>
              </a:rPr>
              <a:t>‹#›</a:t>
            </a:fld>
            <a:endParaRPr lang="en" sz="1000">
              <a:solidFill>
                <a:schemeClr val="dk2"/>
              </a:solidFill>
              <a:latin typeface="Playfair Display"/>
              <a:ea typeface="Playfair Display"/>
              <a:cs typeface="Playfair Display"/>
              <a:sym typeface="Playfair Display"/>
            </a:endParaRPr>
          </a:p>
        </p:txBody>
      </p:sp>
    </p:spTree>
    <p:extLst>
      <p:ext uri="{BB962C8B-B14F-4D97-AF65-F5344CB8AC3E}">
        <p14:creationId xmlns:p14="http://schemas.microsoft.com/office/powerpoint/2010/main" val="263263566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3714750"/>
            <a:ext cx="9141619" cy="142875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2" y="3686307"/>
            <a:ext cx="9141619" cy="4800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22960" y="3806190"/>
            <a:ext cx="7584948" cy="617220"/>
          </a:xfrm>
        </p:spPr>
        <p:txBody>
          <a:bodyPr lIns="91440" tIns="0" rIns="91440" bIns="0" anchor="b">
            <a:noAutofit/>
          </a:bodyPr>
          <a:lstStyle>
            <a:lvl1pPr>
              <a:defRPr sz="2700" b="0">
                <a:solidFill>
                  <a:srgbClr val="FFFFFF"/>
                </a:solidFill>
              </a:defRPr>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12" y="0"/>
            <a:ext cx="9143989" cy="3686307"/>
          </a:xfrm>
          <a:blipFill>
            <a:blip r:embed="rId2"/>
            <a:stretch>
              <a:fillRect/>
            </a:stretch>
          </a:blipFill>
        </p:spPr>
        <p:txBody>
          <a:bodyPr lIns="457200" tIns="457200" anchor="t"/>
          <a:lstStyle>
            <a:lvl1pPr marL="0" indent="0">
              <a:buNone/>
              <a:defRPr sz="2400">
                <a:solidFill>
                  <a:schemeClr val="bg1"/>
                </a:solidFill>
              </a:defRPr>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smtClean="0"/>
              <a:t>Click icon to add picture</a:t>
            </a:r>
            <a:endParaRPr lang="en-US" dirty="0"/>
          </a:p>
        </p:txBody>
      </p:sp>
      <p:sp>
        <p:nvSpPr>
          <p:cNvPr id="4" name="Text Placeholder 3"/>
          <p:cNvSpPr>
            <a:spLocks noGrp="1"/>
          </p:cNvSpPr>
          <p:nvPr>
            <p:ph type="body" sz="half" idx="2"/>
          </p:nvPr>
        </p:nvSpPr>
        <p:spPr>
          <a:xfrm>
            <a:off x="822960" y="4430267"/>
            <a:ext cx="7584948" cy="445770"/>
          </a:xfrm>
        </p:spPr>
        <p:txBody>
          <a:bodyPr lIns="91440" tIns="0" rIns="91440" bIns="0">
            <a:normAutofit/>
          </a:bodyPr>
          <a:lstStyle>
            <a:lvl1pPr marL="0" indent="0">
              <a:spcBef>
                <a:spcPts val="0"/>
              </a:spcBef>
              <a:spcAft>
                <a:spcPts val="450"/>
              </a:spcAft>
              <a:buNone/>
              <a:defRPr sz="1125">
                <a:solidFill>
                  <a:srgbClr val="FFFFFF"/>
                </a:solidFill>
              </a:defRPr>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smtClean="0"/>
              <a:t>Click to edit Master text styles</a:t>
            </a:r>
          </a:p>
        </p:txBody>
      </p:sp>
      <p:sp>
        <p:nvSpPr>
          <p:cNvPr id="5" name="Date Placeholder 4"/>
          <p:cNvSpPr>
            <a:spLocks noGrp="1"/>
          </p:cNvSpPr>
          <p:nvPr>
            <p:ph type="dt" sz="half" idx="10"/>
          </p:nvPr>
        </p:nvSpPr>
        <p:spPr/>
        <p:txBody>
          <a:bodyPr/>
          <a:lstStyle>
            <a:lvl1pPr>
              <a:defRPr/>
            </a:lvl1pPr>
          </a:lstStyle>
          <a:p>
            <a:fld id="{4954BDCA-E41D-49F5-98B2-83589C598C95}" type="datetime1">
              <a:rPr lang="en-US" smtClean="0"/>
              <a:pPr/>
              <a:t>1/1/2018</a:t>
            </a:fld>
            <a:endParaRPr lang="en-US" dirty="0"/>
          </a:p>
        </p:txBody>
      </p:sp>
      <p:sp>
        <p:nvSpPr>
          <p:cNvPr id="6" name="Footer Placeholder 5"/>
          <p:cNvSpPr>
            <a:spLocks noGrp="1"/>
          </p:cNvSpPr>
          <p:nvPr>
            <p:ph type="ftr" sz="quarter" idx="11"/>
          </p:nvPr>
        </p:nvSpPr>
        <p:spPr/>
        <p:txBody>
          <a:bodyPr/>
          <a:lstStyle>
            <a:lvl1pPr>
              <a:defRPr/>
            </a:lvl1pPr>
          </a:lstStyle>
          <a:p>
            <a:endParaRPr lang="en-US" dirty="0"/>
          </a:p>
        </p:txBody>
      </p:sp>
      <p:sp>
        <p:nvSpPr>
          <p:cNvPr id="7" name="Slide Number Placeholder 6"/>
          <p:cNvSpPr>
            <a:spLocks noGrp="1"/>
          </p:cNvSpPr>
          <p:nvPr>
            <p:ph type="sldNum" sz="quarter" idx="12"/>
          </p:nvPr>
        </p:nvSpPr>
        <p:spPr/>
        <p:txBody>
          <a:bodyPr/>
          <a:lstStyle/>
          <a:p>
            <a:pPr lvl="0" algn="r">
              <a:spcBef>
                <a:spcPts val="0"/>
              </a:spcBef>
              <a:buNone/>
            </a:pPr>
            <a:fld id="{00000000-1234-1234-1234-123412341234}" type="slidenum">
              <a:rPr lang="en" sz="1000" smtClean="0">
                <a:solidFill>
                  <a:schemeClr val="dk2"/>
                </a:solidFill>
                <a:latin typeface="Playfair Display"/>
                <a:ea typeface="Playfair Display"/>
                <a:cs typeface="Playfair Display"/>
                <a:sym typeface="Playfair Display"/>
              </a:rPr>
              <a:t>‹#›</a:t>
            </a:fld>
            <a:endParaRPr lang="en" sz="1000">
              <a:solidFill>
                <a:schemeClr val="dk2"/>
              </a:solidFill>
              <a:latin typeface="Playfair Display"/>
              <a:ea typeface="Playfair Display"/>
              <a:cs typeface="Playfair Display"/>
              <a:sym typeface="Playfair Display"/>
            </a:endParaRPr>
          </a:p>
        </p:txBody>
      </p:sp>
    </p:spTree>
    <p:extLst>
      <p:ext uri="{BB962C8B-B14F-4D97-AF65-F5344CB8AC3E}">
        <p14:creationId xmlns:p14="http://schemas.microsoft.com/office/powerpoint/2010/main" val="164818823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lvl1pPr>
              <a:defRPr/>
            </a:lvl1pPr>
          </a:lstStyle>
          <a:p>
            <a:fld id="{6EA36554-F4D1-4D46-880A-8B6249205B38}" type="datetime1">
              <a:rPr lang="en-US" smtClean="0"/>
              <a:pPr/>
              <a:t>1/1/2018</a:t>
            </a:fld>
            <a:endParaRPr lang="en-US" dirty="0"/>
          </a:p>
        </p:txBody>
      </p:sp>
      <p:sp>
        <p:nvSpPr>
          <p:cNvPr id="5" name="Footer Placeholder 4"/>
          <p:cNvSpPr>
            <a:spLocks noGrp="1"/>
          </p:cNvSpPr>
          <p:nvPr>
            <p:ph type="ftr" sz="quarter" idx="11"/>
          </p:nvPr>
        </p:nvSpPr>
        <p:spPr/>
        <p:txBody>
          <a:bodyPr/>
          <a:lstStyle>
            <a:lvl1pPr>
              <a:defRPr/>
            </a:lvl1pPr>
          </a:lstStyle>
          <a:p>
            <a:endParaRPr lang="en-US" dirty="0"/>
          </a:p>
        </p:txBody>
      </p:sp>
      <p:sp>
        <p:nvSpPr>
          <p:cNvPr id="6" name="Slide Number Placeholder 5"/>
          <p:cNvSpPr>
            <a:spLocks noGrp="1"/>
          </p:cNvSpPr>
          <p:nvPr>
            <p:ph type="sldNum" sz="quarter" idx="12"/>
          </p:nvPr>
        </p:nvSpPr>
        <p:spPr/>
        <p:txBody>
          <a:bodyPr/>
          <a:lstStyle/>
          <a:p>
            <a:pPr lvl="0" algn="r">
              <a:spcBef>
                <a:spcPts val="0"/>
              </a:spcBef>
              <a:buNone/>
            </a:pPr>
            <a:fld id="{00000000-1234-1234-1234-123412341234}" type="slidenum">
              <a:rPr lang="en" sz="1000" smtClean="0">
                <a:solidFill>
                  <a:schemeClr val="dk2"/>
                </a:solidFill>
                <a:latin typeface="Playfair Display"/>
                <a:ea typeface="Playfair Display"/>
                <a:cs typeface="Playfair Display"/>
                <a:sym typeface="Playfair Display"/>
              </a:rPr>
              <a:t>‹#›</a:t>
            </a:fld>
            <a:endParaRPr lang="en" sz="1000">
              <a:solidFill>
                <a:schemeClr val="dk2"/>
              </a:solidFill>
              <a:latin typeface="Playfair Display"/>
              <a:ea typeface="Playfair Display"/>
              <a:cs typeface="Playfair Display"/>
              <a:sym typeface="Playfair Display"/>
            </a:endParaRPr>
          </a:p>
        </p:txBody>
      </p:sp>
    </p:spTree>
    <p:extLst>
      <p:ext uri="{BB962C8B-B14F-4D97-AF65-F5344CB8AC3E}">
        <p14:creationId xmlns:p14="http://schemas.microsoft.com/office/powerpoint/2010/main" val="125259287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2382" y="4800600"/>
            <a:ext cx="9141619" cy="3429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2" y="4750737"/>
            <a:ext cx="9141619" cy="4800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6543675" y="311084"/>
            <a:ext cx="1971675" cy="4318066"/>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628650" y="311083"/>
            <a:ext cx="5800725" cy="4318067"/>
          </a:xfrm>
        </p:spPr>
        <p:txBody>
          <a:bodyPr vert="eaVert" lIns="45720" tIns="0" rIns="45720" bIns="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lvl1pPr>
              <a:defRPr/>
            </a:lvl1pPr>
          </a:lstStyle>
          <a:p>
            <a:fld id="{C6311728-2876-42BD-AA58-31E618F19588}" type="datetime1">
              <a:rPr lang="en-US" smtClean="0"/>
              <a:pPr/>
              <a:t>1/1/2018</a:t>
            </a:fld>
            <a:endParaRPr lang="en-US" dirty="0"/>
          </a:p>
        </p:txBody>
      </p:sp>
      <p:sp>
        <p:nvSpPr>
          <p:cNvPr id="5" name="Footer Placeholder 4"/>
          <p:cNvSpPr>
            <a:spLocks noGrp="1"/>
          </p:cNvSpPr>
          <p:nvPr>
            <p:ph type="ftr" sz="quarter" idx="11"/>
          </p:nvPr>
        </p:nvSpPr>
        <p:spPr/>
        <p:txBody>
          <a:bodyPr/>
          <a:lstStyle>
            <a:lvl1pPr>
              <a:defRPr/>
            </a:lvl1pPr>
          </a:lstStyle>
          <a:p>
            <a:endParaRPr lang="en-US" dirty="0"/>
          </a:p>
        </p:txBody>
      </p:sp>
      <p:sp>
        <p:nvSpPr>
          <p:cNvPr id="6" name="Slide Number Placeholder 5"/>
          <p:cNvSpPr>
            <a:spLocks noGrp="1"/>
          </p:cNvSpPr>
          <p:nvPr>
            <p:ph type="sldNum" sz="quarter" idx="12"/>
          </p:nvPr>
        </p:nvSpPr>
        <p:spPr/>
        <p:txBody>
          <a:bodyPr/>
          <a:lstStyle/>
          <a:p>
            <a:pPr lvl="0" algn="r">
              <a:spcBef>
                <a:spcPts val="0"/>
              </a:spcBef>
              <a:buNone/>
            </a:pPr>
            <a:fld id="{00000000-1234-1234-1234-123412341234}" type="slidenum">
              <a:rPr lang="en" sz="1000" smtClean="0">
                <a:solidFill>
                  <a:schemeClr val="dk2"/>
                </a:solidFill>
                <a:latin typeface="Playfair Display"/>
                <a:ea typeface="Playfair Display"/>
                <a:cs typeface="Playfair Display"/>
                <a:sym typeface="Playfair Display"/>
              </a:rPr>
              <a:t>‹#›</a:t>
            </a:fld>
            <a:endParaRPr lang="en" sz="1000">
              <a:solidFill>
                <a:schemeClr val="dk2"/>
              </a:solidFill>
              <a:latin typeface="Playfair Display"/>
              <a:ea typeface="Playfair Display"/>
              <a:cs typeface="Playfair Display"/>
              <a:sym typeface="Playfair Display"/>
            </a:endParaRPr>
          </a:p>
        </p:txBody>
      </p:sp>
    </p:spTree>
    <p:extLst>
      <p:ext uri="{BB962C8B-B14F-4D97-AF65-F5344CB8AC3E}">
        <p14:creationId xmlns:p14="http://schemas.microsoft.com/office/powerpoint/2010/main" val="235644600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
  <p:cSld name="Title and body">
    <p:spTree>
      <p:nvGrpSpPr>
        <p:cNvPr id="1" name="Shape 19"/>
        <p:cNvGrpSpPr/>
        <p:nvPr/>
      </p:nvGrpSpPr>
      <p:grpSpPr>
        <a:xfrm>
          <a:off x="0" y="0"/>
          <a:ext cx="0" cy="0"/>
          <a:chOff x="0" y="0"/>
          <a:chExt cx="0" cy="0"/>
        </a:xfrm>
      </p:grpSpPr>
      <p:sp>
        <p:nvSpPr>
          <p:cNvPr id="20" name="Shape 20"/>
          <p:cNvSpPr txBox="1">
            <a:spLocks noGrp="1"/>
          </p:cNvSpPr>
          <p:nvPr>
            <p:ph type="title"/>
          </p:nvPr>
        </p:nvSpPr>
        <p:spPr>
          <a:xfrm>
            <a:off x="311700" y="445025"/>
            <a:ext cx="8520600" cy="572700"/>
          </a:xfrm>
          <a:prstGeom prst="rect">
            <a:avLst/>
          </a:prstGeom>
        </p:spPr>
        <p:txBody>
          <a:bodyPr wrap="square" lIns="91425" tIns="91425" rIns="91425" bIns="91425" anchor="t" anchorCtr="0"/>
          <a:lstStyle>
            <a:lvl1pPr lvl="0">
              <a:spcBef>
                <a:spcPts val="0"/>
              </a:spcBef>
              <a:defRPr/>
            </a:lvl1pPr>
            <a:lvl2pPr lvl="1">
              <a:spcBef>
                <a:spcPts val="0"/>
              </a:spcBef>
              <a:defRPr/>
            </a:lvl2pPr>
            <a:lvl3pPr lvl="2">
              <a:spcBef>
                <a:spcPts val="0"/>
              </a:spcBef>
              <a:defRPr/>
            </a:lvl3pPr>
            <a:lvl4pPr lvl="3">
              <a:spcBef>
                <a:spcPts val="0"/>
              </a:spcBef>
              <a:defRPr/>
            </a:lvl4pPr>
            <a:lvl5pPr lvl="4">
              <a:spcBef>
                <a:spcPts val="0"/>
              </a:spcBef>
              <a:defRPr/>
            </a:lvl5pPr>
            <a:lvl6pPr lvl="5">
              <a:spcBef>
                <a:spcPts val="0"/>
              </a:spcBef>
              <a:defRPr/>
            </a:lvl6pPr>
            <a:lvl7pPr lvl="6">
              <a:spcBef>
                <a:spcPts val="0"/>
              </a:spcBef>
              <a:defRPr/>
            </a:lvl7pPr>
            <a:lvl8pPr lvl="7">
              <a:spcBef>
                <a:spcPts val="0"/>
              </a:spcBef>
              <a:defRPr/>
            </a:lvl8pPr>
            <a:lvl9pPr lvl="8">
              <a:spcBef>
                <a:spcPts val="0"/>
              </a:spcBef>
              <a:defRPr/>
            </a:lvl9pPr>
          </a:lstStyle>
          <a:p>
            <a:endParaRPr/>
          </a:p>
        </p:txBody>
      </p:sp>
      <p:sp>
        <p:nvSpPr>
          <p:cNvPr id="21" name="Shape 21"/>
          <p:cNvSpPr txBox="1">
            <a:spLocks noGrp="1"/>
          </p:cNvSpPr>
          <p:nvPr>
            <p:ph type="body" idx="1"/>
          </p:nvPr>
        </p:nvSpPr>
        <p:spPr>
          <a:xfrm>
            <a:off x="311700" y="1234075"/>
            <a:ext cx="8520600" cy="3334800"/>
          </a:xfrm>
          <a:prstGeom prst="rect">
            <a:avLst/>
          </a:prstGeom>
        </p:spPr>
        <p:txBody>
          <a:bodyPr wrap="square" lIns="91425" tIns="91425" rIns="91425" bIns="91425" anchor="t" anchorCtr="0"/>
          <a:lstStyle>
            <a:lvl1pPr lvl="0">
              <a:spcBef>
                <a:spcPts val="0"/>
              </a:spcBef>
              <a:defRPr/>
            </a:lvl1pPr>
            <a:lvl2pPr lvl="1">
              <a:spcBef>
                <a:spcPts val="0"/>
              </a:spcBef>
              <a:defRPr/>
            </a:lvl2pPr>
            <a:lvl3pPr lvl="2">
              <a:spcBef>
                <a:spcPts val="0"/>
              </a:spcBef>
              <a:defRPr/>
            </a:lvl3pPr>
            <a:lvl4pPr lvl="3">
              <a:spcBef>
                <a:spcPts val="0"/>
              </a:spcBef>
              <a:defRPr/>
            </a:lvl4pPr>
            <a:lvl5pPr lvl="4">
              <a:spcBef>
                <a:spcPts val="0"/>
              </a:spcBef>
              <a:defRPr/>
            </a:lvl5pPr>
            <a:lvl6pPr lvl="5">
              <a:spcBef>
                <a:spcPts val="0"/>
              </a:spcBef>
              <a:defRPr/>
            </a:lvl6pPr>
            <a:lvl7pPr lvl="6">
              <a:spcBef>
                <a:spcPts val="0"/>
              </a:spcBef>
              <a:defRPr/>
            </a:lvl7pPr>
            <a:lvl8pPr lvl="7">
              <a:spcBef>
                <a:spcPts val="0"/>
              </a:spcBef>
              <a:defRPr/>
            </a:lvl8pPr>
            <a:lvl9pPr lvl="8">
              <a:spcBef>
                <a:spcPts val="0"/>
              </a:spcBef>
              <a:defRPr/>
            </a:lvl9pPr>
          </a:lstStyle>
          <a:p>
            <a:endParaRPr/>
          </a:p>
        </p:txBody>
      </p:sp>
      <p:sp>
        <p:nvSpPr>
          <p:cNvPr id="22" name="Shape 22"/>
          <p:cNvSpPr txBox="1">
            <a:spLocks noGrp="1"/>
          </p:cNvSpPr>
          <p:nvPr>
            <p:ph type="sldNum" idx="12"/>
          </p:nvPr>
        </p:nvSpPr>
        <p:spPr>
          <a:xfrm>
            <a:off x="8497999" y="4688759"/>
            <a:ext cx="548700" cy="393600"/>
          </a:xfrm>
          <a:prstGeom prst="rect">
            <a:avLst/>
          </a:prstGeom>
        </p:spPr>
        <p:txBody>
          <a:bodyPr wrap="square" lIns="91425" tIns="91425" rIns="91425" bIns="91425" anchor="ctr" anchorCtr="0">
            <a:noAutofit/>
          </a:bodyPr>
          <a:lstStyle>
            <a:lvl1pPr>
              <a:defRPr>
                <a:latin typeface="Times New Roman" panose="02020603050405020304" pitchFamily="18" charset="0"/>
                <a:cs typeface="Times New Roman" panose="02020603050405020304" pitchFamily="18" charset="0"/>
              </a:defRPr>
            </a:lvl1pPr>
          </a:lstStyle>
          <a:p>
            <a:fld id="{00000000-1234-1234-1234-123412341234}" type="slidenum">
              <a:rPr lang="en" smtClean="0"/>
              <a:pPr/>
              <a:t>‹#›</a:t>
            </a:fld>
            <a:endParaRPr lang="en" dirty="0"/>
          </a:p>
        </p:txBody>
      </p:sp>
    </p:spTree>
    <p:extLst>
      <p:ext uri="{BB962C8B-B14F-4D97-AF65-F5344CB8AC3E}">
        <p14:creationId xmlns:p14="http://schemas.microsoft.com/office/powerpoint/2010/main" val="96573787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secHead">
  <p:cSld name="1_Section header">
    <p:bg>
      <p:bgPr>
        <a:solidFill>
          <a:schemeClr val="accent5"/>
        </a:solidFill>
        <a:effectLst/>
      </p:bgPr>
    </p:bg>
    <p:spTree>
      <p:nvGrpSpPr>
        <p:cNvPr id="1" name="Shape 15"/>
        <p:cNvGrpSpPr/>
        <p:nvPr/>
      </p:nvGrpSpPr>
      <p:grpSpPr>
        <a:xfrm>
          <a:off x="0" y="0"/>
          <a:ext cx="0" cy="0"/>
          <a:chOff x="0" y="0"/>
          <a:chExt cx="0" cy="0"/>
        </a:xfrm>
      </p:grpSpPr>
      <p:sp>
        <p:nvSpPr>
          <p:cNvPr id="17" name="Shape 17"/>
          <p:cNvSpPr txBox="1">
            <a:spLocks noGrp="1"/>
          </p:cNvSpPr>
          <p:nvPr>
            <p:ph type="title"/>
          </p:nvPr>
        </p:nvSpPr>
        <p:spPr>
          <a:xfrm>
            <a:off x="344250" y="1403850"/>
            <a:ext cx="8455500" cy="2146800"/>
          </a:xfrm>
          <a:prstGeom prst="rect">
            <a:avLst/>
          </a:prstGeom>
          <a:solidFill>
            <a:srgbClr val="FFFFFF"/>
          </a:solidFill>
        </p:spPr>
        <p:txBody>
          <a:bodyPr wrap="square" lIns="91425" tIns="91425" rIns="91425" bIns="91425" anchor="ctr" anchorCtr="0"/>
          <a:lstStyle>
            <a:lvl1pPr lvl="0" algn="ctr">
              <a:spcBef>
                <a:spcPts val="0"/>
              </a:spcBef>
              <a:buSzPct val="100000"/>
              <a:buFont typeface="Playfair Display"/>
              <a:defRPr sz="4800" b="1">
                <a:latin typeface="Playfair Display"/>
                <a:ea typeface="Playfair Display"/>
                <a:cs typeface="Playfair Display"/>
                <a:sym typeface="Playfair Display"/>
              </a:defRPr>
            </a:lvl1pPr>
            <a:lvl2pPr lvl="1" algn="ctr">
              <a:spcBef>
                <a:spcPts val="0"/>
              </a:spcBef>
              <a:buSzPct val="100000"/>
              <a:buFont typeface="Playfair Display"/>
              <a:defRPr sz="4800" b="1">
                <a:latin typeface="Playfair Display"/>
                <a:ea typeface="Playfair Display"/>
                <a:cs typeface="Playfair Display"/>
                <a:sym typeface="Playfair Display"/>
              </a:defRPr>
            </a:lvl2pPr>
            <a:lvl3pPr lvl="2" algn="ctr">
              <a:spcBef>
                <a:spcPts val="0"/>
              </a:spcBef>
              <a:buSzPct val="100000"/>
              <a:buFont typeface="Playfair Display"/>
              <a:defRPr sz="4800" b="1">
                <a:latin typeface="Playfair Display"/>
                <a:ea typeface="Playfair Display"/>
                <a:cs typeface="Playfair Display"/>
                <a:sym typeface="Playfair Display"/>
              </a:defRPr>
            </a:lvl3pPr>
            <a:lvl4pPr lvl="3" algn="ctr">
              <a:spcBef>
                <a:spcPts val="0"/>
              </a:spcBef>
              <a:buSzPct val="100000"/>
              <a:buFont typeface="Playfair Display"/>
              <a:defRPr sz="4800" b="1">
                <a:latin typeface="Playfair Display"/>
                <a:ea typeface="Playfair Display"/>
                <a:cs typeface="Playfair Display"/>
                <a:sym typeface="Playfair Display"/>
              </a:defRPr>
            </a:lvl4pPr>
            <a:lvl5pPr lvl="4" algn="ctr">
              <a:spcBef>
                <a:spcPts val="0"/>
              </a:spcBef>
              <a:buSzPct val="100000"/>
              <a:buFont typeface="Playfair Display"/>
              <a:defRPr sz="4800" b="1">
                <a:latin typeface="Playfair Display"/>
                <a:ea typeface="Playfair Display"/>
                <a:cs typeface="Playfair Display"/>
                <a:sym typeface="Playfair Display"/>
              </a:defRPr>
            </a:lvl5pPr>
            <a:lvl6pPr lvl="5" algn="ctr">
              <a:spcBef>
                <a:spcPts val="0"/>
              </a:spcBef>
              <a:buSzPct val="100000"/>
              <a:buFont typeface="Playfair Display"/>
              <a:defRPr sz="4800" b="1">
                <a:latin typeface="Playfair Display"/>
                <a:ea typeface="Playfair Display"/>
                <a:cs typeface="Playfair Display"/>
                <a:sym typeface="Playfair Display"/>
              </a:defRPr>
            </a:lvl6pPr>
            <a:lvl7pPr lvl="6" algn="ctr">
              <a:spcBef>
                <a:spcPts val="0"/>
              </a:spcBef>
              <a:buSzPct val="100000"/>
              <a:buFont typeface="Playfair Display"/>
              <a:defRPr sz="4800" b="1">
                <a:latin typeface="Playfair Display"/>
                <a:ea typeface="Playfair Display"/>
                <a:cs typeface="Playfair Display"/>
                <a:sym typeface="Playfair Display"/>
              </a:defRPr>
            </a:lvl7pPr>
            <a:lvl8pPr lvl="7" algn="ctr">
              <a:spcBef>
                <a:spcPts val="0"/>
              </a:spcBef>
              <a:buSzPct val="100000"/>
              <a:buFont typeface="Playfair Display"/>
              <a:defRPr sz="4800" b="1">
                <a:latin typeface="Playfair Display"/>
                <a:ea typeface="Playfair Display"/>
                <a:cs typeface="Playfair Display"/>
                <a:sym typeface="Playfair Display"/>
              </a:defRPr>
            </a:lvl8pPr>
            <a:lvl9pPr lvl="8" algn="ctr">
              <a:spcBef>
                <a:spcPts val="0"/>
              </a:spcBef>
              <a:buSzPct val="100000"/>
              <a:buFont typeface="Playfair Display"/>
              <a:defRPr sz="4800" b="1">
                <a:latin typeface="Playfair Display"/>
                <a:ea typeface="Playfair Display"/>
                <a:cs typeface="Playfair Display"/>
                <a:sym typeface="Playfair Display"/>
              </a:defRPr>
            </a:lvl9pPr>
          </a:lstStyle>
          <a:p>
            <a:endParaRPr/>
          </a:p>
        </p:txBody>
      </p:sp>
      <p:sp>
        <p:nvSpPr>
          <p:cNvPr id="18" name="Shape 18"/>
          <p:cNvSpPr txBox="1">
            <a:spLocks noGrp="1"/>
          </p:cNvSpPr>
          <p:nvPr>
            <p:ph type="sldNum" idx="12"/>
          </p:nvPr>
        </p:nvSpPr>
        <p:spPr>
          <a:xfrm>
            <a:off x="8497999" y="4688759"/>
            <a:ext cx="548700" cy="393600"/>
          </a:xfrm>
          <a:prstGeom prst="rect">
            <a:avLst/>
          </a:prstGeom>
        </p:spPr>
        <p:txBody>
          <a:bodyPr wrap="square" lIns="91425" tIns="91425" rIns="91425" bIns="91425" anchor="ctr" anchorCtr="0">
            <a:noAutofit/>
          </a:bodyPr>
          <a:lstStyle>
            <a:lvl1pPr>
              <a:defRPr>
                <a:latin typeface="Times New Roman" panose="02020603050405020304" pitchFamily="18" charset="0"/>
                <a:cs typeface="Times New Roman" panose="02020603050405020304" pitchFamily="18" charset="0"/>
              </a:defRPr>
            </a:lvl1pPr>
          </a:lstStyle>
          <a:p>
            <a:fld id="{00000000-1234-1234-1234-123412341234}" type="slidenum">
              <a:rPr lang="en" smtClean="0">
                <a:solidFill>
                  <a:schemeClr val="lt1"/>
                </a:solidFill>
              </a:rPr>
              <a:pPr/>
              <a:t>‹#›</a:t>
            </a:fld>
            <a:endParaRPr lang="en" dirty="0">
              <a:solidFill>
                <a:schemeClr val="lt1"/>
              </a:solidFill>
            </a:endParaRPr>
          </a:p>
        </p:txBody>
      </p:sp>
    </p:spTree>
    <p:extLst>
      <p:ext uri="{BB962C8B-B14F-4D97-AF65-F5344CB8AC3E}">
        <p14:creationId xmlns:p14="http://schemas.microsoft.com/office/powerpoint/2010/main" val="35788705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4800600"/>
            <a:ext cx="9144000" cy="3429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0" y="4750737"/>
            <a:ext cx="9144001" cy="4949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822960" y="214953"/>
            <a:ext cx="7543800" cy="1088068"/>
          </a:xfrm>
          <a:prstGeom prst="rect">
            <a:avLst/>
          </a:prstGeom>
        </p:spPr>
        <p:txBody>
          <a:bodyPr vert="horz" lIns="91440" tIns="45720" rIns="91440" bIns="45720" rtlCol="0" anchor="b">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822960" y="1384301"/>
            <a:ext cx="7543800" cy="3017520"/>
          </a:xfrm>
          <a:prstGeom prst="rect">
            <a:avLst/>
          </a:prstGeom>
        </p:spPr>
        <p:txBody>
          <a:bodyPr vert="horz" lIns="0" tIns="45720" rIns="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822961" y="4844839"/>
            <a:ext cx="1854203" cy="273844"/>
          </a:xfrm>
          <a:prstGeom prst="rect">
            <a:avLst/>
          </a:prstGeom>
        </p:spPr>
        <p:txBody>
          <a:bodyPr vert="horz" lIns="91440" tIns="45720" rIns="91440" bIns="45720" rtlCol="0" anchor="ctr"/>
          <a:lstStyle>
            <a:lvl1pPr algn="l">
              <a:defRPr sz="675">
                <a:solidFill>
                  <a:srgbClr val="FFFFFF"/>
                </a:solidFill>
                <a:latin typeface="Times New Roman" panose="02020603050405020304" pitchFamily="18" charset="0"/>
                <a:cs typeface="Times New Roman" panose="02020603050405020304" pitchFamily="18" charset="0"/>
              </a:defRPr>
            </a:lvl1pPr>
          </a:lstStyle>
          <a:p>
            <a:fld id="{19E0E432-5264-40B0-86A8-F1CA45838277}" type="datetime1">
              <a:rPr lang="en-US" smtClean="0"/>
              <a:pPr/>
              <a:t>1/1/2018</a:t>
            </a:fld>
            <a:endParaRPr lang="en-US" dirty="0"/>
          </a:p>
        </p:txBody>
      </p:sp>
      <p:sp>
        <p:nvSpPr>
          <p:cNvPr id="5" name="Footer Placeholder 4"/>
          <p:cNvSpPr>
            <a:spLocks noGrp="1"/>
          </p:cNvSpPr>
          <p:nvPr>
            <p:ph type="ftr" sz="quarter" idx="3"/>
          </p:nvPr>
        </p:nvSpPr>
        <p:spPr>
          <a:xfrm>
            <a:off x="2764639" y="4844839"/>
            <a:ext cx="3617103" cy="273844"/>
          </a:xfrm>
          <a:prstGeom prst="rect">
            <a:avLst/>
          </a:prstGeom>
        </p:spPr>
        <p:txBody>
          <a:bodyPr vert="horz" lIns="91440" tIns="45720" rIns="91440" bIns="45720" rtlCol="0" anchor="ctr"/>
          <a:lstStyle>
            <a:lvl1pPr algn="ctr">
              <a:defRPr sz="675" cap="all" baseline="0">
                <a:solidFill>
                  <a:srgbClr val="FFFFFF"/>
                </a:solidFill>
                <a:latin typeface="Times New Roman" panose="02020603050405020304" pitchFamily="18" charset="0"/>
                <a:cs typeface="Times New Roman" panose="02020603050405020304" pitchFamily="18" charset="0"/>
              </a:defRPr>
            </a:lvl1pPr>
          </a:lstStyle>
          <a:p>
            <a:endParaRPr lang="en-US" dirty="0"/>
          </a:p>
        </p:txBody>
      </p:sp>
      <p:sp>
        <p:nvSpPr>
          <p:cNvPr id="6" name="Slide Number Placeholder 5"/>
          <p:cNvSpPr>
            <a:spLocks noGrp="1"/>
          </p:cNvSpPr>
          <p:nvPr>
            <p:ph type="sldNum" sz="quarter" idx="4"/>
          </p:nvPr>
        </p:nvSpPr>
        <p:spPr>
          <a:xfrm>
            <a:off x="7425344" y="4844839"/>
            <a:ext cx="984019" cy="273844"/>
          </a:xfrm>
          <a:prstGeom prst="rect">
            <a:avLst/>
          </a:prstGeom>
        </p:spPr>
        <p:txBody>
          <a:bodyPr vert="horz" lIns="91440" tIns="45720" rIns="91440" bIns="45720" rtlCol="0" anchor="ctr"/>
          <a:lstStyle>
            <a:lvl1pPr algn="r">
              <a:defRPr sz="788">
                <a:solidFill>
                  <a:srgbClr val="FFFFFF"/>
                </a:solidFill>
              </a:defRPr>
            </a:lvl1pPr>
          </a:lstStyle>
          <a:p>
            <a:pPr lvl="0" algn="r">
              <a:spcBef>
                <a:spcPts val="0"/>
              </a:spcBef>
              <a:buNone/>
            </a:pPr>
            <a:fld id="{00000000-1234-1234-1234-123412341234}" type="slidenum">
              <a:rPr lang="en" sz="1000" smtClean="0">
                <a:solidFill>
                  <a:schemeClr val="dk2"/>
                </a:solidFill>
                <a:latin typeface="Playfair Display"/>
                <a:ea typeface="Playfair Display"/>
                <a:cs typeface="Playfair Display"/>
                <a:sym typeface="Playfair Display"/>
              </a:rPr>
              <a:t>‹#›</a:t>
            </a:fld>
            <a:endParaRPr lang="en" sz="1000">
              <a:solidFill>
                <a:schemeClr val="dk2"/>
              </a:solidFill>
              <a:latin typeface="Playfair Display"/>
              <a:ea typeface="Playfair Display"/>
              <a:cs typeface="Playfair Display"/>
              <a:sym typeface="Playfair Display"/>
            </a:endParaRPr>
          </a:p>
        </p:txBody>
      </p:sp>
      <p:cxnSp>
        <p:nvCxnSpPr>
          <p:cNvPr id="10" name="Straight Connector 9"/>
          <p:cNvCxnSpPr/>
          <p:nvPr/>
        </p:nvCxnSpPr>
        <p:spPr>
          <a:xfrm>
            <a:off x="895149" y="1303384"/>
            <a:ext cx="74752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3241025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Lst>
  <p:hf hdr="0" ftr="0" dt="0"/>
  <p:txStyles>
    <p:titleStyle>
      <a:lvl1pPr algn="l" defTabSz="685800" rtl="0" eaLnBrk="1" latinLnBrk="0" hangingPunct="1">
        <a:lnSpc>
          <a:spcPct val="85000"/>
        </a:lnSpc>
        <a:spcBef>
          <a:spcPct val="0"/>
        </a:spcBef>
        <a:buNone/>
        <a:defRPr sz="3600" kern="1200" spc="-38" baseline="0">
          <a:solidFill>
            <a:schemeClr val="tx1">
              <a:lumMod val="75000"/>
              <a:lumOff val="25000"/>
            </a:schemeClr>
          </a:solidFill>
          <a:latin typeface="+mj-lt"/>
          <a:ea typeface="+mj-ea"/>
          <a:cs typeface="+mj-cs"/>
        </a:defRPr>
      </a:lvl1pPr>
    </p:titleStyle>
    <p:bodyStyle>
      <a:lvl1pPr marL="68580" indent="-68580" algn="l" defTabSz="685800" rtl="0" eaLnBrk="1" latinLnBrk="0" hangingPunct="1">
        <a:lnSpc>
          <a:spcPct val="90000"/>
        </a:lnSpc>
        <a:spcBef>
          <a:spcPts val="900"/>
        </a:spcBef>
        <a:spcAft>
          <a:spcPts val="150"/>
        </a:spcAft>
        <a:buClr>
          <a:schemeClr val="accent1"/>
        </a:buClr>
        <a:buSzPct val="100000"/>
        <a:buFont typeface="Calibri" panose="020F0502020204030204" pitchFamily="34" charset="0"/>
        <a:buChar char=" "/>
        <a:defRPr sz="1500" kern="1200">
          <a:solidFill>
            <a:schemeClr val="tx1">
              <a:lumMod val="75000"/>
              <a:lumOff val="25000"/>
            </a:schemeClr>
          </a:solidFill>
          <a:latin typeface="+mn-lt"/>
          <a:ea typeface="+mn-ea"/>
          <a:cs typeface="+mn-cs"/>
        </a:defRPr>
      </a:lvl1pPr>
      <a:lvl2pPr marL="288036" indent="-137160" algn="l" defTabSz="685800" rtl="0" eaLnBrk="1" latinLnBrk="0" hangingPunct="1">
        <a:lnSpc>
          <a:spcPct val="90000"/>
        </a:lnSpc>
        <a:spcBef>
          <a:spcPts val="150"/>
        </a:spcBef>
        <a:spcAft>
          <a:spcPts val="300"/>
        </a:spcAft>
        <a:buClr>
          <a:schemeClr val="accent1"/>
        </a:buClr>
        <a:buFont typeface="Calibri" pitchFamily="34" charset="0"/>
        <a:buChar char="◦"/>
        <a:defRPr sz="1350" kern="1200">
          <a:solidFill>
            <a:schemeClr val="tx1">
              <a:lumMod val="75000"/>
              <a:lumOff val="25000"/>
            </a:schemeClr>
          </a:solidFill>
          <a:latin typeface="+mn-lt"/>
          <a:ea typeface="+mn-ea"/>
          <a:cs typeface="+mn-cs"/>
        </a:defRPr>
      </a:lvl2pPr>
      <a:lvl3pPr marL="425196" indent="-137160" algn="l" defTabSz="685800" rtl="0" eaLnBrk="1" latinLnBrk="0" hangingPunct="1">
        <a:lnSpc>
          <a:spcPct val="90000"/>
        </a:lnSpc>
        <a:spcBef>
          <a:spcPts val="150"/>
        </a:spcBef>
        <a:spcAft>
          <a:spcPts val="300"/>
        </a:spcAft>
        <a:buClr>
          <a:schemeClr val="accent1"/>
        </a:buClr>
        <a:buFont typeface="Calibri" pitchFamily="34" charset="0"/>
        <a:buChar char="◦"/>
        <a:defRPr sz="1050" kern="1200">
          <a:solidFill>
            <a:schemeClr val="tx1">
              <a:lumMod val="75000"/>
              <a:lumOff val="25000"/>
            </a:schemeClr>
          </a:solidFill>
          <a:latin typeface="+mn-lt"/>
          <a:ea typeface="+mn-ea"/>
          <a:cs typeface="+mn-cs"/>
        </a:defRPr>
      </a:lvl3pPr>
      <a:lvl4pPr marL="562356" indent="-137160" algn="l" defTabSz="685800" rtl="0" eaLnBrk="1" latinLnBrk="0" hangingPunct="1">
        <a:lnSpc>
          <a:spcPct val="90000"/>
        </a:lnSpc>
        <a:spcBef>
          <a:spcPts val="150"/>
        </a:spcBef>
        <a:spcAft>
          <a:spcPts val="300"/>
        </a:spcAft>
        <a:buClr>
          <a:schemeClr val="accent1"/>
        </a:buClr>
        <a:buFont typeface="Calibri" pitchFamily="34" charset="0"/>
        <a:buChar char="◦"/>
        <a:defRPr sz="1050" kern="1200">
          <a:solidFill>
            <a:schemeClr val="tx1">
              <a:lumMod val="75000"/>
              <a:lumOff val="25000"/>
            </a:schemeClr>
          </a:solidFill>
          <a:latin typeface="+mn-lt"/>
          <a:ea typeface="+mn-ea"/>
          <a:cs typeface="+mn-cs"/>
        </a:defRPr>
      </a:lvl4pPr>
      <a:lvl5pPr marL="699516" indent="-137160" algn="l" defTabSz="685800" rtl="0" eaLnBrk="1" latinLnBrk="0" hangingPunct="1">
        <a:lnSpc>
          <a:spcPct val="90000"/>
        </a:lnSpc>
        <a:spcBef>
          <a:spcPts val="150"/>
        </a:spcBef>
        <a:spcAft>
          <a:spcPts val="300"/>
        </a:spcAft>
        <a:buClr>
          <a:schemeClr val="accent1"/>
        </a:buClr>
        <a:buFont typeface="Calibri" pitchFamily="34" charset="0"/>
        <a:buChar char="◦"/>
        <a:defRPr sz="1050" kern="1200">
          <a:solidFill>
            <a:schemeClr val="tx1">
              <a:lumMod val="75000"/>
              <a:lumOff val="25000"/>
            </a:schemeClr>
          </a:solidFill>
          <a:latin typeface="+mn-lt"/>
          <a:ea typeface="+mn-ea"/>
          <a:cs typeface="+mn-cs"/>
        </a:defRPr>
      </a:lvl5pPr>
      <a:lvl6pPr marL="825000" indent="-171450" algn="l" defTabSz="685800" rtl="0" eaLnBrk="1" latinLnBrk="0" hangingPunct="1">
        <a:lnSpc>
          <a:spcPct val="90000"/>
        </a:lnSpc>
        <a:spcBef>
          <a:spcPts val="150"/>
        </a:spcBef>
        <a:spcAft>
          <a:spcPts val="300"/>
        </a:spcAft>
        <a:buClr>
          <a:schemeClr val="accent1"/>
        </a:buClr>
        <a:buFont typeface="Calibri" pitchFamily="34" charset="0"/>
        <a:buChar char="◦"/>
        <a:defRPr sz="1050" kern="1200">
          <a:solidFill>
            <a:schemeClr val="tx1">
              <a:lumMod val="75000"/>
              <a:lumOff val="25000"/>
            </a:schemeClr>
          </a:solidFill>
          <a:latin typeface="+mn-lt"/>
          <a:ea typeface="+mn-ea"/>
          <a:cs typeface="+mn-cs"/>
        </a:defRPr>
      </a:lvl6pPr>
      <a:lvl7pPr marL="975000" indent="-171450" algn="l" defTabSz="685800" rtl="0" eaLnBrk="1" latinLnBrk="0" hangingPunct="1">
        <a:lnSpc>
          <a:spcPct val="90000"/>
        </a:lnSpc>
        <a:spcBef>
          <a:spcPts val="150"/>
        </a:spcBef>
        <a:spcAft>
          <a:spcPts val="300"/>
        </a:spcAft>
        <a:buClr>
          <a:schemeClr val="accent1"/>
        </a:buClr>
        <a:buFont typeface="Calibri" pitchFamily="34" charset="0"/>
        <a:buChar char="◦"/>
        <a:defRPr sz="1050" kern="1200">
          <a:solidFill>
            <a:schemeClr val="tx1">
              <a:lumMod val="75000"/>
              <a:lumOff val="25000"/>
            </a:schemeClr>
          </a:solidFill>
          <a:latin typeface="+mn-lt"/>
          <a:ea typeface="+mn-ea"/>
          <a:cs typeface="+mn-cs"/>
        </a:defRPr>
      </a:lvl7pPr>
      <a:lvl8pPr marL="1125000" indent="-171450" algn="l" defTabSz="685800" rtl="0" eaLnBrk="1" latinLnBrk="0" hangingPunct="1">
        <a:lnSpc>
          <a:spcPct val="90000"/>
        </a:lnSpc>
        <a:spcBef>
          <a:spcPts val="150"/>
        </a:spcBef>
        <a:spcAft>
          <a:spcPts val="300"/>
        </a:spcAft>
        <a:buClr>
          <a:schemeClr val="accent1"/>
        </a:buClr>
        <a:buFont typeface="Calibri" pitchFamily="34" charset="0"/>
        <a:buChar char="◦"/>
        <a:defRPr sz="1050" kern="1200">
          <a:solidFill>
            <a:schemeClr val="tx1">
              <a:lumMod val="75000"/>
              <a:lumOff val="25000"/>
            </a:schemeClr>
          </a:solidFill>
          <a:latin typeface="+mn-lt"/>
          <a:ea typeface="+mn-ea"/>
          <a:cs typeface="+mn-cs"/>
        </a:defRPr>
      </a:lvl8pPr>
      <a:lvl9pPr marL="1275000" indent="-171450" algn="l" defTabSz="685800" rtl="0" eaLnBrk="1" latinLnBrk="0" hangingPunct="1">
        <a:lnSpc>
          <a:spcPct val="90000"/>
        </a:lnSpc>
        <a:spcBef>
          <a:spcPts val="150"/>
        </a:spcBef>
        <a:spcAft>
          <a:spcPts val="300"/>
        </a:spcAft>
        <a:buClr>
          <a:schemeClr val="accent1"/>
        </a:buClr>
        <a:buFont typeface="Calibri" pitchFamily="34" charset="0"/>
        <a:buChar char="◦"/>
        <a:defRPr sz="1050" kern="1200">
          <a:solidFill>
            <a:schemeClr val="tx1">
              <a:lumMod val="75000"/>
              <a:lumOff val="25000"/>
            </a:schemeClr>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4.xml"/><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5.xml"/><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6.xml"/><Relationship Id="rId1" Type="http://schemas.openxmlformats.org/officeDocument/2006/relationships/slideLayout" Target="../slideLayouts/slideLayout12.xml"/><Relationship Id="rId4" Type="http://schemas.openxmlformats.org/officeDocument/2006/relationships/image" Target="../media/image5.png"/></Relationships>
</file>

<file path=ppt/slides/_rels/slide3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7.xml"/><Relationship Id="rId1" Type="http://schemas.openxmlformats.org/officeDocument/2006/relationships/slideLayout" Target="../slideLayouts/slideLayout12.xml"/><Relationship Id="rId4" Type="http://schemas.openxmlformats.org/officeDocument/2006/relationships/image" Target="../media/image7.png"/></Relationships>
</file>

<file path=ppt/slides/_rels/slide3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8.xml"/><Relationship Id="rId1" Type="http://schemas.openxmlformats.org/officeDocument/2006/relationships/slideLayout" Target="../slideLayouts/slideLayout12.xml"/><Relationship Id="rId4" Type="http://schemas.openxmlformats.org/officeDocument/2006/relationships/image" Target="../media/image9.png"/></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8.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1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7"/>
        <p:cNvGrpSpPr/>
        <p:nvPr/>
      </p:nvGrpSpPr>
      <p:grpSpPr>
        <a:xfrm>
          <a:off x="0" y="0"/>
          <a:ext cx="0" cy="0"/>
          <a:chOff x="0" y="0"/>
          <a:chExt cx="0" cy="0"/>
        </a:xfrm>
      </p:grpSpPr>
      <p:sp>
        <p:nvSpPr>
          <p:cNvPr id="58" name="Shape 58"/>
          <p:cNvSpPr txBox="1">
            <a:spLocks noGrp="1"/>
          </p:cNvSpPr>
          <p:nvPr>
            <p:ph type="ctrTitle"/>
          </p:nvPr>
        </p:nvSpPr>
        <p:spPr>
          <a:xfrm>
            <a:off x="865563" y="629891"/>
            <a:ext cx="7543800" cy="2674620"/>
          </a:xfrm>
          <a:prstGeom prst="rect">
            <a:avLst/>
          </a:prstGeom>
        </p:spPr>
        <p:txBody>
          <a:bodyPr wrap="square" lIns="91425" tIns="91425" rIns="91425" bIns="91425" anchor="ctr" anchorCtr="0">
            <a:noAutofit/>
          </a:bodyPr>
          <a:lstStyle/>
          <a:p>
            <a:pPr lvl="0" algn="ctr">
              <a:spcBef>
                <a:spcPts val="0"/>
              </a:spcBef>
            </a:pPr>
            <a:r>
              <a:rPr lang="en-US" sz="4800" dirty="0" smtClean="0">
                <a:solidFill>
                  <a:schemeClr val="tx1"/>
                </a:solidFill>
                <a:latin typeface="Times New Roman" panose="02020603050405020304" pitchFamily="18" charset="0"/>
                <a:ea typeface="Arial"/>
                <a:cs typeface="Times New Roman" panose="02020603050405020304" pitchFamily="18" charset="0"/>
                <a:sym typeface="Arial"/>
              </a:rPr>
              <a:t>Multimodal </a:t>
            </a:r>
            <a:r>
              <a:rPr lang="en-US" sz="4800" dirty="0">
                <a:solidFill>
                  <a:schemeClr val="tx1"/>
                </a:solidFill>
                <a:latin typeface="Times New Roman" panose="02020603050405020304" pitchFamily="18" charset="0"/>
                <a:ea typeface="Arial"/>
                <a:cs typeface="Times New Roman" panose="02020603050405020304" pitchFamily="18" charset="0"/>
                <a:sym typeface="Arial"/>
              </a:rPr>
              <a:t>Ant </a:t>
            </a:r>
            <a:r>
              <a:rPr lang="en-US" sz="4800" dirty="0" smtClean="0">
                <a:solidFill>
                  <a:schemeClr val="tx1"/>
                </a:solidFill>
                <a:latin typeface="Times New Roman" panose="02020603050405020304" pitchFamily="18" charset="0"/>
                <a:ea typeface="Arial"/>
                <a:cs typeface="Times New Roman" panose="02020603050405020304" pitchFamily="18" charset="0"/>
                <a:sym typeface="Arial"/>
              </a:rPr>
              <a:t>Colony Optimization for Mixed Variable Optimization</a:t>
            </a:r>
            <a:r>
              <a:rPr lang="en-US" sz="4800" dirty="0">
                <a:solidFill>
                  <a:schemeClr val="tx1"/>
                </a:solidFill>
                <a:latin typeface="Times New Roman" panose="02020603050405020304" pitchFamily="18" charset="0"/>
                <a:ea typeface="Arial"/>
                <a:cs typeface="Times New Roman" panose="02020603050405020304" pitchFamily="18" charset="0"/>
                <a:sym typeface="Arial"/>
              </a:rPr>
              <a:t/>
            </a:r>
            <a:br>
              <a:rPr lang="en-US" sz="4800" dirty="0">
                <a:solidFill>
                  <a:schemeClr val="tx1"/>
                </a:solidFill>
                <a:latin typeface="Times New Roman" panose="02020603050405020304" pitchFamily="18" charset="0"/>
                <a:ea typeface="Arial"/>
                <a:cs typeface="Times New Roman" panose="02020603050405020304" pitchFamily="18" charset="0"/>
                <a:sym typeface="Arial"/>
              </a:rPr>
            </a:br>
            <a:r>
              <a:rPr lang="en-US" sz="4800" dirty="0">
                <a:solidFill>
                  <a:schemeClr val="tx1"/>
                </a:solidFill>
                <a:latin typeface="Times New Roman" panose="02020603050405020304" pitchFamily="18" charset="0"/>
                <a:ea typeface="Arial"/>
                <a:cs typeface="Times New Roman" panose="02020603050405020304" pitchFamily="18" charset="0"/>
                <a:sym typeface="Arial"/>
              </a:rPr>
              <a:t>Problems</a:t>
            </a:r>
            <a:endParaRPr lang="en" sz="4800" b="0" dirty="0">
              <a:solidFill>
                <a:schemeClr val="tx1"/>
              </a:solidFill>
              <a:latin typeface="Times New Roman" panose="02020603050405020304" pitchFamily="18" charset="0"/>
              <a:ea typeface="Arial"/>
              <a:cs typeface="Times New Roman" panose="02020603050405020304" pitchFamily="18" charset="0"/>
              <a:sym typeface="Arial"/>
            </a:endParaRPr>
          </a:p>
        </p:txBody>
      </p:sp>
      <p:sp>
        <p:nvSpPr>
          <p:cNvPr id="59" name="Shape 59"/>
          <p:cNvSpPr txBox="1">
            <a:spLocks noGrp="1"/>
          </p:cNvSpPr>
          <p:nvPr>
            <p:ph type="subTitle" idx="1"/>
          </p:nvPr>
        </p:nvSpPr>
        <p:spPr>
          <a:xfrm>
            <a:off x="480150" y="3609525"/>
            <a:ext cx="8183700" cy="930300"/>
          </a:xfrm>
          <a:prstGeom prst="rect">
            <a:avLst/>
          </a:prstGeom>
        </p:spPr>
        <p:txBody>
          <a:bodyPr wrap="square" lIns="91425" tIns="91425" rIns="91425" bIns="91425" anchor="ctr" anchorCtr="0">
            <a:noAutofit/>
          </a:bodyPr>
          <a:lstStyle/>
          <a:p>
            <a:pPr lvl="0" algn="r">
              <a:spcBef>
                <a:spcPts val="0"/>
              </a:spcBef>
              <a:buNone/>
            </a:pPr>
            <a:r>
              <a:rPr lang="en" sz="1800" dirty="0">
                <a:solidFill>
                  <a:schemeClr val="tx1"/>
                </a:solidFill>
              </a:rPr>
              <a:t>Name: Muhammad Awais Ali</a:t>
            </a:r>
          </a:p>
          <a:p>
            <a:pPr lvl="0" algn="r">
              <a:spcBef>
                <a:spcPts val="0"/>
              </a:spcBef>
              <a:buNone/>
            </a:pPr>
            <a:r>
              <a:rPr lang="en" sz="1800" dirty="0">
                <a:solidFill>
                  <a:schemeClr val="tx1"/>
                </a:solidFill>
              </a:rPr>
              <a:t>Roll No: i16-1047</a:t>
            </a:r>
          </a:p>
          <a:p>
            <a:pPr lvl="0" algn="r">
              <a:spcBef>
                <a:spcPts val="0"/>
              </a:spcBef>
              <a:buNone/>
            </a:pPr>
            <a:r>
              <a:rPr lang="en" sz="1800" dirty="0">
                <a:solidFill>
                  <a:schemeClr val="tx1"/>
                </a:solidFill>
              </a:rPr>
              <a:t>Supervisor: </a:t>
            </a:r>
            <a:r>
              <a:rPr lang="en" sz="1800" dirty="0" smtClean="0">
                <a:solidFill>
                  <a:schemeClr val="tx1"/>
                </a:solidFill>
              </a:rPr>
              <a:t>Dr. </a:t>
            </a:r>
            <a:r>
              <a:rPr lang="en" sz="1800" dirty="0">
                <a:solidFill>
                  <a:schemeClr val="tx1"/>
                </a:solidFill>
              </a:rPr>
              <a:t>Waseem Shahzad</a:t>
            </a:r>
          </a:p>
        </p:txBody>
      </p:sp>
      <p:sp>
        <p:nvSpPr>
          <p:cNvPr id="2" name="Slide Number Placeholder 1"/>
          <p:cNvSpPr>
            <a:spLocks noGrp="1"/>
          </p:cNvSpPr>
          <p:nvPr>
            <p:ph type="sldNum" sz="quarter" idx="12"/>
          </p:nvPr>
        </p:nvSpPr>
        <p:spPr/>
        <p:txBody>
          <a:bodyPr/>
          <a:lstStyle/>
          <a:p>
            <a:pPr lvl="0" algn="r">
              <a:spcBef>
                <a:spcPts val="0"/>
              </a:spcBef>
              <a:buNone/>
            </a:pPr>
            <a:fld id="{00000000-1234-1234-1234-123412341234}" type="slidenum">
              <a:rPr lang="en" sz="1000" smtClean="0">
                <a:solidFill>
                  <a:schemeClr val="dk2"/>
                </a:solidFill>
                <a:latin typeface="Playfair Display"/>
                <a:ea typeface="Playfair Display"/>
                <a:cs typeface="Playfair Display"/>
                <a:sym typeface="Playfair Display"/>
              </a:rPr>
              <a:t>1</a:t>
            </a:fld>
            <a:endParaRPr lang="en" sz="1000">
              <a:solidFill>
                <a:schemeClr val="dk2"/>
              </a:solidFill>
              <a:latin typeface="Playfair Display"/>
              <a:ea typeface="Playfair Display"/>
              <a:cs typeface="Playfair Display"/>
              <a:sym typeface="Playfair Display"/>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3"/>
        <p:cNvGrpSpPr/>
        <p:nvPr/>
      </p:nvGrpSpPr>
      <p:grpSpPr>
        <a:xfrm>
          <a:off x="0" y="0"/>
          <a:ext cx="0" cy="0"/>
          <a:chOff x="0" y="0"/>
          <a:chExt cx="0" cy="0"/>
        </a:xfrm>
      </p:grpSpPr>
      <p:sp>
        <p:nvSpPr>
          <p:cNvPr id="64" name="Shape 64"/>
          <p:cNvSpPr txBox="1">
            <a:spLocks noGrp="1"/>
          </p:cNvSpPr>
          <p:nvPr>
            <p:ph type="title"/>
          </p:nvPr>
        </p:nvSpPr>
        <p:spPr>
          <a:prstGeom prst="rect">
            <a:avLst/>
          </a:prstGeom>
        </p:spPr>
        <p:txBody>
          <a:bodyPr wrap="square" lIns="91425" tIns="91425" rIns="91425" bIns="91425" anchor="t" anchorCtr="0">
            <a:noAutofit/>
          </a:bodyPr>
          <a:lstStyle/>
          <a:p>
            <a:pPr lvl="0">
              <a:spcBef>
                <a:spcPts val="0"/>
              </a:spcBef>
              <a:buClr>
                <a:schemeClr val="dk2"/>
              </a:buClr>
              <a:buSzPct val="25000"/>
              <a:buFont typeface="Calibri"/>
              <a:buNone/>
            </a:pPr>
            <a:r>
              <a:rPr lang="en" sz="4000" b="1" dirty="0">
                <a:solidFill>
                  <a:schemeClr val="tx1"/>
                </a:solidFill>
                <a:latin typeface="Times New Roman" panose="02020603050405020304" pitchFamily="18" charset="0"/>
                <a:ea typeface="Calibri"/>
                <a:cs typeface="Times New Roman" panose="02020603050405020304" pitchFamily="18" charset="0"/>
                <a:sym typeface="Calibri"/>
              </a:rPr>
              <a:t>Table of Contents</a:t>
            </a:r>
          </a:p>
        </p:txBody>
      </p:sp>
      <p:sp>
        <p:nvSpPr>
          <p:cNvPr id="65" name="Shape 65"/>
          <p:cNvSpPr txBox="1">
            <a:spLocks noGrp="1"/>
          </p:cNvSpPr>
          <p:nvPr>
            <p:ph type="body" idx="1"/>
          </p:nvPr>
        </p:nvSpPr>
        <p:spPr>
          <a:xfrm>
            <a:off x="311700" y="1386673"/>
            <a:ext cx="8520600" cy="3182202"/>
          </a:xfrm>
          <a:prstGeom prst="rect">
            <a:avLst/>
          </a:prstGeom>
          <a:ln w="9525" cap="flat" cmpd="sng">
            <a:solidFill>
              <a:srgbClr val="000000"/>
            </a:solidFill>
            <a:prstDash val="solid"/>
            <a:round/>
            <a:headEnd type="none" w="med" len="med"/>
            <a:tailEnd type="none" w="med" len="med"/>
          </a:ln>
        </p:spPr>
        <p:txBody>
          <a:bodyPr wrap="square" lIns="91425" tIns="91425" rIns="91425" bIns="91425" anchor="t" anchorCtr="0">
            <a:noAutofit/>
          </a:bodyPr>
          <a:lstStyle/>
          <a:p>
            <a:pPr marL="419100" indent="-342900">
              <a:lnSpc>
                <a:spcPct val="100000"/>
              </a:lnSpc>
              <a:buFont typeface="Wingdings" panose="05000000000000000000" pitchFamily="2" charset="2"/>
              <a:buChar char="§"/>
            </a:pPr>
            <a:r>
              <a:rPr lang="en" sz="2400" dirty="0">
                <a:solidFill>
                  <a:schemeClr val="tx1"/>
                </a:solidFill>
                <a:latin typeface="Times New Roman" panose="02020603050405020304" pitchFamily="18" charset="0"/>
                <a:cs typeface="Times New Roman" panose="02020603050405020304" pitchFamily="18" charset="0"/>
              </a:rPr>
              <a:t>Introduction</a:t>
            </a:r>
          </a:p>
          <a:p>
            <a:pPr marL="419100" indent="-342900">
              <a:lnSpc>
                <a:spcPct val="100000"/>
              </a:lnSpc>
              <a:buFont typeface="Wingdings" panose="05000000000000000000" pitchFamily="2" charset="2"/>
              <a:buChar char="§"/>
            </a:pPr>
            <a:r>
              <a:rPr lang="en" sz="2400" dirty="0">
                <a:solidFill>
                  <a:schemeClr val="tx1"/>
                </a:solidFill>
                <a:latin typeface="Times New Roman" panose="02020603050405020304" pitchFamily="18" charset="0"/>
                <a:cs typeface="Times New Roman" panose="02020603050405020304" pitchFamily="18" charset="0"/>
              </a:rPr>
              <a:t>Background</a:t>
            </a:r>
          </a:p>
          <a:p>
            <a:pPr marL="419100" indent="-342900">
              <a:lnSpc>
                <a:spcPct val="100000"/>
              </a:lnSpc>
              <a:buFont typeface="Wingdings" panose="05000000000000000000" pitchFamily="2" charset="2"/>
              <a:buChar char="§"/>
            </a:pPr>
            <a:r>
              <a:rPr lang="en" sz="2400" dirty="0">
                <a:solidFill>
                  <a:schemeClr val="tx1"/>
                </a:solidFill>
                <a:latin typeface="Times New Roman" panose="02020603050405020304" pitchFamily="18" charset="0"/>
                <a:cs typeface="Times New Roman" panose="02020603050405020304" pitchFamily="18" charset="0"/>
              </a:rPr>
              <a:t>Problem Statement</a:t>
            </a:r>
          </a:p>
          <a:p>
            <a:pPr marL="419100" indent="-342900">
              <a:lnSpc>
                <a:spcPct val="100000"/>
              </a:lnSpc>
              <a:buFont typeface="Wingdings" panose="05000000000000000000" pitchFamily="2" charset="2"/>
              <a:buChar char="§"/>
            </a:pPr>
            <a:r>
              <a:rPr lang="en" sz="2400" dirty="0">
                <a:solidFill>
                  <a:schemeClr val="tx1"/>
                </a:solidFill>
                <a:latin typeface="Times New Roman" panose="02020603050405020304" pitchFamily="18" charset="0"/>
                <a:cs typeface="Times New Roman" panose="02020603050405020304" pitchFamily="18" charset="0"/>
              </a:rPr>
              <a:t>Motivation</a:t>
            </a:r>
          </a:p>
          <a:p>
            <a:pPr marL="419100" indent="-342900">
              <a:lnSpc>
                <a:spcPct val="100000"/>
              </a:lnSpc>
              <a:buFont typeface="Wingdings" panose="05000000000000000000" pitchFamily="2" charset="2"/>
              <a:buChar char="§"/>
            </a:pPr>
            <a:r>
              <a:rPr lang="en" sz="2400" dirty="0">
                <a:solidFill>
                  <a:schemeClr val="tx1"/>
                </a:solidFill>
                <a:latin typeface="Times New Roman" panose="02020603050405020304" pitchFamily="18" charset="0"/>
                <a:cs typeface="Times New Roman" panose="02020603050405020304" pitchFamily="18" charset="0"/>
              </a:rPr>
              <a:t>Literature </a:t>
            </a:r>
            <a:r>
              <a:rPr lang="en" sz="2400" dirty="0" smtClean="0">
                <a:solidFill>
                  <a:schemeClr val="tx1"/>
                </a:solidFill>
                <a:latin typeface="Times New Roman" panose="02020603050405020304" pitchFamily="18" charset="0"/>
                <a:cs typeface="Times New Roman" panose="02020603050405020304" pitchFamily="18" charset="0"/>
              </a:rPr>
              <a:t>Review</a:t>
            </a:r>
            <a:endParaRPr lang="en" sz="2400" dirty="0">
              <a:solidFill>
                <a:schemeClr val="tx1"/>
              </a:solidFill>
              <a:latin typeface="Times New Roman" panose="02020603050405020304" pitchFamily="18" charset="0"/>
              <a:cs typeface="Times New Roman" panose="02020603050405020304" pitchFamily="18" charset="0"/>
            </a:endParaRPr>
          </a:p>
          <a:p>
            <a:pPr marL="419100" indent="-342900">
              <a:lnSpc>
                <a:spcPct val="100000"/>
              </a:lnSpc>
              <a:buFont typeface="Wingdings" panose="05000000000000000000" pitchFamily="2" charset="2"/>
              <a:buChar char="§"/>
            </a:pPr>
            <a:r>
              <a:rPr lang="en" sz="2400" dirty="0" smtClean="0">
                <a:solidFill>
                  <a:schemeClr val="tx1"/>
                </a:solidFill>
                <a:latin typeface="Times New Roman" panose="02020603050405020304" pitchFamily="18" charset="0"/>
                <a:cs typeface="Times New Roman" panose="02020603050405020304" pitchFamily="18" charset="0"/>
              </a:rPr>
              <a:t>Proposed Methodology</a:t>
            </a:r>
            <a:endParaRPr lang="en" sz="2400" dirty="0">
              <a:solidFill>
                <a:schemeClr val="tx1"/>
              </a:solidFill>
              <a:latin typeface="Times New Roman" panose="02020603050405020304" pitchFamily="18" charset="0"/>
              <a:cs typeface="Times New Roman" panose="02020603050405020304" pitchFamily="18" charset="0"/>
            </a:endParaRPr>
          </a:p>
          <a:p>
            <a:pPr>
              <a:lnSpc>
                <a:spcPct val="100000"/>
              </a:lnSpc>
              <a:buFont typeface="Wingdings" panose="05000000000000000000" pitchFamily="2" charset="2"/>
              <a:buChar char="§"/>
            </a:pPr>
            <a:endParaRPr sz="2400" dirty="0">
              <a:solidFill>
                <a:schemeClr val="tx1"/>
              </a:solidFill>
              <a:latin typeface="Times New Roman" panose="02020603050405020304" pitchFamily="18" charset="0"/>
              <a:cs typeface="Times New Roman" panose="02020603050405020304" pitchFamily="18" charset="0"/>
            </a:endParaRPr>
          </a:p>
        </p:txBody>
      </p:sp>
      <p:sp>
        <p:nvSpPr>
          <p:cNvPr id="2" name="Slide Number Placeholder 1"/>
          <p:cNvSpPr>
            <a:spLocks noGrp="1"/>
          </p:cNvSpPr>
          <p:nvPr>
            <p:ph type="sldNum" idx="12"/>
          </p:nvPr>
        </p:nvSpPr>
        <p:spPr/>
        <p:txBody>
          <a:bodyPr/>
          <a:lstStyle/>
          <a:p>
            <a:pPr lvl="0">
              <a:spcBef>
                <a:spcPts val="0"/>
              </a:spcBef>
              <a:buNone/>
            </a:pPr>
            <a:fld id="{00000000-1234-1234-1234-123412341234}" type="slidenum">
              <a:rPr lang="en" smtClean="0"/>
              <a:t>2</a:t>
            </a:fld>
            <a:endParaRPr lang="en"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9"/>
        <p:cNvGrpSpPr/>
        <p:nvPr/>
      </p:nvGrpSpPr>
      <p:grpSpPr>
        <a:xfrm>
          <a:off x="0" y="0"/>
          <a:ext cx="0" cy="0"/>
          <a:chOff x="0" y="0"/>
          <a:chExt cx="0" cy="0"/>
        </a:xfrm>
      </p:grpSpPr>
      <p:sp>
        <p:nvSpPr>
          <p:cNvPr id="70" name="Shape 70"/>
          <p:cNvSpPr txBox="1">
            <a:spLocks noGrp="1"/>
          </p:cNvSpPr>
          <p:nvPr>
            <p:ph type="title"/>
          </p:nvPr>
        </p:nvSpPr>
        <p:spPr>
          <a:prstGeom prst="rect">
            <a:avLst/>
          </a:prstGeom>
        </p:spPr>
        <p:txBody>
          <a:bodyPr wrap="square" lIns="91425" tIns="91425" rIns="91425" bIns="91425" anchor="t" anchorCtr="0">
            <a:noAutofit/>
          </a:bodyPr>
          <a:lstStyle/>
          <a:p>
            <a:pPr lvl="0">
              <a:spcBef>
                <a:spcPts val="0"/>
              </a:spcBef>
              <a:buNone/>
            </a:pPr>
            <a:r>
              <a:rPr lang="en" sz="4000" b="1" dirty="0">
                <a:solidFill>
                  <a:schemeClr val="tx1"/>
                </a:solidFill>
                <a:latin typeface="Times New Roman" panose="02020603050405020304" pitchFamily="18" charset="0"/>
                <a:ea typeface="Calibri"/>
                <a:cs typeface="Times New Roman" panose="02020603050405020304" pitchFamily="18" charset="0"/>
              </a:rPr>
              <a:t>Introduction</a:t>
            </a:r>
          </a:p>
        </p:txBody>
      </p:sp>
      <p:sp>
        <p:nvSpPr>
          <p:cNvPr id="71" name="Shape 71"/>
          <p:cNvSpPr txBox="1">
            <a:spLocks noGrp="1"/>
          </p:cNvSpPr>
          <p:nvPr>
            <p:ph type="body" idx="1"/>
          </p:nvPr>
        </p:nvSpPr>
        <p:spPr>
          <a:xfrm>
            <a:off x="311700" y="1577592"/>
            <a:ext cx="8520600" cy="2703006"/>
          </a:xfrm>
          <a:prstGeom prst="rect">
            <a:avLst/>
          </a:prstGeom>
        </p:spPr>
        <p:txBody>
          <a:bodyPr wrap="square" lIns="91425" tIns="91425" rIns="91425" bIns="91425" anchor="ctr" anchorCtr="0">
            <a:noAutofit/>
          </a:bodyPr>
          <a:lstStyle/>
          <a:p>
            <a:pPr marL="514350" indent="-285750">
              <a:buFont typeface="Wingdings" panose="05000000000000000000" pitchFamily="2" charset="2"/>
              <a:buChar char="§"/>
            </a:pPr>
            <a:r>
              <a:rPr lang="en" sz="2400" dirty="0">
                <a:solidFill>
                  <a:schemeClr val="tx1"/>
                </a:solidFill>
                <a:latin typeface="Times New Roman" panose="02020603050405020304" pitchFamily="18" charset="0"/>
                <a:cs typeface="Times New Roman" panose="02020603050405020304" pitchFamily="18" charset="0"/>
              </a:rPr>
              <a:t>Inspired from the foraging behavior of the ants</a:t>
            </a:r>
          </a:p>
          <a:p>
            <a:pPr marL="514350" indent="-285750">
              <a:buFont typeface="Wingdings" panose="05000000000000000000" pitchFamily="2" charset="2"/>
              <a:buChar char="§"/>
            </a:pPr>
            <a:r>
              <a:rPr lang="en" sz="2400" dirty="0">
                <a:solidFill>
                  <a:schemeClr val="tx1"/>
                </a:solidFill>
                <a:latin typeface="Times New Roman" panose="02020603050405020304" pitchFamily="18" charset="0"/>
                <a:cs typeface="Times New Roman" panose="02020603050405020304" pitchFamily="18" charset="0"/>
              </a:rPr>
              <a:t>Deposit pheromone  along their route to the food source</a:t>
            </a:r>
          </a:p>
          <a:p>
            <a:pPr marL="514350" indent="-285750">
              <a:buFont typeface="Wingdings" panose="05000000000000000000" pitchFamily="2" charset="2"/>
              <a:buChar char="§"/>
            </a:pPr>
            <a:r>
              <a:rPr lang="en" sz="2400" dirty="0">
                <a:solidFill>
                  <a:schemeClr val="tx1"/>
                </a:solidFill>
                <a:latin typeface="Times New Roman" panose="02020603050405020304" pitchFamily="18" charset="0"/>
                <a:cs typeface="Times New Roman" panose="02020603050405020304" pitchFamily="18" charset="0"/>
              </a:rPr>
              <a:t>The path in ACO correspond to one solution </a:t>
            </a:r>
          </a:p>
          <a:p>
            <a:pPr marL="514350" indent="-285750">
              <a:buFont typeface="Wingdings" panose="05000000000000000000" pitchFamily="2" charset="2"/>
              <a:buChar char="§"/>
            </a:pPr>
            <a:r>
              <a:rPr lang="en" sz="2400" dirty="0">
                <a:solidFill>
                  <a:schemeClr val="tx1"/>
                </a:solidFill>
                <a:latin typeface="Times New Roman" panose="02020603050405020304" pitchFamily="18" charset="0"/>
                <a:cs typeface="Times New Roman" panose="02020603050405020304" pitchFamily="18" charset="0"/>
              </a:rPr>
              <a:t>Used to solve combinatorial optimization problems </a:t>
            </a:r>
          </a:p>
          <a:p>
            <a:pPr marL="514350" indent="-285750">
              <a:buFont typeface="Wingdings" panose="05000000000000000000" pitchFamily="2" charset="2"/>
              <a:buChar char="§"/>
            </a:pPr>
            <a:r>
              <a:rPr lang="en" sz="2400" dirty="0">
                <a:solidFill>
                  <a:schemeClr val="tx1"/>
                </a:solidFill>
                <a:latin typeface="Times New Roman" panose="02020603050405020304" pitchFamily="18" charset="0"/>
                <a:cs typeface="Times New Roman" panose="02020603050405020304" pitchFamily="18" charset="0"/>
              </a:rPr>
              <a:t>Recently modified to solve continuous optimization problems</a:t>
            </a:r>
          </a:p>
          <a:p>
            <a:pPr lvl="0">
              <a:spcBef>
                <a:spcPts val="0"/>
              </a:spcBef>
              <a:buNone/>
            </a:pPr>
            <a:endParaRPr sz="2400" dirty="0">
              <a:solidFill>
                <a:schemeClr val="tx1"/>
              </a:solidFill>
              <a:latin typeface="Times New Roman" panose="02020603050405020304" pitchFamily="18" charset="0"/>
              <a:cs typeface="Times New Roman" panose="02020603050405020304" pitchFamily="18" charset="0"/>
            </a:endParaRPr>
          </a:p>
        </p:txBody>
      </p:sp>
      <p:sp>
        <p:nvSpPr>
          <p:cNvPr id="2" name="Slide Number Placeholder 1"/>
          <p:cNvSpPr>
            <a:spLocks noGrp="1"/>
          </p:cNvSpPr>
          <p:nvPr>
            <p:ph type="sldNum" idx="12"/>
          </p:nvPr>
        </p:nvSpPr>
        <p:spPr/>
        <p:txBody>
          <a:bodyPr/>
          <a:lstStyle/>
          <a:p>
            <a:pPr lvl="0">
              <a:spcBef>
                <a:spcPts val="0"/>
              </a:spcBef>
              <a:buNone/>
            </a:pPr>
            <a:fld id="{00000000-1234-1234-1234-123412341234}" type="slidenum">
              <a:rPr lang="en" smtClean="0"/>
              <a:t>3</a:t>
            </a:fld>
            <a:endParaRPr lang="en" dirty="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81"/>
        <p:cNvGrpSpPr/>
        <p:nvPr/>
      </p:nvGrpSpPr>
      <p:grpSpPr>
        <a:xfrm>
          <a:off x="0" y="0"/>
          <a:ext cx="0" cy="0"/>
          <a:chOff x="0" y="0"/>
          <a:chExt cx="0" cy="0"/>
        </a:xfrm>
      </p:grpSpPr>
      <p:sp>
        <p:nvSpPr>
          <p:cNvPr id="82" name="Shape 82"/>
          <p:cNvSpPr txBox="1">
            <a:spLocks noGrp="1"/>
          </p:cNvSpPr>
          <p:nvPr>
            <p:ph type="title"/>
          </p:nvPr>
        </p:nvSpPr>
        <p:spPr>
          <a:prstGeom prst="rect">
            <a:avLst/>
          </a:prstGeom>
        </p:spPr>
        <p:txBody>
          <a:bodyPr wrap="square" lIns="91425" tIns="91425" rIns="91425" bIns="91425" anchor="t" anchorCtr="0">
            <a:noAutofit/>
          </a:bodyPr>
          <a:lstStyle/>
          <a:p>
            <a:pPr lvl="0" rtl="0">
              <a:spcBef>
                <a:spcPts val="0"/>
              </a:spcBef>
              <a:buNone/>
            </a:pPr>
            <a:r>
              <a:rPr lang="en" sz="4000" b="1" dirty="0">
                <a:solidFill>
                  <a:schemeClr val="tx1"/>
                </a:solidFill>
                <a:latin typeface="Times New Roman" panose="02020603050405020304" pitchFamily="18" charset="0"/>
                <a:cs typeface="Times New Roman" panose="02020603050405020304" pitchFamily="18" charset="0"/>
              </a:rPr>
              <a:t>Background</a:t>
            </a:r>
            <a:r>
              <a:rPr lang="en" dirty="0">
                <a:solidFill>
                  <a:schemeClr val="tx1"/>
                </a:solidFill>
              </a:rPr>
              <a:t>	</a:t>
            </a:r>
          </a:p>
        </p:txBody>
      </p:sp>
      <p:sp>
        <p:nvSpPr>
          <p:cNvPr id="83" name="Shape 83"/>
          <p:cNvSpPr txBox="1">
            <a:spLocks noGrp="1"/>
          </p:cNvSpPr>
          <p:nvPr>
            <p:ph type="body" idx="1"/>
          </p:nvPr>
        </p:nvSpPr>
        <p:spPr>
          <a:xfrm>
            <a:off x="311700" y="1251275"/>
            <a:ext cx="8520600" cy="3350870"/>
          </a:xfrm>
          <a:prstGeom prst="rect">
            <a:avLst/>
          </a:prstGeom>
        </p:spPr>
        <p:txBody>
          <a:bodyPr wrap="square" lIns="91425" tIns="91425" rIns="91425" bIns="91425" anchor="t" anchorCtr="0">
            <a:noAutofit/>
          </a:bodyPr>
          <a:lstStyle/>
          <a:p>
            <a:pPr lvl="0" algn="just" rtl="0">
              <a:spcBef>
                <a:spcPts val="0"/>
              </a:spcBef>
              <a:buNone/>
            </a:pPr>
            <a:r>
              <a:rPr lang="en" sz="2400" b="1" u="sng" dirty="0">
                <a:solidFill>
                  <a:schemeClr val="tx1"/>
                </a:solidFill>
                <a:latin typeface="Times New Roman" panose="02020603050405020304" pitchFamily="18" charset="0"/>
                <a:cs typeface="Times New Roman" panose="02020603050405020304" pitchFamily="18" charset="0"/>
              </a:rPr>
              <a:t>Ant </a:t>
            </a:r>
            <a:r>
              <a:rPr lang="en" sz="2400" b="1" u="sng" dirty="0" smtClean="0">
                <a:solidFill>
                  <a:schemeClr val="tx1"/>
                </a:solidFill>
                <a:latin typeface="Times New Roman" panose="02020603050405020304" pitchFamily="18" charset="0"/>
                <a:cs typeface="Times New Roman" panose="02020603050405020304" pitchFamily="18" charset="0"/>
              </a:rPr>
              <a:t>Based </a:t>
            </a:r>
            <a:r>
              <a:rPr lang="en" sz="2400" b="1" u="sng" dirty="0">
                <a:solidFill>
                  <a:schemeClr val="tx1"/>
                </a:solidFill>
                <a:latin typeface="Times New Roman" panose="02020603050405020304" pitchFamily="18" charset="0"/>
                <a:cs typeface="Times New Roman" panose="02020603050405020304" pitchFamily="18" charset="0"/>
              </a:rPr>
              <a:t>Solution Construction</a:t>
            </a:r>
          </a:p>
          <a:p>
            <a:pPr marL="971550" lvl="1" indent="-285750" algn="just" rtl="0">
              <a:spcBef>
                <a:spcPts val="0"/>
              </a:spcBef>
              <a:buFont typeface="Wingdings" panose="05000000000000000000" pitchFamily="2" charset="2"/>
              <a:buChar char="§"/>
            </a:pPr>
            <a:r>
              <a:rPr lang="en" sz="1600" dirty="0">
                <a:solidFill>
                  <a:schemeClr val="tx1"/>
                </a:solidFill>
                <a:latin typeface="Times New Roman" panose="02020603050405020304" pitchFamily="18" charset="0"/>
                <a:cs typeface="Times New Roman" panose="02020603050405020304" pitchFamily="18" charset="0"/>
              </a:rPr>
              <a:t>Constructs solution from sequences of solution components</a:t>
            </a:r>
          </a:p>
          <a:p>
            <a:pPr marL="971550" lvl="1" indent="-285750" algn="just" rtl="0">
              <a:spcBef>
                <a:spcPts val="0"/>
              </a:spcBef>
              <a:buFont typeface="Wingdings" panose="05000000000000000000" pitchFamily="2" charset="2"/>
              <a:buChar char="§"/>
            </a:pPr>
            <a:r>
              <a:rPr lang="en" sz="1600" dirty="0">
                <a:solidFill>
                  <a:schemeClr val="tx1"/>
                </a:solidFill>
                <a:latin typeface="Times New Roman" panose="02020603050405020304" pitchFamily="18" charset="0"/>
                <a:cs typeface="Times New Roman" panose="02020603050405020304" pitchFamily="18" charset="0"/>
              </a:rPr>
              <a:t>Solution component is chosen probabilistically at each construction step</a:t>
            </a:r>
          </a:p>
          <a:p>
            <a:pPr marL="971550" lvl="1" indent="-285750" algn="just" rtl="0">
              <a:spcBef>
                <a:spcPts val="0"/>
              </a:spcBef>
              <a:buFont typeface="Wingdings" panose="05000000000000000000" pitchFamily="2" charset="2"/>
              <a:buChar char="§"/>
            </a:pPr>
            <a:r>
              <a:rPr lang="en" sz="1600" dirty="0">
                <a:solidFill>
                  <a:schemeClr val="tx1"/>
                </a:solidFill>
                <a:latin typeface="Times New Roman" panose="02020603050405020304" pitchFamily="18" charset="0"/>
                <a:cs typeface="Times New Roman" panose="02020603050405020304" pitchFamily="18" charset="0"/>
              </a:rPr>
              <a:t>Heuristic value and a pheromone is associated with each solution component </a:t>
            </a:r>
          </a:p>
          <a:p>
            <a:pPr marL="0" lvl="0" indent="0" algn="just" rtl="0">
              <a:spcBef>
                <a:spcPts val="0"/>
              </a:spcBef>
              <a:buNone/>
            </a:pPr>
            <a:r>
              <a:rPr lang="en" sz="2400" b="1" u="sng" dirty="0">
                <a:solidFill>
                  <a:schemeClr val="tx1"/>
                </a:solidFill>
                <a:latin typeface="Times New Roman" panose="02020603050405020304" pitchFamily="18" charset="0"/>
                <a:cs typeface="Times New Roman" panose="02020603050405020304" pitchFamily="18" charset="0"/>
              </a:rPr>
              <a:t>Pheromone Update</a:t>
            </a:r>
          </a:p>
          <a:p>
            <a:pPr marL="971550" marR="0" lvl="1" indent="-285750" algn="just">
              <a:buFont typeface="Wingdings" panose="05000000000000000000" pitchFamily="2" charset="2"/>
              <a:buChar char="§"/>
            </a:pPr>
            <a:r>
              <a:rPr lang="en" sz="1600" dirty="0">
                <a:solidFill>
                  <a:schemeClr val="tx1"/>
                </a:solidFill>
                <a:latin typeface="Times New Roman" panose="02020603050405020304" pitchFamily="18" charset="0"/>
                <a:cs typeface="Times New Roman" panose="02020603050405020304" pitchFamily="18" charset="0"/>
              </a:rPr>
              <a:t>Increase pheromone associated with good solutions</a:t>
            </a:r>
          </a:p>
          <a:p>
            <a:pPr marL="971550" marR="0" lvl="1" indent="-285750" algn="just">
              <a:buFont typeface="Wingdings" panose="05000000000000000000" pitchFamily="2" charset="2"/>
              <a:buChar char="§"/>
            </a:pPr>
            <a:r>
              <a:rPr lang="en" sz="1600" dirty="0">
                <a:solidFill>
                  <a:schemeClr val="tx1"/>
                </a:solidFill>
                <a:latin typeface="Times New Roman" panose="02020603050405020304" pitchFamily="18" charset="0"/>
                <a:cs typeface="Times New Roman" panose="02020603050405020304" pitchFamily="18" charset="0"/>
              </a:rPr>
              <a:t>Decrease pheromone associated with bad solutions</a:t>
            </a:r>
          </a:p>
          <a:p>
            <a:pPr marL="0" marR="0" lvl="0" indent="0" algn="just" rtl="0">
              <a:lnSpc>
                <a:spcPct val="115000"/>
              </a:lnSpc>
              <a:spcBef>
                <a:spcPts val="0"/>
              </a:spcBef>
              <a:spcAft>
                <a:spcPts val="1600"/>
              </a:spcAft>
              <a:buNone/>
            </a:pPr>
            <a:r>
              <a:rPr lang="en" sz="2400" b="1" u="sng" dirty="0">
                <a:solidFill>
                  <a:schemeClr val="tx1"/>
                </a:solidFill>
                <a:latin typeface="Times New Roman" panose="02020603050405020304" pitchFamily="18" charset="0"/>
                <a:cs typeface="Times New Roman" panose="02020603050405020304" pitchFamily="18" charset="0"/>
              </a:rPr>
              <a:t>Algorithm </a:t>
            </a:r>
            <a:r>
              <a:rPr lang="en" sz="2400" b="1" u="sng" dirty="0" smtClean="0">
                <a:solidFill>
                  <a:schemeClr val="tx1"/>
                </a:solidFill>
                <a:latin typeface="Times New Roman" panose="02020603050405020304" pitchFamily="18" charset="0"/>
                <a:cs typeface="Times New Roman" panose="02020603050405020304" pitchFamily="18" charset="0"/>
              </a:rPr>
              <a:t>Update </a:t>
            </a:r>
            <a:r>
              <a:rPr lang="en" sz="2400" b="1" u="sng" dirty="0">
                <a:solidFill>
                  <a:schemeClr val="tx1"/>
                </a:solidFill>
                <a:latin typeface="Times New Roman" panose="02020603050405020304" pitchFamily="18" charset="0"/>
                <a:cs typeface="Times New Roman" panose="02020603050405020304" pitchFamily="18" charset="0"/>
              </a:rPr>
              <a:t>P</a:t>
            </a:r>
            <a:r>
              <a:rPr lang="en" sz="2400" b="1" u="sng" dirty="0" smtClean="0">
                <a:solidFill>
                  <a:schemeClr val="tx1"/>
                </a:solidFill>
                <a:latin typeface="Times New Roman" panose="02020603050405020304" pitchFamily="18" charset="0"/>
                <a:cs typeface="Times New Roman" panose="02020603050405020304" pitchFamily="18" charset="0"/>
              </a:rPr>
              <a:t>heromone </a:t>
            </a:r>
            <a:r>
              <a:rPr lang="en" sz="2400" b="1" u="sng" dirty="0">
                <a:solidFill>
                  <a:schemeClr val="tx1"/>
                </a:solidFill>
                <a:latin typeface="Times New Roman" panose="02020603050405020304" pitchFamily="18" charset="0"/>
                <a:cs typeface="Times New Roman" panose="02020603050405020304" pitchFamily="18" charset="0"/>
              </a:rPr>
              <a:t>E</a:t>
            </a:r>
            <a:r>
              <a:rPr lang="en" sz="2400" b="1" u="sng" dirty="0" smtClean="0">
                <a:solidFill>
                  <a:schemeClr val="tx1"/>
                </a:solidFill>
                <a:latin typeface="Times New Roman" panose="02020603050405020304" pitchFamily="18" charset="0"/>
                <a:cs typeface="Times New Roman" panose="02020603050405020304" pitchFamily="18" charset="0"/>
              </a:rPr>
              <a:t>ither </a:t>
            </a:r>
            <a:r>
              <a:rPr lang="en" sz="2400" b="1" u="sng" dirty="0">
                <a:solidFill>
                  <a:schemeClr val="tx1"/>
                </a:solidFill>
                <a:latin typeface="Times New Roman" panose="02020603050405020304" pitchFamily="18" charset="0"/>
                <a:cs typeface="Times New Roman" panose="02020603050405020304" pitchFamily="18" charset="0"/>
              </a:rPr>
              <a:t>U</a:t>
            </a:r>
            <a:r>
              <a:rPr lang="en" sz="2400" b="1" u="sng" dirty="0" smtClean="0">
                <a:solidFill>
                  <a:schemeClr val="tx1"/>
                </a:solidFill>
                <a:latin typeface="Times New Roman" panose="02020603050405020304" pitchFamily="18" charset="0"/>
                <a:cs typeface="Times New Roman" panose="02020603050405020304" pitchFamily="18" charset="0"/>
              </a:rPr>
              <a:t>sing </a:t>
            </a:r>
          </a:p>
          <a:p>
            <a:pPr marL="971550" marR="0" lvl="1" indent="-285750" algn="just">
              <a:buFont typeface="Wingdings" panose="05000000000000000000" pitchFamily="2" charset="2"/>
              <a:buChar char="§"/>
            </a:pPr>
            <a:r>
              <a:rPr lang="en" sz="1600" dirty="0">
                <a:solidFill>
                  <a:schemeClr val="tx1"/>
                </a:solidFill>
                <a:latin typeface="Times New Roman" panose="02020603050405020304" pitchFamily="18" charset="0"/>
                <a:cs typeface="Times New Roman" panose="02020603050405020304" pitchFamily="18" charset="0"/>
              </a:rPr>
              <a:t>Iteration best solution</a:t>
            </a:r>
          </a:p>
          <a:p>
            <a:pPr marL="971550" marR="0" lvl="1" indent="-285750" algn="just">
              <a:buFont typeface="Wingdings" panose="05000000000000000000" pitchFamily="2" charset="2"/>
              <a:buChar char="§"/>
            </a:pPr>
            <a:r>
              <a:rPr lang="en" sz="1600" dirty="0">
                <a:solidFill>
                  <a:schemeClr val="tx1"/>
                </a:solidFill>
                <a:latin typeface="Times New Roman" panose="02020603050405020304" pitchFamily="18" charset="0"/>
                <a:cs typeface="Times New Roman" panose="02020603050405020304" pitchFamily="18" charset="0"/>
              </a:rPr>
              <a:t>Best so far solution</a:t>
            </a:r>
          </a:p>
          <a:p>
            <a:pPr lvl="0" algn="just" rtl="0">
              <a:spcBef>
                <a:spcPts val="0"/>
              </a:spcBef>
              <a:buNone/>
            </a:pPr>
            <a:endParaRPr dirty="0">
              <a:solidFill>
                <a:schemeClr val="tx1"/>
              </a:solidFill>
              <a:latin typeface="Times New Roman" panose="02020603050405020304" pitchFamily="18" charset="0"/>
              <a:cs typeface="Times New Roman" panose="02020603050405020304" pitchFamily="18" charset="0"/>
            </a:endParaRPr>
          </a:p>
          <a:p>
            <a:pPr marL="0" lvl="0" indent="0" algn="just" rtl="0">
              <a:spcBef>
                <a:spcPts val="0"/>
              </a:spcBef>
              <a:buNone/>
            </a:pPr>
            <a:endParaRPr dirty="0">
              <a:solidFill>
                <a:schemeClr val="tx1"/>
              </a:solidFill>
              <a:latin typeface="Times New Roman" panose="02020603050405020304" pitchFamily="18" charset="0"/>
              <a:cs typeface="Times New Roman" panose="02020603050405020304" pitchFamily="18" charset="0"/>
            </a:endParaRPr>
          </a:p>
          <a:p>
            <a:pPr marL="0" lvl="0" indent="0" algn="just" rtl="0">
              <a:spcBef>
                <a:spcPts val="0"/>
              </a:spcBef>
              <a:buNone/>
            </a:pPr>
            <a:endParaRPr sz="1400" dirty="0">
              <a:solidFill>
                <a:schemeClr val="tx1"/>
              </a:solidFill>
              <a:latin typeface="Times New Roman" panose="02020603050405020304" pitchFamily="18" charset="0"/>
              <a:cs typeface="Times New Roman" panose="02020603050405020304" pitchFamily="18" charset="0"/>
            </a:endParaRPr>
          </a:p>
        </p:txBody>
      </p:sp>
      <p:sp>
        <p:nvSpPr>
          <p:cNvPr id="2" name="Slide Number Placeholder 1"/>
          <p:cNvSpPr>
            <a:spLocks noGrp="1"/>
          </p:cNvSpPr>
          <p:nvPr>
            <p:ph type="sldNum" idx="12"/>
          </p:nvPr>
        </p:nvSpPr>
        <p:spPr/>
        <p:txBody>
          <a:bodyPr/>
          <a:lstStyle/>
          <a:p>
            <a:pPr lvl="0">
              <a:spcBef>
                <a:spcPts val="0"/>
              </a:spcBef>
              <a:buNone/>
            </a:pPr>
            <a:fld id="{00000000-1234-1234-1234-123412341234}" type="slidenum">
              <a:rPr lang="en" smtClean="0"/>
              <a:t>4</a:t>
            </a:fld>
            <a:endParaRPr lang="en" dirty="0"/>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81"/>
        <p:cNvGrpSpPr/>
        <p:nvPr/>
      </p:nvGrpSpPr>
      <p:grpSpPr>
        <a:xfrm>
          <a:off x="0" y="0"/>
          <a:ext cx="0" cy="0"/>
          <a:chOff x="0" y="0"/>
          <a:chExt cx="0" cy="0"/>
        </a:xfrm>
      </p:grpSpPr>
      <p:sp>
        <p:nvSpPr>
          <p:cNvPr id="82" name="Shape 82"/>
          <p:cNvSpPr txBox="1">
            <a:spLocks noGrp="1"/>
          </p:cNvSpPr>
          <p:nvPr>
            <p:ph type="title"/>
          </p:nvPr>
        </p:nvSpPr>
        <p:spPr>
          <a:prstGeom prst="rect">
            <a:avLst/>
          </a:prstGeom>
        </p:spPr>
        <p:txBody>
          <a:bodyPr wrap="square" lIns="91425" tIns="91425" rIns="91425" bIns="91425" anchor="t" anchorCtr="0">
            <a:noAutofit/>
          </a:bodyPr>
          <a:lstStyle/>
          <a:p>
            <a:pPr lvl="0" rtl="0">
              <a:spcBef>
                <a:spcPts val="0"/>
              </a:spcBef>
              <a:buNone/>
            </a:pPr>
            <a:r>
              <a:rPr lang="en" sz="4000" b="1" dirty="0">
                <a:solidFill>
                  <a:schemeClr val="tx1"/>
                </a:solidFill>
                <a:latin typeface="Times New Roman" panose="02020603050405020304" pitchFamily="18" charset="0"/>
                <a:cs typeface="Times New Roman" panose="02020603050405020304" pitchFamily="18" charset="0"/>
              </a:rPr>
              <a:t>Background</a:t>
            </a:r>
            <a:r>
              <a:rPr lang="en" dirty="0">
                <a:solidFill>
                  <a:schemeClr val="tx1"/>
                </a:solidFill>
              </a:rPr>
              <a:t>	</a:t>
            </a:r>
          </a:p>
        </p:txBody>
      </p:sp>
      <p:sp>
        <p:nvSpPr>
          <p:cNvPr id="83" name="Shape 83"/>
          <p:cNvSpPr txBox="1">
            <a:spLocks noGrp="1"/>
          </p:cNvSpPr>
          <p:nvPr>
            <p:ph type="body" idx="1"/>
          </p:nvPr>
        </p:nvSpPr>
        <p:spPr>
          <a:xfrm>
            <a:off x="311700" y="1534689"/>
            <a:ext cx="8520600" cy="3350870"/>
          </a:xfrm>
          <a:prstGeom prst="rect">
            <a:avLst/>
          </a:prstGeom>
        </p:spPr>
        <p:txBody>
          <a:bodyPr wrap="square" lIns="91425" tIns="91425" rIns="91425" bIns="91425" anchor="t" anchorCtr="0">
            <a:noAutofit/>
          </a:bodyPr>
          <a:lstStyle/>
          <a:p>
            <a:pPr lvl="0" algn="just">
              <a:buNone/>
            </a:pPr>
            <a:r>
              <a:rPr lang="en-US" sz="2400" dirty="0" smtClean="0">
                <a:solidFill>
                  <a:schemeClr val="tx1"/>
                </a:solidFill>
                <a:latin typeface="Times New Roman" panose="02020603050405020304" pitchFamily="18" charset="0"/>
                <a:cs typeface="Times New Roman" panose="02020603050405020304" pitchFamily="18" charset="0"/>
              </a:rPr>
              <a:t>To tackle multi-modal optimization problems, the most adopted method is known as niching and speciation.</a:t>
            </a:r>
          </a:p>
          <a:p>
            <a:pPr lvl="0" algn="just">
              <a:buNone/>
            </a:pPr>
            <a:endParaRPr lang="en-US" sz="2400" b="1" u="sng" dirty="0">
              <a:solidFill>
                <a:schemeClr val="tx1"/>
              </a:solidFill>
              <a:latin typeface="Times New Roman" panose="02020603050405020304" pitchFamily="18" charset="0"/>
              <a:cs typeface="Times New Roman" panose="02020603050405020304" pitchFamily="18" charset="0"/>
            </a:endParaRPr>
          </a:p>
          <a:p>
            <a:pPr lvl="0" algn="just">
              <a:buNone/>
            </a:pPr>
            <a:r>
              <a:rPr lang="en-US" sz="2400" b="1" u="sng" dirty="0" smtClean="0">
                <a:solidFill>
                  <a:schemeClr val="tx1"/>
                </a:solidFill>
                <a:latin typeface="Times New Roman" panose="02020603050405020304" pitchFamily="18" charset="0"/>
                <a:cs typeface="Times New Roman" panose="02020603050405020304" pitchFamily="18" charset="0"/>
              </a:rPr>
              <a:t>Niching </a:t>
            </a:r>
            <a:r>
              <a:rPr lang="en-US" sz="2400" b="1" u="sng" dirty="0">
                <a:solidFill>
                  <a:schemeClr val="tx1"/>
                </a:solidFill>
                <a:latin typeface="Times New Roman" panose="02020603050405020304" pitchFamily="18" charset="0"/>
                <a:cs typeface="Times New Roman" panose="02020603050405020304" pitchFamily="18" charset="0"/>
              </a:rPr>
              <a:t>and Speciation</a:t>
            </a:r>
            <a:endParaRPr lang="en" sz="2400" b="1" u="sng" dirty="0">
              <a:solidFill>
                <a:schemeClr val="tx1"/>
              </a:solidFill>
              <a:latin typeface="Times New Roman" panose="02020603050405020304" pitchFamily="18" charset="0"/>
              <a:cs typeface="Times New Roman" panose="02020603050405020304" pitchFamily="18" charset="0"/>
            </a:endParaRPr>
          </a:p>
          <a:p>
            <a:pPr marL="971550" lvl="1" indent="-285750" algn="just">
              <a:buFont typeface="Wingdings" panose="05000000000000000000" pitchFamily="2" charset="2"/>
              <a:buChar char="§"/>
            </a:pPr>
            <a:r>
              <a:rPr lang="en-US" sz="1600" dirty="0" smtClean="0">
                <a:solidFill>
                  <a:schemeClr val="tx1"/>
                </a:solidFill>
                <a:latin typeface="Times New Roman" panose="02020603050405020304" pitchFamily="18" charset="0"/>
                <a:cs typeface="Times New Roman" panose="02020603050405020304" pitchFamily="18" charset="0"/>
              </a:rPr>
              <a:t>Niching </a:t>
            </a:r>
            <a:r>
              <a:rPr lang="en-US" sz="1600" dirty="0">
                <a:solidFill>
                  <a:schemeClr val="tx1"/>
                </a:solidFill>
                <a:latin typeface="Times New Roman" panose="02020603050405020304" pitchFamily="18" charset="0"/>
                <a:cs typeface="Times New Roman" panose="02020603050405020304" pitchFamily="18" charset="0"/>
              </a:rPr>
              <a:t>is basically the division of an environment</a:t>
            </a:r>
            <a:endParaRPr lang="en" sz="1600" dirty="0">
              <a:solidFill>
                <a:schemeClr val="tx1"/>
              </a:solidFill>
              <a:latin typeface="Times New Roman" panose="02020603050405020304" pitchFamily="18" charset="0"/>
              <a:cs typeface="Times New Roman" panose="02020603050405020304" pitchFamily="18" charset="0"/>
            </a:endParaRPr>
          </a:p>
          <a:p>
            <a:pPr marL="971550" lvl="1" indent="-285750" algn="just">
              <a:buFont typeface="Wingdings" panose="05000000000000000000" pitchFamily="2" charset="2"/>
              <a:buChar char="§"/>
            </a:pPr>
            <a:r>
              <a:rPr lang="en-US" sz="1600" dirty="0" smtClean="0">
                <a:solidFill>
                  <a:schemeClr val="tx1"/>
                </a:solidFill>
                <a:latin typeface="Times New Roman" panose="02020603050405020304" pitchFamily="18" charset="0"/>
                <a:cs typeface="Times New Roman" panose="02020603050405020304" pitchFamily="18" charset="0"/>
              </a:rPr>
              <a:t>Subpopulation maintained </a:t>
            </a:r>
            <a:r>
              <a:rPr lang="en-US" sz="1600" dirty="0">
                <a:solidFill>
                  <a:schemeClr val="tx1"/>
                </a:solidFill>
                <a:latin typeface="Times New Roman" panose="02020603050405020304" pitchFamily="18" charset="0"/>
                <a:cs typeface="Times New Roman" panose="02020603050405020304" pitchFamily="18" charset="0"/>
              </a:rPr>
              <a:t>in a specific niche is called </a:t>
            </a:r>
            <a:r>
              <a:rPr lang="en-US" sz="1600" dirty="0" smtClean="0">
                <a:solidFill>
                  <a:schemeClr val="tx1"/>
                </a:solidFill>
                <a:latin typeface="Times New Roman" panose="02020603050405020304" pitchFamily="18" charset="0"/>
                <a:cs typeface="Times New Roman" panose="02020603050405020304" pitchFamily="18" charset="0"/>
              </a:rPr>
              <a:t>species</a:t>
            </a:r>
            <a:endParaRPr lang="en" sz="1600" dirty="0" smtClean="0">
              <a:solidFill>
                <a:schemeClr val="tx1"/>
              </a:solidFill>
              <a:latin typeface="Times New Roman" panose="02020603050405020304" pitchFamily="18" charset="0"/>
              <a:cs typeface="Times New Roman" panose="02020603050405020304" pitchFamily="18" charset="0"/>
            </a:endParaRPr>
          </a:p>
          <a:p>
            <a:pPr marL="971550" lvl="1" indent="-285750" algn="just">
              <a:buFont typeface="Wingdings" panose="05000000000000000000" pitchFamily="2" charset="2"/>
              <a:buChar char="§"/>
            </a:pPr>
            <a:r>
              <a:rPr lang="en-US" sz="1600" dirty="0">
                <a:solidFill>
                  <a:schemeClr val="tx1"/>
                </a:solidFill>
                <a:latin typeface="Times New Roman" panose="02020603050405020304" pitchFamily="18" charset="0"/>
                <a:cs typeface="Times New Roman" panose="02020603050405020304" pitchFamily="18" charset="0"/>
              </a:rPr>
              <a:t>W</a:t>
            </a:r>
            <a:r>
              <a:rPr lang="en-US" sz="1600" dirty="0" smtClean="0">
                <a:solidFill>
                  <a:schemeClr val="tx1"/>
                </a:solidFill>
                <a:latin typeface="Times New Roman" panose="02020603050405020304" pitchFamily="18" charset="0"/>
                <a:cs typeface="Times New Roman" panose="02020603050405020304" pitchFamily="18" charset="0"/>
              </a:rPr>
              <a:t>ithin </a:t>
            </a:r>
            <a:r>
              <a:rPr lang="en-US" sz="1600" dirty="0">
                <a:solidFill>
                  <a:schemeClr val="tx1"/>
                </a:solidFill>
                <a:latin typeface="Times New Roman" panose="02020603050405020304" pitchFamily="18" charset="0"/>
                <a:cs typeface="Times New Roman" panose="02020603050405020304" pitchFamily="18" charset="0"/>
              </a:rPr>
              <a:t>the bounds </a:t>
            </a:r>
            <a:r>
              <a:rPr lang="en-US" sz="1600" dirty="0" smtClean="0">
                <a:solidFill>
                  <a:schemeClr val="tx1"/>
                </a:solidFill>
                <a:latin typeface="Times New Roman" panose="02020603050405020304" pitchFamily="18" charset="0"/>
                <a:cs typeface="Times New Roman" panose="02020603050405020304" pitchFamily="18" charset="0"/>
              </a:rPr>
              <a:t>of the niche </a:t>
            </a:r>
            <a:r>
              <a:rPr lang="en-US" sz="1600" dirty="0">
                <a:solidFill>
                  <a:schemeClr val="tx1"/>
                </a:solidFill>
                <a:latin typeface="Times New Roman" panose="02020603050405020304" pitchFamily="18" charset="0"/>
                <a:cs typeface="Times New Roman" panose="02020603050405020304" pitchFamily="18" charset="0"/>
              </a:rPr>
              <a:t>an optimal solution </a:t>
            </a:r>
            <a:r>
              <a:rPr lang="en-US" sz="1600" dirty="0" smtClean="0">
                <a:solidFill>
                  <a:schemeClr val="tx1"/>
                </a:solidFill>
                <a:latin typeface="Times New Roman" panose="02020603050405020304" pitchFamily="18" charset="0"/>
                <a:cs typeface="Times New Roman" panose="02020603050405020304" pitchFamily="18" charset="0"/>
              </a:rPr>
              <a:t>resides</a:t>
            </a:r>
          </a:p>
          <a:p>
            <a:pPr marL="971550" lvl="1" indent="-285750" algn="just">
              <a:buFont typeface="Wingdings" panose="05000000000000000000" pitchFamily="2" charset="2"/>
              <a:buChar char="§"/>
            </a:pPr>
            <a:r>
              <a:rPr lang="en-US" sz="1600" dirty="0" smtClean="0">
                <a:solidFill>
                  <a:schemeClr val="tx1"/>
                </a:solidFill>
                <a:latin typeface="Times New Roman" panose="02020603050405020304" pitchFamily="18" charset="0"/>
                <a:cs typeface="Times New Roman" panose="02020603050405020304" pitchFamily="18" charset="0"/>
              </a:rPr>
              <a:t>Species </a:t>
            </a:r>
            <a:r>
              <a:rPr lang="en-US" sz="1600" dirty="0">
                <a:solidFill>
                  <a:schemeClr val="tx1"/>
                </a:solidFill>
                <a:latin typeface="Times New Roman" panose="02020603050405020304" pitchFamily="18" charset="0"/>
                <a:cs typeface="Times New Roman" panose="02020603050405020304" pitchFamily="18" charset="0"/>
              </a:rPr>
              <a:t>is the subpopulation around this optimal solution</a:t>
            </a:r>
            <a:endParaRPr lang="en" sz="1600" dirty="0" smtClean="0">
              <a:solidFill>
                <a:schemeClr val="tx1"/>
              </a:solidFill>
              <a:latin typeface="Times New Roman" panose="02020603050405020304" pitchFamily="18" charset="0"/>
              <a:cs typeface="Times New Roman" panose="02020603050405020304" pitchFamily="18" charset="0"/>
            </a:endParaRPr>
          </a:p>
          <a:p>
            <a:pPr lvl="0" algn="just" rtl="0">
              <a:spcBef>
                <a:spcPts val="0"/>
              </a:spcBef>
              <a:buNone/>
            </a:pPr>
            <a:endParaRPr dirty="0">
              <a:solidFill>
                <a:schemeClr val="tx1"/>
              </a:solidFill>
              <a:latin typeface="Times New Roman" panose="02020603050405020304" pitchFamily="18" charset="0"/>
              <a:cs typeface="Times New Roman" panose="02020603050405020304" pitchFamily="18" charset="0"/>
            </a:endParaRPr>
          </a:p>
          <a:p>
            <a:pPr marL="0" lvl="0" indent="0" algn="just" rtl="0">
              <a:spcBef>
                <a:spcPts val="0"/>
              </a:spcBef>
              <a:buNone/>
            </a:pPr>
            <a:endParaRPr dirty="0">
              <a:solidFill>
                <a:schemeClr val="tx1"/>
              </a:solidFill>
              <a:latin typeface="Times New Roman" panose="02020603050405020304" pitchFamily="18" charset="0"/>
              <a:cs typeface="Times New Roman" panose="02020603050405020304" pitchFamily="18" charset="0"/>
            </a:endParaRPr>
          </a:p>
          <a:p>
            <a:pPr marL="0" lvl="0" indent="0" algn="just" rtl="0">
              <a:spcBef>
                <a:spcPts val="0"/>
              </a:spcBef>
              <a:buNone/>
            </a:pPr>
            <a:endParaRPr sz="1400" dirty="0">
              <a:solidFill>
                <a:schemeClr val="tx1"/>
              </a:solidFill>
              <a:latin typeface="Times New Roman" panose="02020603050405020304" pitchFamily="18" charset="0"/>
              <a:cs typeface="Times New Roman" panose="02020603050405020304" pitchFamily="18" charset="0"/>
            </a:endParaRPr>
          </a:p>
        </p:txBody>
      </p:sp>
      <p:sp>
        <p:nvSpPr>
          <p:cNvPr id="2" name="Slide Number Placeholder 1"/>
          <p:cNvSpPr>
            <a:spLocks noGrp="1"/>
          </p:cNvSpPr>
          <p:nvPr>
            <p:ph type="sldNum" idx="12"/>
          </p:nvPr>
        </p:nvSpPr>
        <p:spPr/>
        <p:txBody>
          <a:bodyPr/>
          <a:lstStyle/>
          <a:p>
            <a:pPr lvl="0">
              <a:spcBef>
                <a:spcPts val="0"/>
              </a:spcBef>
              <a:buNone/>
            </a:pPr>
            <a:fld id="{00000000-1234-1234-1234-123412341234}" type="slidenum">
              <a:rPr lang="en" smtClean="0"/>
              <a:t>5</a:t>
            </a:fld>
            <a:endParaRPr lang="en" dirty="0"/>
          </a:p>
        </p:txBody>
      </p:sp>
    </p:spTree>
    <p:extLst>
      <p:ext uri="{BB962C8B-B14F-4D97-AF65-F5344CB8AC3E}">
        <p14:creationId xmlns:p14="http://schemas.microsoft.com/office/powerpoint/2010/main" val="2960493862"/>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p:sp>
        <p:nvSpPr>
          <p:cNvPr id="88" name="Shape 88"/>
          <p:cNvSpPr txBox="1">
            <a:spLocks noGrp="1"/>
          </p:cNvSpPr>
          <p:nvPr>
            <p:ph type="title"/>
          </p:nvPr>
        </p:nvSpPr>
        <p:spPr>
          <a:prstGeom prst="rect">
            <a:avLst/>
          </a:prstGeom>
        </p:spPr>
        <p:txBody>
          <a:bodyPr wrap="square" lIns="91425" tIns="91425" rIns="91425" bIns="91425" anchor="t" anchorCtr="0">
            <a:noAutofit/>
          </a:bodyPr>
          <a:lstStyle/>
          <a:p>
            <a:pPr lvl="0">
              <a:spcBef>
                <a:spcPts val="0"/>
              </a:spcBef>
              <a:buNone/>
            </a:pPr>
            <a:r>
              <a:rPr lang="en" sz="4000" b="1" dirty="0">
                <a:solidFill>
                  <a:schemeClr val="tx1"/>
                </a:solidFill>
                <a:latin typeface="Times New Roman" panose="02020603050405020304" pitchFamily="18" charset="0"/>
                <a:cs typeface="Times New Roman" panose="02020603050405020304" pitchFamily="18" charset="0"/>
              </a:rPr>
              <a:t>Problem Statement</a:t>
            </a:r>
          </a:p>
        </p:txBody>
      </p:sp>
      <p:sp>
        <p:nvSpPr>
          <p:cNvPr id="89" name="Shape 89"/>
          <p:cNvSpPr txBox="1">
            <a:spLocks noGrp="1"/>
          </p:cNvSpPr>
          <p:nvPr>
            <p:ph type="body" idx="1"/>
          </p:nvPr>
        </p:nvSpPr>
        <p:spPr>
          <a:xfrm>
            <a:off x="311700" y="1353959"/>
            <a:ext cx="8520600" cy="3334800"/>
          </a:xfrm>
          <a:prstGeom prst="rect">
            <a:avLst/>
          </a:prstGeom>
        </p:spPr>
        <p:txBody>
          <a:bodyPr wrap="square" lIns="91425" tIns="91425" rIns="91425" bIns="91425" anchor="t" anchorCtr="0">
            <a:noAutofit/>
          </a:bodyPr>
          <a:lstStyle/>
          <a:p>
            <a:pPr algn="just"/>
            <a:r>
              <a:rPr lang="en-US" sz="2400" dirty="0"/>
              <a:t>The purpose of this research is to modify the ant colony optimization algorithm </a:t>
            </a:r>
            <a:r>
              <a:rPr lang="en-US" sz="2400" dirty="0" smtClean="0"/>
              <a:t>to tackle </a:t>
            </a:r>
            <a:r>
              <a:rPr lang="en-US" sz="2400" dirty="0"/>
              <a:t>mixed-variable multi-modal optimization problems. </a:t>
            </a:r>
            <a:endParaRPr sz="2250" dirty="0">
              <a:solidFill>
                <a:schemeClr val="tx1"/>
              </a:solidFill>
              <a:latin typeface="Times New Roman" panose="02020603050405020304" pitchFamily="18" charset="0"/>
              <a:cs typeface="Times New Roman" panose="02020603050405020304" pitchFamily="18" charset="0"/>
            </a:endParaRPr>
          </a:p>
        </p:txBody>
      </p:sp>
      <p:sp>
        <p:nvSpPr>
          <p:cNvPr id="2" name="Slide Number Placeholder 1"/>
          <p:cNvSpPr>
            <a:spLocks noGrp="1"/>
          </p:cNvSpPr>
          <p:nvPr>
            <p:ph type="sldNum" idx="12"/>
          </p:nvPr>
        </p:nvSpPr>
        <p:spPr/>
        <p:txBody>
          <a:bodyPr/>
          <a:lstStyle/>
          <a:p>
            <a:pPr lvl="0">
              <a:spcBef>
                <a:spcPts val="0"/>
              </a:spcBef>
              <a:buNone/>
            </a:pPr>
            <a:fld id="{00000000-1234-1234-1234-123412341234}" type="slidenum">
              <a:rPr lang="en" smtClean="0"/>
              <a:t>6</a:t>
            </a:fld>
            <a:endParaRPr lang="en" dirty="0"/>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sp>
        <p:nvSpPr>
          <p:cNvPr id="94" name="Shape 94"/>
          <p:cNvSpPr txBox="1">
            <a:spLocks noGrp="1"/>
          </p:cNvSpPr>
          <p:nvPr>
            <p:ph type="title"/>
          </p:nvPr>
        </p:nvSpPr>
        <p:spPr>
          <a:prstGeom prst="rect">
            <a:avLst/>
          </a:prstGeom>
        </p:spPr>
        <p:txBody>
          <a:bodyPr wrap="square" lIns="91425" tIns="91425" rIns="91425" bIns="91425" anchor="t" anchorCtr="0">
            <a:noAutofit/>
          </a:bodyPr>
          <a:lstStyle/>
          <a:p>
            <a:r>
              <a:rPr lang="en" sz="4000" b="1" dirty="0">
                <a:solidFill>
                  <a:schemeClr val="tx1"/>
                </a:solidFill>
                <a:latin typeface="Times New Roman" panose="02020603050405020304" pitchFamily="18" charset="0"/>
                <a:cs typeface="Times New Roman" panose="02020603050405020304" pitchFamily="18" charset="0"/>
              </a:rPr>
              <a:t>Motivation</a:t>
            </a:r>
          </a:p>
          <a:p>
            <a:pPr lvl="0">
              <a:spcBef>
                <a:spcPts val="0"/>
              </a:spcBef>
              <a:buNone/>
            </a:pPr>
            <a:endParaRPr dirty="0">
              <a:solidFill>
                <a:schemeClr val="tx1"/>
              </a:solidFill>
            </a:endParaRPr>
          </a:p>
        </p:txBody>
      </p:sp>
      <p:sp>
        <p:nvSpPr>
          <p:cNvPr id="95" name="Shape 95"/>
          <p:cNvSpPr txBox="1">
            <a:spLocks noGrp="1"/>
          </p:cNvSpPr>
          <p:nvPr>
            <p:ph type="body" idx="1"/>
          </p:nvPr>
        </p:nvSpPr>
        <p:spPr>
          <a:xfrm>
            <a:off x="311700" y="1465187"/>
            <a:ext cx="8520600" cy="3334800"/>
          </a:xfrm>
          <a:prstGeom prst="rect">
            <a:avLst/>
          </a:prstGeom>
        </p:spPr>
        <p:txBody>
          <a:bodyPr wrap="square" lIns="91425" tIns="91425" rIns="91425" bIns="91425" anchor="t" anchorCtr="0">
            <a:noAutofit/>
          </a:bodyPr>
          <a:lstStyle/>
          <a:p>
            <a:pPr marL="571500" indent="-342900">
              <a:buFont typeface="Wingdings" panose="05000000000000000000" pitchFamily="2" charset="2"/>
              <a:buChar char="§"/>
            </a:pPr>
            <a:r>
              <a:rPr lang="en" sz="2000" dirty="0">
                <a:solidFill>
                  <a:schemeClr val="tx1"/>
                </a:solidFill>
                <a:latin typeface="Times New Roman" panose="02020603050405020304" pitchFamily="18" charset="0"/>
                <a:cs typeface="Times New Roman" panose="02020603050405020304" pitchFamily="18" charset="0"/>
              </a:rPr>
              <a:t>Multiple optimal solutions with similar performance are in demand </a:t>
            </a:r>
          </a:p>
          <a:p>
            <a:pPr marL="571500" indent="-342900">
              <a:buFont typeface="Wingdings" panose="05000000000000000000" pitchFamily="2" charset="2"/>
              <a:buChar char="§"/>
            </a:pPr>
            <a:r>
              <a:rPr lang="en" sz="2000" dirty="0">
                <a:solidFill>
                  <a:schemeClr val="tx1"/>
                </a:solidFill>
                <a:latin typeface="Times New Roman" panose="02020603050405020304" pitchFamily="18" charset="0"/>
                <a:cs typeface="Times New Roman" panose="02020603050405020304" pitchFamily="18" charset="0"/>
              </a:rPr>
              <a:t>In many practical applications decision makers can have multiple </a:t>
            </a:r>
            <a:r>
              <a:rPr lang="en" sz="2000" dirty="0" smtClean="0">
                <a:solidFill>
                  <a:schemeClr val="tx1"/>
                </a:solidFill>
                <a:latin typeface="Times New Roman" panose="02020603050405020304" pitchFamily="18" charset="0"/>
                <a:cs typeface="Times New Roman" panose="02020603050405020304" pitchFamily="18" charset="0"/>
              </a:rPr>
              <a:t>choices</a:t>
            </a:r>
            <a:endParaRPr lang="en" sz="2000" dirty="0">
              <a:solidFill>
                <a:schemeClr val="tx1"/>
              </a:solidFill>
              <a:latin typeface="Times New Roman" panose="02020603050405020304" pitchFamily="18" charset="0"/>
              <a:cs typeface="Times New Roman" panose="02020603050405020304" pitchFamily="18" charset="0"/>
            </a:endParaRPr>
          </a:p>
          <a:p>
            <a:pPr marL="571500" indent="-342900">
              <a:buFont typeface="Wingdings" panose="05000000000000000000" pitchFamily="2" charset="2"/>
              <a:buChar char="§"/>
            </a:pPr>
            <a:r>
              <a:rPr lang="en" sz="2000" dirty="0">
                <a:solidFill>
                  <a:schemeClr val="tx1"/>
                </a:solidFill>
                <a:latin typeface="Times New Roman" panose="02020603050405020304" pitchFamily="18" charset="0"/>
                <a:cs typeface="Times New Roman" panose="02020603050405020304" pitchFamily="18" charset="0"/>
              </a:rPr>
              <a:t>Existing </a:t>
            </a:r>
            <a:r>
              <a:rPr lang="en" sz="2000" dirty="0" smtClean="0">
                <a:solidFill>
                  <a:schemeClr val="tx1"/>
                </a:solidFill>
                <a:latin typeface="Times New Roman" panose="02020603050405020304" pitchFamily="18" charset="0"/>
                <a:cs typeface="Times New Roman" panose="02020603050405020304" pitchFamily="18" charset="0"/>
              </a:rPr>
              <a:t>algorithms </a:t>
            </a:r>
            <a:r>
              <a:rPr lang="en" sz="2000" dirty="0">
                <a:solidFill>
                  <a:schemeClr val="tx1"/>
                </a:solidFill>
                <a:latin typeface="Times New Roman" panose="02020603050405020304" pitchFamily="18" charset="0"/>
                <a:cs typeface="Times New Roman" panose="02020603050405020304" pitchFamily="18" charset="0"/>
              </a:rPr>
              <a:t>suffer from various drawbacks</a:t>
            </a:r>
          </a:p>
          <a:p>
            <a:pPr marL="1028700" lvl="0" indent="-342900" rtl="0">
              <a:spcBef>
                <a:spcPts val="0"/>
              </a:spcBef>
              <a:buFont typeface="Wingdings" panose="05000000000000000000" pitchFamily="2" charset="2"/>
              <a:buChar char="§"/>
            </a:pPr>
            <a:r>
              <a:rPr lang="en" sz="2000" dirty="0">
                <a:solidFill>
                  <a:schemeClr val="tx1"/>
                </a:solidFill>
                <a:latin typeface="Times New Roman" panose="02020603050405020304" pitchFamily="18" charset="0"/>
                <a:cs typeface="Times New Roman" panose="02020603050405020304" pitchFamily="18" charset="0"/>
              </a:rPr>
              <a:t>Inferior performance on irregular multimodal surfaces</a:t>
            </a:r>
          </a:p>
          <a:p>
            <a:pPr marL="1028700" lvl="0" indent="-342900" rtl="0">
              <a:spcBef>
                <a:spcPts val="0"/>
              </a:spcBef>
              <a:buFont typeface="Wingdings" panose="05000000000000000000" pitchFamily="2" charset="2"/>
              <a:buChar char="§"/>
            </a:pPr>
            <a:r>
              <a:rPr lang="en" sz="2000" dirty="0">
                <a:solidFill>
                  <a:schemeClr val="tx1"/>
                </a:solidFill>
                <a:latin typeface="Times New Roman" panose="02020603050405020304" pitchFamily="18" charset="0"/>
                <a:cs typeface="Times New Roman" panose="02020603050405020304" pitchFamily="18" charset="0"/>
              </a:rPr>
              <a:t>Reliance on particular landscape</a:t>
            </a:r>
          </a:p>
          <a:p>
            <a:pPr marL="1028700" lvl="0" indent="-342900" rtl="0">
              <a:spcBef>
                <a:spcPts val="0"/>
              </a:spcBef>
              <a:buFont typeface="Wingdings" panose="05000000000000000000" pitchFamily="2" charset="2"/>
              <a:buChar char="§"/>
            </a:pPr>
            <a:r>
              <a:rPr lang="en" sz="2000" dirty="0">
                <a:solidFill>
                  <a:schemeClr val="tx1"/>
                </a:solidFill>
                <a:latin typeface="Times New Roman" panose="02020603050405020304" pitchFamily="18" charset="0"/>
                <a:cs typeface="Times New Roman" panose="02020603050405020304" pitchFamily="18" charset="0"/>
              </a:rPr>
              <a:t>Sensitive parameter settings</a:t>
            </a:r>
          </a:p>
          <a:p>
            <a:pPr marL="1028700" lvl="0" indent="-342900">
              <a:spcBef>
                <a:spcPts val="0"/>
              </a:spcBef>
              <a:buFont typeface="Wingdings" panose="05000000000000000000" pitchFamily="2" charset="2"/>
              <a:buChar char="§"/>
            </a:pPr>
            <a:r>
              <a:rPr lang="en" sz="2000" dirty="0">
                <a:solidFill>
                  <a:schemeClr val="tx1"/>
                </a:solidFill>
                <a:latin typeface="Times New Roman" panose="02020603050405020304" pitchFamily="18" charset="0"/>
                <a:cs typeface="Times New Roman" panose="02020603050405020304" pitchFamily="18" charset="0"/>
              </a:rPr>
              <a:t>Loose efficiency when dimensionality of the problem </a:t>
            </a:r>
            <a:r>
              <a:rPr lang="en" sz="2000" dirty="0" smtClean="0">
                <a:solidFill>
                  <a:schemeClr val="tx1"/>
                </a:solidFill>
                <a:latin typeface="Times New Roman" panose="02020603050405020304" pitchFamily="18" charset="0"/>
                <a:cs typeface="Times New Roman" panose="02020603050405020304" pitchFamily="18" charset="0"/>
              </a:rPr>
              <a:t>increases</a:t>
            </a:r>
          </a:p>
          <a:p>
            <a:pPr marL="1028700" lvl="0" indent="-342900">
              <a:buFont typeface="Wingdings" panose="05000000000000000000" pitchFamily="2" charset="2"/>
              <a:buChar char="§"/>
            </a:pPr>
            <a:r>
              <a:rPr lang="en-US" sz="2000" dirty="0">
                <a:solidFill>
                  <a:schemeClr val="tx1"/>
                </a:solidFill>
                <a:latin typeface="Times New Roman" panose="02020603050405020304" pitchFamily="18" charset="0"/>
                <a:cs typeface="Times New Roman" panose="02020603050405020304" pitchFamily="18" charset="0"/>
              </a:rPr>
              <a:t>Cannot tackle mixed variable optimization problems</a:t>
            </a:r>
          </a:p>
        </p:txBody>
      </p:sp>
      <p:sp>
        <p:nvSpPr>
          <p:cNvPr id="2" name="Slide Number Placeholder 1"/>
          <p:cNvSpPr>
            <a:spLocks noGrp="1"/>
          </p:cNvSpPr>
          <p:nvPr>
            <p:ph type="sldNum" idx="12"/>
          </p:nvPr>
        </p:nvSpPr>
        <p:spPr/>
        <p:txBody>
          <a:bodyPr/>
          <a:lstStyle/>
          <a:p>
            <a:pPr lvl="0">
              <a:spcBef>
                <a:spcPts val="0"/>
              </a:spcBef>
              <a:buNone/>
            </a:pPr>
            <a:fld id="{00000000-1234-1234-1234-123412341234}" type="slidenum">
              <a:rPr lang="en" smtClean="0"/>
              <a:t>7</a:t>
            </a:fld>
            <a:endParaRPr lang="en" dirty="0"/>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tx2">
            <a:alpha val="27000"/>
          </a:schemeClr>
        </a:solidFill>
        <a:effectLst/>
      </p:bgPr>
    </p:bg>
    <p:spTree>
      <p:nvGrpSpPr>
        <p:cNvPr id="1" name="Shape 99"/>
        <p:cNvGrpSpPr/>
        <p:nvPr/>
      </p:nvGrpSpPr>
      <p:grpSpPr>
        <a:xfrm>
          <a:off x="0" y="0"/>
          <a:ext cx="0" cy="0"/>
          <a:chOff x="0" y="0"/>
          <a:chExt cx="0" cy="0"/>
        </a:xfrm>
      </p:grpSpPr>
      <p:sp>
        <p:nvSpPr>
          <p:cNvPr id="100" name="Shape 100"/>
          <p:cNvSpPr txBox="1">
            <a:spLocks noGrp="1"/>
          </p:cNvSpPr>
          <p:nvPr>
            <p:ph type="title"/>
          </p:nvPr>
        </p:nvSpPr>
        <p:spPr>
          <a:prstGeom prst="rect">
            <a:avLst/>
          </a:prstGeom>
        </p:spPr>
        <p:txBody>
          <a:bodyPr wrap="square" lIns="91425" tIns="91425" rIns="91425" bIns="91425" anchor="ctr" anchorCtr="0">
            <a:noAutofit/>
          </a:bodyPr>
          <a:lstStyle/>
          <a:p>
            <a:pPr lvl="0">
              <a:spcBef>
                <a:spcPts val="0"/>
              </a:spcBef>
              <a:buNone/>
            </a:pPr>
            <a:r>
              <a:rPr lang="en" dirty="0">
                <a:solidFill>
                  <a:schemeClr val="tx1"/>
                </a:solidFill>
              </a:rPr>
              <a:t>Literature Review</a:t>
            </a:r>
          </a:p>
        </p:txBody>
      </p:sp>
      <p:sp>
        <p:nvSpPr>
          <p:cNvPr id="2" name="Slide Number Placeholder 1"/>
          <p:cNvSpPr>
            <a:spLocks noGrp="1"/>
          </p:cNvSpPr>
          <p:nvPr>
            <p:ph type="sldNum" idx="12"/>
          </p:nvPr>
        </p:nvSpPr>
        <p:spPr/>
        <p:txBody>
          <a:bodyPr/>
          <a:lstStyle/>
          <a:p>
            <a:pPr lvl="0">
              <a:spcBef>
                <a:spcPts val="0"/>
              </a:spcBef>
              <a:buNone/>
            </a:pPr>
            <a:fld id="{00000000-1234-1234-1234-123412341234}" type="slidenum">
              <a:rPr lang="en" smtClean="0">
                <a:solidFill>
                  <a:schemeClr val="lt1"/>
                </a:solidFill>
              </a:rPr>
              <a:t>8</a:t>
            </a:fld>
            <a:endParaRPr lang="en" dirty="0">
              <a:solidFill>
                <a:schemeClr val="lt1"/>
              </a:solidFill>
            </a:endParaRP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64"/>
        <p:cNvGrpSpPr/>
        <p:nvPr/>
      </p:nvGrpSpPr>
      <p:grpSpPr>
        <a:xfrm>
          <a:off x="0" y="0"/>
          <a:ext cx="0" cy="0"/>
          <a:chOff x="0" y="0"/>
          <a:chExt cx="0" cy="0"/>
        </a:xfrm>
      </p:grpSpPr>
      <p:sp>
        <p:nvSpPr>
          <p:cNvPr id="165" name="Shape 165"/>
          <p:cNvSpPr txBox="1">
            <a:spLocks noGrp="1"/>
          </p:cNvSpPr>
          <p:nvPr>
            <p:ph type="title"/>
          </p:nvPr>
        </p:nvSpPr>
        <p:spPr>
          <a:xfrm>
            <a:off x="311700" y="354590"/>
            <a:ext cx="8520600" cy="965700"/>
          </a:xfrm>
          <a:prstGeom prst="rect">
            <a:avLst/>
          </a:prstGeom>
        </p:spPr>
        <p:txBody>
          <a:bodyPr wrap="square" lIns="91425" tIns="91425" rIns="91425" bIns="91425" anchor="t" anchorCtr="0">
            <a:noAutofit/>
          </a:bodyPr>
          <a:lstStyle/>
          <a:p>
            <a:pPr lvl="0" rtl="0">
              <a:spcBef>
                <a:spcPts val="0"/>
              </a:spcBef>
              <a:buNone/>
            </a:pPr>
            <a:r>
              <a:rPr lang="en" sz="3200" b="1" dirty="0">
                <a:solidFill>
                  <a:schemeClr val="tx1"/>
                </a:solidFill>
                <a:latin typeface="Times New Roman" panose="02020603050405020304" pitchFamily="18" charset="0"/>
                <a:ea typeface="Calibri"/>
                <a:cs typeface="Times New Roman" panose="02020603050405020304" pitchFamily="18" charset="0"/>
              </a:rPr>
              <a:t>Ant </a:t>
            </a:r>
            <a:r>
              <a:rPr lang="en" sz="3200" b="1" dirty="0" smtClean="0">
                <a:solidFill>
                  <a:schemeClr val="tx1"/>
                </a:solidFill>
                <a:latin typeface="Times New Roman" panose="02020603050405020304" pitchFamily="18" charset="0"/>
                <a:ea typeface="Calibri"/>
                <a:cs typeface="Times New Roman" panose="02020603050405020304" pitchFamily="18" charset="0"/>
              </a:rPr>
              <a:t>Colony </a:t>
            </a:r>
            <a:r>
              <a:rPr lang="en" sz="3200" b="1" dirty="0">
                <a:solidFill>
                  <a:schemeClr val="tx1"/>
                </a:solidFill>
                <a:latin typeface="Times New Roman" panose="02020603050405020304" pitchFamily="18" charset="0"/>
                <a:ea typeface="Calibri"/>
                <a:cs typeface="Times New Roman" panose="02020603050405020304" pitchFamily="18" charset="0"/>
              </a:rPr>
              <a:t>O</a:t>
            </a:r>
            <a:r>
              <a:rPr lang="en" sz="3200" b="1" dirty="0" smtClean="0">
                <a:solidFill>
                  <a:schemeClr val="tx1"/>
                </a:solidFill>
                <a:latin typeface="Times New Roman" panose="02020603050405020304" pitchFamily="18" charset="0"/>
                <a:ea typeface="Calibri"/>
                <a:cs typeface="Times New Roman" panose="02020603050405020304" pitchFamily="18" charset="0"/>
              </a:rPr>
              <a:t>ptimization </a:t>
            </a:r>
            <a:r>
              <a:rPr lang="en" sz="3200" b="1" dirty="0">
                <a:solidFill>
                  <a:schemeClr val="tx1"/>
                </a:solidFill>
                <a:latin typeface="Times New Roman" panose="02020603050405020304" pitchFamily="18" charset="0"/>
                <a:ea typeface="Calibri"/>
                <a:cs typeface="Times New Roman" panose="02020603050405020304" pitchFamily="18" charset="0"/>
              </a:rPr>
              <a:t>for </a:t>
            </a:r>
            <a:r>
              <a:rPr lang="en" sz="3200" b="1" dirty="0" smtClean="0">
                <a:solidFill>
                  <a:schemeClr val="tx1"/>
                </a:solidFill>
                <a:latin typeface="Times New Roman" panose="02020603050405020304" pitchFamily="18" charset="0"/>
                <a:ea typeface="Calibri"/>
                <a:cs typeface="Times New Roman" panose="02020603050405020304" pitchFamily="18" charset="0"/>
              </a:rPr>
              <a:t>Continuous Domains [1</a:t>
            </a:r>
            <a:r>
              <a:rPr lang="en" sz="3200" b="1" dirty="0">
                <a:solidFill>
                  <a:schemeClr val="tx1"/>
                </a:solidFill>
                <a:latin typeface="Times New Roman" panose="02020603050405020304" pitchFamily="18" charset="0"/>
                <a:ea typeface="Calibri"/>
                <a:cs typeface="Times New Roman" panose="02020603050405020304" pitchFamily="18" charset="0"/>
              </a:rPr>
              <a:t>]</a:t>
            </a:r>
          </a:p>
          <a:p>
            <a:pPr lvl="0" rtl="0">
              <a:spcBef>
                <a:spcPts val="0"/>
              </a:spcBef>
              <a:buNone/>
            </a:pPr>
            <a:endParaRPr sz="3200" dirty="0">
              <a:solidFill>
                <a:schemeClr val="tx1"/>
              </a:solidFill>
            </a:endParaRPr>
          </a:p>
          <a:p>
            <a:pPr lvl="0" rtl="0">
              <a:spcBef>
                <a:spcPts val="0"/>
              </a:spcBef>
              <a:buNone/>
            </a:pPr>
            <a:endParaRPr sz="3200" dirty="0">
              <a:solidFill>
                <a:schemeClr val="tx1"/>
              </a:solidFill>
            </a:endParaRPr>
          </a:p>
        </p:txBody>
      </p:sp>
      <p:sp>
        <p:nvSpPr>
          <p:cNvPr id="166" name="Shape 166"/>
          <p:cNvSpPr txBox="1">
            <a:spLocks noGrp="1"/>
          </p:cNvSpPr>
          <p:nvPr>
            <p:ph type="body" idx="1"/>
          </p:nvPr>
        </p:nvSpPr>
        <p:spPr>
          <a:xfrm>
            <a:off x="311700" y="1430361"/>
            <a:ext cx="8520600" cy="2917500"/>
          </a:xfrm>
          <a:prstGeom prst="rect">
            <a:avLst/>
          </a:prstGeom>
        </p:spPr>
        <p:txBody>
          <a:bodyPr wrap="square" lIns="91425" tIns="91425" rIns="91425" bIns="91425" anchor="t" anchorCtr="0">
            <a:noAutofit/>
          </a:bodyPr>
          <a:lstStyle/>
          <a:p>
            <a:pPr>
              <a:lnSpc>
                <a:spcPct val="100000"/>
              </a:lnSpc>
              <a:buFont typeface="Wingdings" panose="05000000000000000000" pitchFamily="2" charset="2"/>
              <a:buChar char="§"/>
            </a:pPr>
            <a:r>
              <a:rPr lang="en-US" sz="2000" dirty="0" smtClean="0">
                <a:solidFill>
                  <a:schemeClr val="tx1"/>
                </a:solidFill>
                <a:latin typeface="Times New Roman" panose="02020603050405020304" pitchFamily="18" charset="0"/>
                <a:cs typeface="Times New Roman" panose="02020603050405020304" pitchFamily="18" charset="0"/>
              </a:rPr>
              <a:t> Modified </a:t>
            </a:r>
            <a:r>
              <a:rPr lang="en-US" sz="2000" dirty="0">
                <a:solidFill>
                  <a:schemeClr val="tx1"/>
                </a:solidFill>
                <a:latin typeface="Times New Roman" panose="02020603050405020304" pitchFamily="18" charset="0"/>
                <a:cs typeface="Times New Roman" panose="02020603050405020304" pitchFamily="18" charset="0"/>
              </a:rPr>
              <a:t>the ACO to solve Continuous optimization problems</a:t>
            </a:r>
          </a:p>
          <a:p>
            <a:pPr>
              <a:lnSpc>
                <a:spcPct val="100000"/>
              </a:lnSpc>
              <a:buFont typeface="Wingdings" panose="05000000000000000000" pitchFamily="2" charset="2"/>
              <a:buChar char="§"/>
            </a:pPr>
            <a:r>
              <a:rPr lang="en-US" sz="2000" dirty="0" smtClean="0">
                <a:solidFill>
                  <a:schemeClr val="tx1"/>
                </a:solidFill>
                <a:latin typeface="Times New Roman" panose="02020603050405020304" pitchFamily="18" charset="0"/>
                <a:cs typeface="Times New Roman" panose="02020603050405020304" pitchFamily="18" charset="0"/>
              </a:rPr>
              <a:t> Shift </a:t>
            </a:r>
            <a:r>
              <a:rPr lang="en-US" sz="2000" dirty="0">
                <a:solidFill>
                  <a:schemeClr val="tx1"/>
                </a:solidFill>
                <a:latin typeface="Times New Roman" panose="02020603050405020304" pitchFamily="18" charset="0"/>
                <a:cs typeface="Times New Roman" panose="02020603050405020304" pitchFamily="18" charset="0"/>
              </a:rPr>
              <a:t>from using the discrete probability distribution to a continuous one </a:t>
            </a:r>
            <a:r>
              <a:rPr lang="en-US" sz="2000" dirty="0" smtClean="0">
                <a:solidFill>
                  <a:schemeClr val="tx1"/>
                </a:solidFill>
                <a:latin typeface="Times New Roman" panose="02020603050405020304" pitchFamily="18" charset="0"/>
                <a:cs typeface="Times New Roman" panose="02020603050405020304" pitchFamily="18" charset="0"/>
              </a:rPr>
              <a:t>using probability </a:t>
            </a:r>
            <a:r>
              <a:rPr lang="en-US" sz="2000" dirty="0">
                <a:solidFill>
                  <a:schemeClr val="tx1"/>
                </a:solidFill>
                <a:latin typeface="Times New Roman" panose="02020603050405020304" pitchFamily="18" charset="0"/>
                <a:cs typeface="Times New Roman" panose="02020603050405020304" pitchFamily="18" charset="0"/>
              </a:rPr>
              <a:t>density function</a:t>
            </a:r>
          </a:p>
          <a:p>
            <a:pPr>
              <a:lnSpc>
                <a:spcPct val="100000"/>
              </a:lnSpc>
              <a:buFont typeface="Wingdings" panose="05000000000000000000" pitchFamily="2" charset="2"/>
              <a:buChar char="§"/>
            </a:pPr>
            <a:r>
              <a:rPr lang="en-US" sz="2000" dirty="0" smtClean="0">
                <a:solidFill>
                  <a:schemeClr val="tx1"/>
                </a:solidFill>
                <a:latin typeface="Times New Roman" panose="02020603050405020304" pitchFamily="18" charset="0"/>
                <a:cs typeface="Times New Roman" panose="02020603050405020304" pitchFamily="18" charset="0"/>
              </a:rPr>
              <a:t> Used </a:t>
            </a:r>
            <a:r>
              <a:rPr lang="en-US" sz="2000" dirty="0">
                <a:solidFill>
                  <a:schemeClr val="tx1"/>
                </a:solidFill>
                <a:latin typeface="Times New Roman" panose="02020603050405020304" pitchFamily="18" charset="0"/>
                <a:cs typeface="Times New Roman" panose="02020603050405020304" pitchFamily="18" charset="0"/>
              </a:rPr>
              <a:t>the Gaussian function as PDF</a:t>
            </a:r>
          </a:p>
          <a:p>
            <a:pPr>
              <a:lnSpc>
                <a:spcPct val="100000"/>
              </a:lnSpc>
              <a:buFont typeface="Wingdings" panose="05000000000000000000" pitchFamily="2" charset="2"/>
              <a:buChar char="§"/>
            </a:pPr>
            <a:r>
              <a:rPr lang="en-US" sz="2000" dirty="0" smtClean="0">
                <a:solidFill>
                  <a:schemeClr val="tx1"/>
                </a:solidFill>
                <a:latin typeface="Times New Roman" panose="02020603050405020304" pitchFamily="18" charset="0"/>
                <a:cs typeface="Times New Roman" panose="02020603050405020304" pitchFamily="18" charset="0"/>
              </a:rPr>
              <a:t> For </a:t>
            </a:r>
            <a:r>
              <a:rPr lang="en-US" sz="2000" dirty="0">
                <a:solidFill>
                  <a:schemeClr val="tx1"/>
                </a:solidFill>
                <a:latin typeface="Times New Roman" panose="02020603050405020304" pitchFamily="18" charset="0"/>
                <a:cs typeface="Times New Roman" panose="02020603050405020304" pitchFamily="18" charset="0"/>
              </a:rPr>
              <a:t>each dimension a different Gaussian kernel PDF is defined</a:t>
            </a:r>
          </a:p>
          <a:p>
            <a:pPr>
              <a:lnSpc>
                <a:spcPct val="100000"/>
              </a:lnSpc>
              <a:buFont typeface="Wingdings" panose="05000000000000000000" pitchFamily="2" charset="2"/>
              <a:buChar char="§"/>
            </a:pPr>
            <a:r>
              <a:rPr lang="en-US" sz="2000" dirty="0" smtClean="0">
                <a:solidFill>
                  <a:schemeClr val="tx1"/>
                </a:solidFill>
                <a:latin typeface="Times New Roman" panose="02020603050405020304" pitchFamily="18" charset="0"/>
                <a:cs typeface="Times New Roman" panose="02020603050405020304" pitchFamily="18" charset="0"/>
              </a:rPr>
              <a:t> The </a:t>
            </a:r>
            <a:r>
              <a:rPr lang="en-US" sz="2000" dirty="0">
                <a:solidFill>
                  <a:schemeClr val="tx1"/>
                </a:solidFill>
                <a:latin typeface="Times New Roman" panose="02020603050405020304" pitchFamily="18" charset="0"/>
                <a:cs typeface="Times New Roman" panose="02020603050405020304" pitchFamily="18" charset="0"/>
              </a:rPr>
              <a:t>pheromone information is stored in solution archive in </a:t>
            </a:r>
            <a:r>
              <a:rPr lang="en-US" sz="2000" dirty="0" smtClean="0">
                <a:solidFill>
                  <a:schemeClr val="tx1"/>
                </a:solidFill>
                <a:latin typeface="Times New Roman" panose="02020603050405020304" pitchFamily="18" charset="0"/>
                <a:cs typeface="Times New Roman" panose="02020603050405020304" pitchFamily="18" charset="0"/>
              </a:rPr>
              <a:t>ACO</a:t>
            </a:r>
            <a:r>
              <a:rPr lang="en-US" sz="2000" baseline="-25000" dirty="0" smtClean="0">
                <a:solidFill>
                  <a:schemeClr val="tx1"/>
                </a:solidFill>
                <a:latin typeface="Times New Roman" panose="02020603050405020304" pitchFamily="18" charset="0"/>
                <a:cs typeface="Times New Roman" panose="02020603050405020304" pitchFamily="18" charset="0"/>
              </a:rPr>
              <a:t>R</a:t>
            </a:r>
          </a:p>
          <a:p>
            <a:pPr>
              <a:lnSpc>
                <a:spcPct val="100000"/>
              </a:lnSpc>
              <a:buFont typeface="Wingdings" panose="05000000000000000000" pitchFamily="2" charset="2"/>
              <a:buChar char="§"/>
            </a:pPr>
            <a:r>
              <a:rPr lang="en-US" sz="2000" dirty="0" smtClean="0">
                <a:solidFill>
                  <a:schemeClr val="tx1"/>
                </a:solidFill>
                <a:latin typeface="Times New Roman" panose="02020603050405020304" pitchFamily="18" charset="0"/>
                <a:cs typeface="Times New Roman" panose="02020603050405020304" pitchFamily="18" charset="0"/>
              </a:rPr>
              <a:t> A parameter ℰ is used to control the pheromone evaporation rate in ACO</a:t>
            </a:r>
            <a:r>
              <a:rPr lang="en-US" sz="2000" baseline="-25000" dirty="0" smtClean="0">
                <a:solidFill>
                  <a:schemeClr val="tx1"/>
                </a:solidFill>
                <a:latin typeface="Times New Roman" panose="02020603050405020304" pitchFamily="18" charset="0"/>
                <a:cs typeface="Times New Roman" panose="02020603050405020304" pitchFamily="18" charset="0"/>
              </a:rPr>
              <a:t>R</a:t>
            </a:r>
            <a:endParaRPr lang="en-US" sz="2000" baseline="-25000" dirty="0">
              <a:solidFill>
                <a:schemeClr val="tx1"/>
              </a:solidFill>
              <a:latin typeface="Times New Roman" panose="02020603050405020304" pitchFamily="18" charset="0"/>
              <a:cs typeface="Times New Roman" panose="02020603050405020304" pitchFamily="18" charset="0"/>
            </a:endParaRPr>
          </a:p>
          <a:p>
            <a:pPr>
              <a:lnSpc>
                <a:spcPct val="100000"/>
              </a:lnSpc>
              <a:buFont typeface="Wingdings" panose="05000000000000000000" pitchFamily="2" charset="2"/>
              <a:buChar char="§"/>
            </a:pPr>
            <a:r>
              <a:rPr lang="en-US" sz="2000" dirty="0" smtClean="0">
                <a:solidFill>
                  <a:schemeClr val="tx1"/>
                </a:solidFill>
                <a:latin typeface="Times New Roman" panose="02020603050405020304" pitchFamily="18" charset="0"/>
                <a:cs typeface="Times New Roman" panose="02020603050405020304" pitchFamily="18" charset="0"/>
              </a:rPr>
              <a:t> Pheromone </a:t>
            </a:r>
            <a:r>
              <a:rPr lang="en-US" sz="2000" dirty="0">
                <a:solidFill>
                  <a:schemeClr val="tx1"/>
                </a:solidFill>
                <a:latin typeface="Times New Roman" panose="02020603050405020304" pitchFamily="18" charset="0"/>
                <a:cs typeface="Times New Roman" panose="02020603050405020304" pitchFamily="18" charset="0"/>
              </a:rPr>
              <a:t>update is accomplished by adding the set of newly generated solutions to the solution archive and removing the worst </a:t>
            </a:r>
            <a:r>
              <a:rPr lang="en-US" sz="2000" dirty="0" smtClean="0">
                <a:solidFill>
                  <a:schemeClr val="tx1"/>
                </a:solidFill>
                <a:latin typeface="Times New Roman" panose="02020603050405020304" pitchFamily="18" charset="0"/>
                <a:cs typeface="Times New Roman" panose="02020603050405020304" pitchFamily="18" charset="0"/>
              </a:rPr>
              <a:t>ones</a:t>
            </a:r>
          </a:p>
          <a:p>
            <a:pPr>
              <a:lnSpc>
                <a:spcPct val="100000"/>
              </a:lnSpc>
              <a:buFont typeface="Wingdings" panose="05000000000000000000" pitchFamily="2" charset="2"/>
              <a:buChar char="§"/>
            </a:pPr>
            <a:endParaRPr lang="en-US" sz="2000" dirty="0">
              <a:solidFill>
                <a:schemeClr val="tx1"/>
              </a:solidFill>
              <a:latin typeface="Times New Roman" panose="02020603050405020304" pitchFamily="18" charset="0"/>
              <a:cs typeface="Times New Roman" panose="02020603050405020304" pitchFamily="18" charset="0"/>
            </a:endParaRPr>
          </a:p>
          <a:p>
            <a:pPr>
              <a:lnSpc>
                <a:spcPct val="100000"/>
              </a:lnSpc>
              <a:buFont typeface="Wingdings" panose="05000000000000000000" pitchFamily="2" charset="2"/>
              <a:buChar char="§"/>
            </a:pPr>
            <a:endParaRPr lang="en-US" sz="1600" dirty="0" smtClean="0">
              <a:solidFill>
                <a:schemeClr val="tx1"/>
              </a:solidFill>
            </a:endParaRPr>
          </a:p>
        </p:txBody>
      </p:sp>
      <p:sp>
        <p:nvSpPr>
          <p:cNvPr id="2" name="Slide Number Placeholder 1"/>
          <p:cNvSpPr>
            <a:spLocks noGrp="1"/>
          </p:cNvSpPr>
          <p:nvPr>
            <p:ph type="sldNum" idx="12"/>
          </p:nvPr>
        </p:nvSpPr>
        <p:spPr/>
        <p:txBody>
          <a:bodyPr/>
          <a:lstStyle/>
          <a:p>
            <a:pPr lvl="0">
              <a:spcBef>
                <a:spcPts val="0"/>
              </a:spcBef>
              <a:buNone/>
            </a:pPr>
            <a:fld id="{00000000-1234-1234-1234-123412341234}" type="slidenum">
              <a:rPr lang="en" smtClean="0"/>
              <a:t>9</a:t>
            </a:fld>
            <a:endParaRPr lang="en" dirty="0"/>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70"/>
        <p:cNvGrpSpPr/>
        <p:nvPr/>
      </p:nvGrpSpPr>
      <p:grpSpPr>
        <a:xfrm>
          <a:off x="0" y="0"/>
          <a:ext cx="0" cy="0"/>
          <a:chOff x="0" y="0"/>
          <a:chExt cx="0" cy="0"/>
        </a:xfrm>
      </p:grpSpPr>
      <p:sp>
        <p:nvSpPr>
          <p:cNvPr id="171" name="Shape 171"/>
          <p:cNvSpPr txBox="1">
            <a:spLocks noGrp="1"/>
          </p:cNvSpPr>
          <p:nvPr>
            <p:ph type="title"/>
          </p:nvPr>
        </p:nvSpPr>
        <p:spPr>
          <a:xfrm>
            <a:off x="311700" y="264155"/>
            <a:ext cx="8520600" cy="965700"/>
          </a:xfrm>
          <a:prstGeom prst="rect">
            <a:avLst/>
          </a:prstGeom>
        </p:spPr>
        <p:txBody>
          <a:bodyPr wrap="square" lIns="91425" tIns="91425" rIns="91425" bIns="91425" anchor="t" anchorCtr="0">
            <a:noAutofit/>
          </a:bodyPr>
          <a:lstStyle/>
          <a:p>
            <a:pPr>
              <a:buClr>
                <a:schemeClr val="dk2"/>
              </a:buClr>
              <a:buSzPct val="36666"/>
            </a:pPr>
            <a:r>
              <a:rPr lang="en" sz="3200" b="1" dirty="0">
                <a:solidFill>
                  <a:schemeClr val="tx1"/>
                </a:solidFill>
                <a:latin typeface="Times New Roman" panose="02020603050405020304" pitchFamily="18" charset="0"/>
                <a:ea typeface="Calibri"/>
                <a:cs typeface="Times New Roman" panose="02020603050405020304" pitchFamily="18" charset="0"/>
              </a:rPr>
              <a:t>Ant Colony Optimization for Continuous </a:t>
            </a:r>
            <a:r>
              <a:rPr lang="en" sz="3200" b="1" dirty="0" smtClean="0">
                <a:solidFill>
                  <a:schemeClr val="tx1"/>
                </a:solidFill>
                <a:latin typeface="Times New Roman" panose="02020603050405020304" pitchFamily="18" charset="0"/>
                <a:ea typeface="Calibri"/>
                <a:cs typeface="Times New Roman" panose="02020603050405020304" pitchFamily="18" charset="0"/>
              </a:rPr>
              <a:t>Domains [</a:t>
            </a:r>
            <a:r>
              <a:rPr lang="en" sz="3200" b="1" dirty="0">
                <a:solidFill>
                  <a:schemeClr val="tx1"/>
                </a:solidFill>
                <a:latin typeface="Times New Roman" panose="02020603050405020304" pitchFamily="18" charset="0"/>
                <a:ea typeface="Calibri"/>
                <a:cs typeface="Times New Roman" panose="02020603050405020304" pitchFamily="18" charset="0"/>
              </a:rPr>
              <a:t>1]</a:t>
            </a:r>
          </a:p>
        </p:txBody>
      </p:sp>
      <p:sp>
        <p:nvSpPr>
          <p:cNvPr id="172" name="Shape 172"/>
          <p:cNvSpPr txBox="1">
            <a:spLocks noGrp="1"/>
          </p:cNvSpPr>
          <p:nvPr>
            <p:ph type="body" idx="1"/>
          </p:nvPr>
        </p:nvSpPr>
        <p:spPr>
          <a:xfrm>
            <a:off x="311700" y="1651425"/>
            <a:ext cx="8520600" cy="3767400"/>
          </a:xfrm>
          <a:prstGeom prst="rect">
            <a:avLst/>
          </a:prstGeom>
        </p:spPr>
        <p:txBody>
          <a:bodyPr wrap="square" lIns="91425" tIns="91425" rIns="91425" bIns="91425" anchor="t" anchorCtr="0">
            <a:noAutofit/>
          </a:bodyPr>
          <a:lstStyle/>
          <a:p>
            <a:pPr lvl="0" rtl="0">
              <a:spcBef>
                <a:spcPts val="0"/>
              </a:spcBef>
              <a:buNone/>
            </a:pPr>
            <a:r>
              <a:rPr lang="en" sz="2400" b="1" u="sng" dirty="0">
                <a:solidFill>
                  <a:schemeClr val="tx1"/>
                </a:solidFill>
                <a:latin typeface="Times New Roman" panose="02020603050405020304" pitchFamily="18" charset="0"/>
                <a:cs typeface="Times New Roman" panose="02020603050405020304" pitchFamily="18" charset="0"/>
              </a:rPr>
              <a:t>Strengths</a:t>
            </a:r>
          </a:p>
          <a:p>
            <a:pPr marL="482600" lvl="0" indent="-342900" rtl="0">
              <a:spcBef>
                <a:spcPts val="0"/>
              </a:spcBef>
              <a:buSzPct val="100000"/>
              <a:buFont typeface="Wingdings" panose="05000000000000000000" pitchFamily="2" charset="2"/>
              <a:buChar char="§"/>
            </a:pPr>
            <a:r>
              <a:rPr lang="en-US" sz="2000" dirty="0" smtClean="0">
                <a:solidFill>
                  <a:schemeClr val="tx1"/>
                </a:solidFill>
                <a:latin typeface="Times New Roman" panose="02020603050405020304" pitchFamily="18" charset="0"/>
                <a:cs typeface="Times New Roman" panose="02020603050405020304" pitchFamily="18" charset="0"/>
              </a:rPr>
              <a:t>First Ant based algorithm for continuous optimization</a:t>
            </a:r>
          </a:p>
          <a:p>
            <a:pPr marL="457200" lvl="0" indent="-317500" rtl="0">
              <a:spcBef>
                <a:spcPts val="0"/>
              </a:spcBef>
              <a:buSzPct val="100000"/>
              <a:buAutoNum type="arabicPeriod"/>
            </a:pPr>
            <a:endParaRPr sz="1400" dirty="0">
              <a:solidFill>
                <a:schemeClr val="tx1"/>
              </a:solidFill>
              <a:latin typeface="Times New Roman" panose="02020603050405020304" pitchFamily="18" charset="0"/>
              <a:cs typeface="Times New Roman" panose="02020603050405020304" pitchFamily="18" charset="0"/>
            </a:endParaRPr>
          </a:p>
          <a:p>
            <a:pPr lvl="0" rtl="0">
              <a:spcBef>
                <a:spcPts val="0"/>
              </a:spcBef>
              <a:buNone/>
            </a:pPr>
            <a:r>
              <a:rPr lang="en" sz="2400" b="1" u="sng" dirty="0" smtClean="0">
                <a:solidFill>
                  <a:schemeClr val="tx1"/>
                </a:solidFill>
                <a:latin typeface="Times New Roman" panose="02020603050405020304" pitchFamily="18" charset="0"/>
                <a:cs typeface="Times New Roman" panose="02020603050405020304" pitchFamily="18" charset="0"/>
              </a:rPr>
              <a:t>Weaknesses</a:t>
            </a:r>
            <a:endParaRPr lang="en-US" sz="2400" dirty="0" smtClean="0">
              <a:solidFill>
                <a:schemeClr val="tx1"/>
              </a:solidFill>
              <a:latin typeface="Times New Roman" panose="02020603050405020304" pitchFamily="18" charset="0"/>
              <a:cs typeface="Times New Roman" panose="02020603050405020304" pitchFamily="18" charset="0"/>
            </a:endParaRPr>
          </a:p>
          <a:p>
            <a:pPr marL="482600" lvl="0" indent="-342900" rtl="0">
              <a:spcBef>
                <a:spcPts val="0"/>
              </a:spcBef>
              <a:buSzPct val="100000"/>
              <a:buFont typeface="Wingdings" panose="05000000000000000000" pitchFamily="2" charset="2"/>
              <a:buChar char="§"/>
            </a:pPr>
            <a:r>
              <a:rPr lang="en-US" sz="2000" dirty="0" smtClean="0">
                <a:solidFill>
                  <a:schemeClr val="tx1"/>
                </a:solidFill>
                <a:latin typeface="Times New Roman" panose="02020603050405020304" pitchFamily="18" charset="0"/>
                <a:cs typeface="Times New Roman" panose="02020603050405020304" pitchFamily="18" charset="0"/>
              </a:rPr>
              <a:t>Cannot tackle mixed variable optimization problems</a:t>
            </a:r>
          </a:p>
          <a:p>
            <a:pPr marL="482600" lvl="0" indent="-342900" rtl="0">
              <a:spcBef>
                <a:spcPts val="0"/>
              </a:spcBef>
              <a:buSzPct val="100000"/>
              <a:buFont typeface="Wingdings" panose="05000000000000000000" pitchFamily="2" charset="2"/>
              <a:buChar char="§"/>
            </a:pPr>
            <a:r>
              <a:rPr lang="en-US" sz="2000" dirty="0" smtClean="0">
                <a:solidFill>
                  <a:schemeClr val="tx1"/>
                </a:solidFill>
                <a:latin typeface="Times New Roman" panose="02020603050405020304" pitchFamily="18" charset="0"/>
                <a:cs typeface="Times New Roman" panose="02020603050405020304" pitchFamily="18" charset="0"/>
              </a:rPr>
              <a:t>Inferior performance on complex problems</a:t>
            </a:r>
          </a:p>
          <a:p>
            <a:pPr marL="482600" lvl="0" indent="-342900" rtl="0">
              <a:spcBef>
                <a:spcPts val="0"/>
              </a:spcBef>
              <a:buSzPct val="100000"/>
              <a:buFont typeface="Wingdings" panose="05000000000000000000" pitchFamily="2" charset="2"/>
              <a:buChar char="§"/>
            </a:pPr>
            <a:r>
              <a:rPr lang="en-US" sz="2000" dirty="0" smtClean="0">
                <a:solidFill>
                  <a:schemeClr val="tx1"/>
                </a:solidFill>
                <a:latin typeface="Times New Roman" panose="02020603050405020304" pitchFamily="18" charset="0"/>
                <a:cs typeface="Times New Roman" panose="02020603050405020304" pitchFamily="18" charset="0"/>
              </a:rPr>
              <a:t>Dependent on sensitive parameter settings</a:t>
            </a:r>
          </a:p>
          <a:p>
            <a:pPr marL="457200" lvl="0" indent="-317500" rtl="0">
              <a:spcBef>
                <a:spcPts val="0"/>
              </a:spcBef>
              <a:buSzPct val="100000"/>
              <a:buAutoNum type="arabicPeriod"/>
            </a:pPr>
            <a:endParaRPr lang="en-US" sz="1400" dirty="0" smtClean="0">
              <a:solidFill>
                <a:schemeClr val="tx1"/>
              </a:solidFill>
              <a:latin typeface="Times New Roman" panose="02020603050405020304" pitchFamily="18" charset="0"/>
              <a:cs typeface="Times New Roman" panose="02020603050405020304" pitchFamily="18" charset="0"/>
            </a:endParaRPr>
          </a:p>
          <a:p>
            <a:pPr marL="457200" lvl="0" indent="-317500" rtl="0">
              <a:spcBef>
                <a:spcPts val="0"/>
              </a:spcBef>
              <a:buSzPct val="100000"/>
              <a:buAutoNum type="arabicPeriod"/>
            </a:pPr>
            <a:endParaRPr lang="en-US" sz="1400" dirty="0" smtClean="0">
              <a:solidFill>
                <a:schemeClr val="tx1"/>
              </a:solidFill>
              <a:latin typeface="Times New Roman" panose="02020603050405020304" pitchFamily="18" charset="0"/>
              <a:cs typeface="Times New Roman" panose="02020603050405020304" pitchFamily="18" charset="0"/>
            </a:endParaRPr>
          </a:p>
          <a:p>
            <a:pPr marL="457200" lvl="0" indent="-317500" rtl="0">
              <a:spcBef>
                <a:spcPts val="0"/>
              </a:spcBef>
              <a:buSzPct val="100000"/>
              <a:buAutoNum type="arabicPeriod"/>
            </a:pPr>
            <a:endParaRPr lang="en-US" sz="1400" dirty="0" smtClean="0">
              <a:solidFill>
                <a:schemeClr val="tx1"/>
              </a:solidFill>
              <a:latin typeface="Times New Roman" panose="02020603050405020304" pitchFamily="18" charset="0"/>
              <a:cs typeface="Times New Roman" panose="02020603050405020304" pitchFamily="18" charset="0"/>
            </a:endParaRPr>
          </a:p>
          <a:p>
            <a:pPr marL="457200" lvl="0" indent="-317500" rtl="0">
              <a:spcBef>
                <a:spcPts val="0"/>
              </a:spcBef>
              <a:buSzPct val="100000"/>
              <a:buAutoNum type="arabicPeriod"/>
            </a:pPr>
            <a:endParaRPr sz="1400" dirty="0">
              <a:solidFill>
                <a:schemeClr val="tx1"/>
              </a:solidFill>
              <a:latin typeface="Times New Roman" panose="02020603050405020304" pitchFamily="18" charset="0"/>
              <a:cs typeface="Times New Roman" panose="02020603050405020304" pitchFamily="18" charset="0"/>
            </a:endParaRPr>
          </a:p>
          <a:p>
            <a:pPr lvl="0" rtl="0">
              <a:spcBef>
                <a:spcPts val="0"/>
              </a:spcBef>
              <a:buNone/>
            </a:pPr>
            <a:endParaRPr sz="1400" dirty="0">
              <a:solidFill>
                <a:schemeClr val="tx1"/>
              </a:solidFill>
              <a:latin typeface="Times New Roman" panose="02020603050405020304" pitchFamily="18" charset="0"/>
              <a:cs typeface="Times New Roman" panose="02020603050405020304" pitchFamily="18" charset="0"/>
            </a:endParaRPr>
          </a:p>
        </p:txBody>
      </p:sp>
      <p:sp>
        <p:nvSpPr>
          <p:cNvPr id="2" name="Slide Number Placeholder 1"/>
          <p:cNvSpPr>
            <a:spLocks noGrp="1"/>
          </p:cNvSpPr>
          <p:nvPr>
            <p:ph type="sldNum" idx="12"/>
          </p:nvPr>
        </p:nvSpPr>
        <p:spPr/>
        <p:txBody>
          <a:bodyPr/>
          <a:lstStyle/>
          <a:p>
            <a:pPr lvl="0">
              <a:spcBef>
                <a:spcPts val="0"/>
              </a:spcBef>
              <a:buNone/>
            </a:pPr>
            <a:fld id="{00000000-1234-1234-1234-123412341234}" type="slidenum">
              <a:rPr lang="en" smtClean="0"/>
              <a:t>10</a:t>
            </a:fld>
            <a:endParaRPr lang="en" dirty="0"/>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64"/>
        <p:cNvGrpSpPr/>
        <p:nvPr/>
      </p:nvGrpSpPr>
      <p:grpSpPr>
        <a:xfrm>
          <a:off x="0" y="0"/>
          <a:ext cx="0" cy="0"/>
          <a:chOff x="0" y="0"/>
          <a:chExt cx="0" cy="0"/>
        </a:xfrm>
      </p:grpSpPr>
      <p:sp>
        <p:nvSpPr>
          <p:cNvPr id="165" name="Shape 165"/>
          <p:cNvSpPr txBox="1">
            <a:spLocks noGrp="1"/>
          </p:cNvSpPr>
          <p:nvPr>
            <p:ph type="title"/>
          </p:nvPr>
        </p:nvSpPr>
        <p:spPr>
          <a:xfrm>
            <a:off x="251749" y="354590"/>
            <a:ext cx="8520600" cy="965700"/>
          </a:xfrm>
          <a:prstGeom prst="rect">
            <a:avLst/>
          </a:prstGeom>
        </p:spPr>
        <p:txBody>
          <a:bodyPr wrap="square" lIns="91425" tIns="91425" rIns="91425" bIns="91425" anchor="t" anchorCtr="0">
            <a:noAutofit/>
          </a:bodyPr>
          <a:lstStyle/>
          <a:p>
            <a:pPr lvl="0">
              <a:buClr>
                <a:schemeClr val="dk2"/>
              </a:buClr>
              <a:buSzPct val="36666"/>
            </a:pPr>
            <a:r>
              <a:rPr lang="en-US" sz="3200" b="1" dirty="0">
                <a:solidFill>
                  <a:schemeClr val="tx1"/>
                </a:solidFill>
                <a:latin typeface="Times New Roman" panose="02020603050405020304" pitchFamily="18" charset="0"/>
                <a:ea typeface="Calibri"/>
                <a:cs typeface="Times New Roman" panose="02020603050405020304" pitchFamily="18" charset="0"/>
              </a:rPr>
              <a:t>Adaptive Multimodal Continuous Ant Colony </a:t>
            </a:r>
            <a:r>
              <a:rPr lang="en-US" sz="3200" b="1" dirty="0" smtClean="0">
                <a:solidFill>
                  <a:schemeClr val="tx1"/>
                </a:solidFill>
                <a:latin typeface="Times New Roman" panose="02020603050405020304" pitchFamily="18" charset="0"/>
                <a:ea typeface="Calibri"/>
                <a:cs typeface="Times New Roman" panose="02020603050405020304" pitchFamily="18" charset="0"/>
              </a:rPr>
              <a:t>Optimization [</a:t>
            </a:r>
            <a:r>
              <a:rPr lang="en-US" sz="3200" b="1" dirty="0">
                <a:solidFill>
                  <a:schemeClr val="tx1"/>
                </a:solidFill>
                <a:latin typeface="Times New Roman" panose="02020603050405020304" pitchFamily="18" charset="0"/>
                <a:ea typeface="Calibri"/>
                <a:cs typeface="Times New Roman" panose="02020603050405020304" pitchFamily="18" charset="0"/>
              </a:rPr>
              <a:t>2]</a:t>
            </a:r>
            <a:endParaRPr sz="3200" b="1" dirty="0">
              <a:solidFill>
                <a:schemeClr val="tx1"/>
              </a:solidFill>
              <a:latin typeface="Times New Roman" panose="02020603050405020304" pitchFamily="18" charset="0"/>
              <a:ea typeface="Calibri"/>
              <a:cs typeface="Times New Roman" panose="02020603050405020304" pitchFamily="18" charset="0"/>
            </a:endParaRPr>
          </a:p>
        </p:txBody>
      </p:sp>
      <p:sp>
        <p:nvSpPr>
          <p:cNvPr id="166" name="Shape 166"/>
          <p:cNvSpPr txBox="1">
            <a:spLocks noGrp="1"/>
          </p:cNvSpPr>
          <p:nvPr>
            <p:ph type="body" idx="1"/>
          </p:nvPr>
        </p:nvSpPr>
        <p:spPr>
          <a:xfrm>
            <a:off x="331797" y="1320290"/>
            <a:ext cx="8520600" cy="3352654"/>
          </a:xfrm>
          <a:prstGeom prst="rect">
            <a:avLst/>
          </a:prstGeom>
        </p:spPr>
        <p:txBody>
          <a:bodyPr wrap="square" lIns="91425" tIns="91425" rIns="91425" bIns="91425" anchor="t" anchorCtr="0">
            <a:noAutofit/>
          </a:bodyPr>
          <a:lstStyle/>
          <a:p>
            <a:pPr>
              <a:buFont typeface="Wingdings" panose="05000000000000000000" pitchFamily="2" charset="2"/>
              <a:buChar char="§"/>
            </a:pPr>
            <a:r>
              <a:rPr lang="en-US" sz="1800" dirty="0" smtClean="0">
                <a:solidFill>
                  <a:schemeClr val="tx1"/>
                </a:solidFill>
                <a:latin typeface="Times New Roman" panose="02020603050405020304" pitchFamily="18" charset="0"/>
                <a:cs typeface="Times New Roman" panose="02020603050405020304" pitchFamily="18" charset="0"/>
              </a:rPr>
              <a:t> Extend ACO</a:t>
            </a:r>
            <a:r>
              <a:rPr lang="en-US" sz="1800" baseline="-25000" dirty="0" smtClean="0">
                <a:solidFill>
                  <a:schemeClr val="tx1"/>
                </a:solidFill>
                <a:latin typeface="Times New Roman" panose="02020603050405020304" pitchFamily="18" charset="0"/>
                <a:cs typeface="Times New Roman" panose="02020603050405020304" pitchFamily="18" charset="0"/>
              </a:rPr>
              <a:t>R</a:t>
            </a:r>
            <a:r>
              <a:rPr lang="en-US" sz="1800" dirty="0" smtClean="0">
                <a:solidFill>
                  <a:schemeClr val="tx1"/>
                </a:solidFill>
                <a:latin typeface="Times New Roman" panose="02020603050405020304" pitchFamily="18" charset="0"/>
                <a:cs typeface="Times New Roman" panose="02020603050405020304" pitchFamily="18" charset="0"/>
              </a:rPr>
              <a:t> </a:t>
            </a:r>
            <a:r>
              <a:rPr lang="en-US" sz="1800" dirty="0">
                <a:solidFill>
                  <a:schemeClr val="tx1"/>
                </a:solidFill>
                <a:latin typeface="Times New Roman" panose="02020603050405020304" pitchFamily="18" charset="0"/>
                <a:cs typeface="Times New Roman" panose="02020603050405020304" pitchFamily="18" charset="0"/>
              </a:rPr>
              <a:t>to deal with multimodal optimization</a:t>
            </a:r>
          </a:p>
          <a:p>
            <a:pPr>
              <a:buFont typeface="Wingdings" panose="05000000000000000000" pitchFamily="2" charset="2"/>
              <a:buChar char="§"/>
            </a:pPr>
            <a:r>
              <a:rPr lang="en-US" sz="1800" dirty="0" smtClean="0">
                <a:solidFill>
                  <a:schemeClr val="tx1"/>
                </a:solidFill>
                <a:latin typeface="Times New Roman" panose="02020603050405020304" pitchFamily="18" charset="0"/>
                <a:cs typeface="Times New Roman" panose="02020603050405020304" pitchFamily="18" charset="0"/>
              </a:rPr>
              <a:t> ACO</a:t>
            </a:r>
            <a:r>
              <a:rPr lang="en-US" sz="1800" baseline="-25000" dirty="0" smtClean="0">
                <a:solidFill>
                  <a:schemeClr val="tx1"/>
                </a:solidFill>
                <a:latin typeface="Times New Roman" panose="02020603050405020304" pitchFamily="18" charset="0"/>
                <a:cs typeface="Times New Roman" panose="02020603050405020304" pitchFamily="18" charset="0"/>
              </a:rPr>
              <a:t>R</a:t>
            </a:r>
            <a:r>
              <a:rPr lang="en-US" sz="1800" dirty="0" smtClean="0">
                <a:solidFill>
                  <a:schemeClr val="tx1"/>
                </a:solidFill>
                <a:latin typeface="Times New Roman" panose="02020603050405020304" pitchFamily="18" charset="0"/>
                <a:cs typeface="Times New Roman" panose="02020603050405020304" pitchFamily="18" charset="0"/>
              </a:rPr>
              <a:t> </a:t>
            </a:r>
            <a:r>
              <a:rPr lang="en-US" sz="1800" dirty="0">
                <a:solidFill>
                  <a:schemeClr val="tx1"/>
                </a:solidFill>
                <a:latin typeface="Times New Roman" panose="02020603050405020304" pitchFamily="18" charset="0"/>
                <a:cs typeface="Times New Roman" panose="02020603050405020304" pitchFamily="18" charset="0"/>
              </a:rPr>
              <a:t>is combined </a:t>
            </a:r>
            <a:r>
              <a:rPr lang="en-US" sz="1800" dirty="0" smtClean="0">
                <a:solidFill>
                  <a:schemeClr val="tx1"/>
                </a:solidFill>
                <a:latin typeface="Times New Roman" panose="02020603050405020304" pitchFamily="18" charset="0"/>
                <a:cs typeface="Times New Roman" panose="02020603050405020304" pitchFamily="18" charset="0"/>
              </a:rPr>
              <a:t>niching </a:t>
            </a:r>
            <a:r>
              <a:rPr lang="en-US" sz="1800" dirty="0">
                <a:solidFill>
                  <a:schemeClr val="tx1"/>
                </a:solidFill>
                <a:latin typeface="Times New Roman" panose="02020603050405020304" pitchFamily="18" charset="0"/>
                <a:cs typeface="Times New Roman" panose="02020603050405020304" pitchFamily="18" charset="0"/>
              </a:rPr>
              <a:t>techniques to solve multimodal </a:t>
            </a:r>
            <a:r>
              <a:rPr lang="en-US" sz="1800" dirty="0" smtClean="0">
                <a:solidFill>
                  <a:schemeClr val="tx1"/>
                </a:solidFill>
                <a:latin typeface="Times New Roman" panose="02020603050405020304" pitchFamily="18" charset="0"/>
                <a:cs typeface="Times New Roman" panose="02020603050405020304" pitchFamily="18" charset="0"/>
              </a:rPr>
              <a:t>problems</a:t>
            </a:r>
            <a:endParaRPr lang="en-US" sz="1800" dirty="0">
              <a:solidFill>
                <a:schemeClr val="tx1"/>
              </a:solidFill>
              <a:latin typeface="Times New Roman" panose="02020603050405020304" pitchFamily="18" charset="0"/>
              <a:cs typeface="Times New Roman" panose="02020603050405020304" pitchFamily="18" charset="0"/>
            </a:endParaRPr>
          </a:p>
          <a:p>
            <a:pPr>
              <a:buFont typeface="Wingdings" panose="05000000000000000000" pitchFamily="2" charset="2"/>
              <a:buChar char="§"/>
            </a:pPr>
            <a:r>
              <a:rPr lang="en-US" sz="1800" dirty="0" smtClean="0">
                <a:solidFill>
                  <a:schemeClr val="tx1"/>
                </a:solidFill>
                <a:latin typeface="Times New Roman" panose="02020603050405020304" pitchFamily="18" charset="0"/>
                <a:cs typeface="Times New Roman" panose="02020603050405020304" pitchFamily="18" charset="0"/>
              </a:rPr>
              <a:t> </a:t>
            </a:r>
            <a:r>
              <a:rPr lang="en-US" sz="1800" dirty="0">
                <a:solidFill>
                  <a:schemeClr val="tx1"/>
                </a:solidFill>
                <a:latin typeface="Times New Roman" panose="02020603050405020304" pitchFamily="18" charset="0"/>
                <a:cs typeface="Times New Roman" panose="02020603050405020304" pitchFamily="18" charset="0"/>
              </a:rPr>
              <a:t>I</a:t>
            </a:r>
            <a:r>
              <a:rPr lang="en-US" sz="1800" dirty="0" smtClean="0">
                <a:solidFill>
                  <a:schemeClr val="tx1"/>
                </a:solidFill>
                <a:latin typeface="Times New Roman" panose="02020603050405020304" pitchFamily="18" charset="0"/>
                <a:cs typeface="Times New Roman" panose="02020603050405020304" pitchFamily="18" charset="0"/>
              </a:rPr>
              <a:t>ncorporated </a:t>
            </a:r>
            <a:r>
              <a:rPr lang="en-US" sz="1800" dirty="0">
                <a:solidFill>
                  <a:schemeClr val="tx1"/>
                </a:solidFill>
                <a:latin typeface="Times New Roman" panose="02020603050405020304" pitchFamily="18" charset="0"/>
                <a:cs typeface="Times New Roman" panose="02020603050405020304" pitchFamily="18" charset="0"/>
              </a:rPr>
              <a:t>an adaptive parameter </a:t>
            </a:r>
            <a:r>
              <a:rPr lang="en-US" sz="1800" dirty="0" smtClean="0">
                <a:solidFill>
                  <a:schemeClr val="tx1"/>
                </a:solidFill>
                <a:latin typeface="Times New Roman" panose="02020603050405020304" pitchFamily="18" charset="0"/>
                <a:cs typeface="Times New Roman" panose="02020603050405020304" pitchFamily="18" charset="0"/>
              </a:rPr>
              <a:t>settings</a:t>
            </a:r>
            <a:endParaRPr lang="en-US" sz="1800" dirty="0">
              <a:solidFill>
                <a:schemeClr val="tx1"/>
              </a:solidFill>
              <a:latin typeface="Times New Roman" panose="02020603050405020304" pitchFamily="18" charset="0"/>
              <a:cs typeface="Times New Roman" panose="02020603050405020304" pitchFamily="18" charset="0"/>
            </a:endParaRPr>
          </a:p>
          <a:p>
            <a:pPr>
              <a:buFont typeface="Wingdings" panose="05000000000000000000" pitchFamily="2" charset="2"/>
              <a:buChar char="§"/>
            </a:pPr>
            <a:r>
              <a:rPr lang="en-US" sz="1800" dirty="0" smtClean="0">
                <a:solidFill>
                  <a:schemeClr val="tx1"/>
                </a:solidFill>
                <a:latin typeface="Times New Roman" panose="02020603050405020304" pitchFamily="18" charset="0"/>
                <a:cs typeface="Times New Roman" panose="02020603050405020304" pitchFamily="18" charset="0"/>
              </a:rPr>
              <a:t> Differential </a:t>
            </a:r>
            <a:r>
              <a:rPr lang="en-US" sz="1800" dirty="0">
                <a:solidFill>
                  <a:schemeClr val="tx1"/>
                </a:solidFill>
                <a:latin typeface="Times New Roman" panose="02020603050405020304" pitchFamily="18" charset="0"/>
                <a:cs typeface="Times New Roman" panose="02020603050405020304" pitchFamily="18" charset="0"/>
              </a:rPr>
              <a:t>evolution mutation operator is </a:t>
            </a:r>
            <a:r>
              <a:rPr lang="en-US" sz="1800" dirty="0" smtClean="0">
                <a:solidFill>
                  <a:schemeClr val="tx1"/>
                </a:solidFill>
                <a:latin typeface="Times New Roman" panose="02020603050405020304" pitchFamily="18" charset="0"/>
                <a:cs typeface="Times New Roman" panose="02020603050405020304" pitchFamily="18" charset="0"/>
              </a:rPr>
              <a:t>used</a:t>
            </a:r>
            <a:endParaRPr lang="en-US" sz="1800" dirty="0">
              <a:solidFill>
                <a:schemeClr val="tx1"/>
              </a:solidFill>
              <a:latin typeface="Times New Roman" panose="02020603050405020304" pitchFamily="18" charset="0"/>
              <a:cs typeface="Times New Roman" panose="02020603050405020304" pitchFamily="18" charset="0"/>
            </a:endParaRPr>
          </a:p>
          <a:p>
            <a:pPr>
              <a:buFont typeface="Wingdings" panose="05000000000000000000" pitchFamily="2" charset="2"/>
              <a:buChar char="§"/>
            </a:pPr>
            <a:r>
              <a:rPr lang="en-US" sz="1800" dirty="0" smtClean="0">
                <a:solidFill>
                  <a:schemeClr val="tx1"/>
                </a:solidFill>
                <a:latin typeface="Times New Roman" panose="02020603050405020304" pitchFamily="18" charset="0"/>
                <a:cs typeface="Times New Roman" panose="02020603050405020304" pitchFamily="18" charset="0"/>
              </a:rPr>
              <a:t> Further </a:t>
            </a:r>
            <a:r>
              <a:rPr lang="en-US" sz="1800" dirty="0">
                <a:solidFill>
                  <a:schemeClr val="tx1"/>
                </a:solidFill>
                <a:latin typeface="Times New Roman" panose="02020603050405020304" pitchFamily="18" charset="0"/>
                <a:cs typeface="Times New Roman" panose="02020603050405020304" pitchFamily="18" charset="0"/>
              </a:rPr>
              <a:t>more a random based niche size setting strategy is </a:t>
            </a:r>
            <a:r>
              <a:rPr lang="en-US" sz="1800" dirty="0" smtClean="0">
                <a:solidFill>
                  <a:schemeClr val="tx1"/>
                </a:solidFill>
                <a:latin typeface="Times New Roman" panose="02020603050405020304" pitchFamily="18" charset="0"/>
                <a:cs typeface="Times New Roman" panose="02020603050405020304" pitchFamily="18" charset="0"/>
              </a:rPr>
              <a:t>added</a:t>
            </a:r>
            <a:endParaRPr lang="en-US" sz="1800" dirty="0">
              <a:solidFill>
                <a:schemeClr val="tx1"/>
              </a:solidFill>
              <a:latin typeface="Times New Roman" panose="02020603050405020304" pitchFamily="18" charset="0"/>
              <a:cs typeface="Times New Roman" panose="02020603050405020304" pitchFamily="18" charset="0"/>
            </a:endParaRPr>
          </a:p>
          <a:p>
            <a:pPr>
              <a:buFont typeface="Wingdings" panose="05000000000000000000" pitchFamily="2" charset="2"/>
              <a:buChar char="§"/>
            </a:pPr>
            <a:r>
              <a:rPr lang="en-US" sz="1800" dirty="0" smtClean="0">
                <a:solidFill>
                  <a:schemeClr val="tx1"/>
                </a:solidFill>
                <a:latin typeface="Times New Roman" panose="02020603050405020304" pitchFamily="18" charset="0"/>
                <a:cs typeface="Times New Roman" panose="02020603050405020304" pitchFamily="18" charset="0"/>
              </a:rPr>
              <a:t> Extensive </a:t>
            </a:r>
            <a:r>
              <a:rPr lang="en-US" sz="1800" dirty="0">
                <a:solidFill>
                  <a:schemeClr val="tx1"/>
                </a:solidFill>
                <a:latin typeface="Times New Roman" panose="02020603050405020304" pitchFamily="18" charset="0"/>
                <a:cs typeface="Times New Roman" panose="02020603050405020304" pitchFamily="18" charset="0"/>
              </a:rPr>
              <a:t>experiments were conducted on 20 widely used multimodal benchmark functions  </a:t>
            </a:r>
          </a:p>
          <a:p>
            <a:pPr>
              <a:buFont typeface="Wingdings" panose="05000000000000000000" pitchFamily="2" charset="2"/>
              <a:buChar char="§"/>
            </a:pPr>
            <a:r>
              <a:rPr lang="en-US" sz="1800" dirty="0" smtClean="0">
                <a:solidFill>
                  <a:schemeClr val="tx1"/>
                </a:solidFill>
                <a:latin typeface="Times New Roman" panose="02020603050405020304" pitchFamily="18" charset="0"/>
                <a:cs typeface="Times New Roman" panose="02020603050405020304" pitchFamily="18" charset="0"/>
              </a:rPr>
              <a:t> Results </a:t>
            </a:r>
            <a:r>
              <a:rPr lang="en-US" sz="1800" dirty="0">
                <a:solidFill>
                  <a:schemeClr val="tx1"/>
                </a:solidFill>
                <a:latin typeface="Times New Roman" panose="02020603050405020304" pitchFamily="18" charset="0"/>
                <a:cs typeface="Times New Roman" panose="02020603050405020304" pitchFamily="18" charset="0"/>
              </a:rPr>
              <a:t>were compared with state of the art multimodal algorithms and with the winners of competitions on multimodal optimization</a:t>
            </a:r>
          </a:p>
        </p:txBody>
      </p:sp>
      <p:sp>
        <p:nvSpPr>
          <p:cNvPr id="2" name="Slide Number Placeholder 1"/>
          <p:cNvSpPr>
            <a:spLocks noGrp="1"/>
          </p:cNvSpPr>
          <p:nvPr>
            <p:ph type="sldNum" idx="12"/>
          </p:nvPr>
        </p:nvSpPr>
        <p:spPr/>
        <p:txBody>
          <a:bodyPr/>
          <a:lstStyle/>
          <a:p>
            <a:pPr lvl="0">
              <a:spcBef>
                <a:spcPts val="0"/>
              </a:spcBef>
              <a:buNone/>
            </a:pPr>
            <a:fld id="{00000000-1234-1234-1234-123412341234}" type="slidenum">
              <a:rPr lang="en" smtClean="0"/>
              <a:t>11</a:t>
            </a:fld>
            <a:endParaRPr lang="en" dirty="0"/>
          </a:p>
        </p:txBody>
      </p:sp>
    </p:spTree>
    <p:extLst>
      <p:ext uri="{BB962C8B-B14F-4D97-AF65-F5344CB8AC3E}">
        <p14:creationId xmlns:p14="http://schemas.microsoft.com/office/powerpoint/2010/main" val="2183312906"/>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70"/>
        <p:cNvGrpSpPr/>
        <p:nvPr/>
      </p:nvGrpSpPr>
      <p:grpSpPr>
        <a:xfrm>
          <a:off x="0" y="0"/>
          <a:ext cx="0" cy="0"/>
          <a:chOff x="0" y="0"/>
          <a:chExt cx="0" cy="0"/>
        </a:xfrm>
      </p:grpSpPr>
      <p:sp>
        <p:nvSpPr>
          <p:cNvPr id="171" name="Shape 171"/>
          <p:cNvSpPr txBox="1">
            <a:spLocks noGrp="1"/>
          </p:cNvSpPr>
          <p:nvPr>
            <p:ph type="title"/>
          </p:nvPr>
        </p:nvSpPr>
        <p:spPr>
          <a:xfrm>
            <a:off x="311700" y="234009"/>
            <a:ext cx="8520600" cy="965700"/>
          </a:xfrm>
          <a:prstGeom prst="rect">
            <a:avLst/>
          </a:prstGeom>
        </p:spPr>
        <p:txBody>
          <a:bodyPr wrap="square" lIns="91425" tIns="91425" rIns="91425" bIns="91425" anchor="t" anchorCtr="0">
            <a:noAutofit/>
          </a:bodyPr>
          <a:lstStyle/>
          <a:p>
            <a:pPr>
              <a:buClr>
                <a:schemeClr val="dk2"/>
              </a:buClr>
              <a:buSzPct val="36666"/>
            </a:pPr>
            <a:r>
              <a:rPr lang="en" sz="3200" b="1" dirty="0">
                <a:solidFill>
                  <a:schemeClr val="tx1"/>
                </a:solidFill>
                <a:latin typeface="Times New Roman" panose="02020603050405020304" pitchFamily="18" charset="0"/>
                <a:ea typeface="Calibri"/>
                <a:cs typeface="Times New Roman" panose="02020603050405020304" pitchFamily="18" charset="0"/>
              </a:rPr>
              <a:t>Adaptive Multimodal Continuous Ant Colony </a:t>
            </a:r>
            <a:r>
              <a:rPr lang="en" sz="3200" b="1" dirty="0" smtClean="0">
                <a:solidFill>
                  <a:schemeClr val="tx1"/>
                </a:solidFill>
                <a:latin typeface="Times New Roman" panose="02020603050405020304" pitchFamily="18" charset="0"/>
                <a:ea typeface="Calibri"/>
                <a:cs typeface="Times New Roman" panose="02020603050405020304" pitchFamily="18" charset="0"/>
              </a:rPr>
              <a:t>Optimization [</a:t>
            </a:r>
            <a:r>
              <a:rPr lang="en" sz="3200" b="1" dirty="0">
                <a:solidFill>
                  <a:schemeClr val="tx1"/>
                </a:solidFill>
                <a:latin typeface="Times New Roman" panose="02020603050405020304" pitchFamily="18" charset="0"/>
                <a:ea typeface="Calibri"/>
                <a:cs typeface="Times New Roman" panose="02020603050405020304" pitchFamily="18" charset="0"/>
              </a:rPr>
              <a:t>2]</a:t>
            </a:r>
          </a:p>
        </p:txBody>
      </p:sp>
      <p:sp>
        <p:nvSpPr>
          <p:cNvPr id="172" name="Shape 172"/>
          <p:cNvSpPr txBox="1">
            <a:spLocks noGrp="1"/>
          </p:cNvSpPr>
          <p:nvPr>
            <p:ph type="body" idx="1"/>
          </p:nvPr>
        </p:nvSpPr>
        <p:spPr>
          <a:xfrm>
            <a:off x="311700" y="1199709"/>
            <a:ext cx="8520600" cy="3577738"/>
          </a:xfrm>
          <a:prstGeom prst="rect">
            <a:avLst/>
          </a:prstGeom>
        </p:spPr>
        <p:txBody>
          <a:bodyPr wrap="square" lIns="91425" tIns="91425" rIns="91425" bIns="91425" anchor="t" anchorCtr="0">
            <a:noAutofit/>
          </a:bodyPr>
          <a:lstStyle/>
          <a:p>
            <a:pPr lvl="0" rtl="0">
              <a:spcBef>
                <a:spcPts val="0"/>
              </a:spcBef>
              <a:buNone/>
            </a:pPr>
            <a:r>
              <a:rPr lang="en" sz="2400" b="1" u="sng" dirty="0" smtClean="0">
                <a:solidFill>
                  <a:schemeClr val="tx1"/>
                </a:solidFill>
                <a:latin typeface="Times New Roman" panose="02020603050405020304" pitchFamily="18" charset="0"/>
                <a:cs typeface="Times New Roman" panose="02020603050405020304" pitchFamily="18" charset="0"/>
              </a:rPr>
              <a:t>Strengths</a:t>
            </a:r>
          </a:p>
          <a:p>
            <a:pPr marL="482600" indent="-342900">
              <a:buFont typeface="Wingdings" panose="05000000000000000000" pitchFamily="2" charset="2"/>
              <a:buChar char="§"/>
            </a:pPr>
            <a:r>
              <a:rPr lang="en" sz="2000" dirty="0">
                <a:solidFill>
                  <a:schemeClr val="tx1"/>
                </a:solidFill>
                <a:latin typeface="Times New Roman" panose="02020603050405020304" pitchFamily="18" charset="0"/>
                <a:cs typeface="Times New Roman" panose="02020603050405020304" pitchFamily="18" charset="0"/>
              </a:rPr>
              <a:t>Improved convergence speed by incorporating differential evolution mutation operator</a:t>
            </a:r>
          </a:p>
          <a:p>
            <a:pPr marL="482600" indent="-342900">
              <a:buFont typeface="Wingdings" panose="05000000000000000000" pitchFamily="2" charset="2"/>
              <a:buChar char="§"/>
            </a:pPr>
            <a:r>
              <a:rPr lang="en-US" sz="2000" dirty="0">
                <a:solidFill>
                  <a:schemeClr val="tx1"/>
                </a:solidFill>
                <a:latin typeface="Times New Roman" panose="02020603050405020304" pitchFamily="18" charset="0"/>
                <a:cs typeface="Times New Roman" panose="02020603050405020304" pitchFamily="18" charset="0"/>
              </a:rPr>
              <a:t>S</a:t>
            </a:r>
            <a:r>
              <a:rPr lang="en" sz="2000" dirty="0">
                <a:solidFill>
                  <a:schemeClr val="tx1"/>
                </a:solidFill>
                <a:latin typeface="Times New Roman" panose="02020603050405020304" pitchFamily="18" charset="0"/>
                <a:cs typeface="Times New Roman" panose="02020603050405020304" pitchFamily="18" charset="0"/>
              </a:rPr>
              <a:t>elf adaptive parameter technique improved convergence rate and accuracy</a:t>
            </a:r>
          </a:p>
          <a:p>
            <a:pPr marL="482600" indent="-342900">
              <a:buFont typeface="Wingdings" panose="05000000000000000000" pitchFamily="2" charset="2"/>
              <a:buChar char="§"/>
            </a:pPr>
            <a:r>
              <a:rPr lang="en-US" sz="2000" dirty="0">
                <a:solidFill>
                  <a:schemeClr val="tx1"/>
                </a:solidFill>
                <a:latin typeface="Times New Roman" panose="02020603050405020304" pitchFamily="18" charset="0"/>
                <a:cs typeface="Times New Roman" panose="02020603050405020304" pitchFamily="18" charset="0"/>
              </a:rPr>
              <a:t>A</a:t>
            </a:r>
            <a:r>
              <a:rPr lang="en" sz="2000" dirty="0">
                <a:solidFill>
                  <a:schemeClr val="tx1"/>
                </a:solidFill>
                <a:latin typeface="Times New Roman" panose="02020603050405020304" pitchFamily="18" charset="0"/>
                <a:cs typeface="Times New Roman" panose="02020603050405020304" pitchFamily="18" charset="0"/>
              </a:rPr>
              <a:t>daptive adjusting strategy for sigma is beneficial for exploration and improved the solution quality of different niches</a:t>
            </a:r>
          </a:p>
          <a:p>
            <a:pPr lvl="0" rtl="0">
              <a:spcBef>
                <a:spcPts val="0"/>
              </a:spcBef>
              <a:buNone/>
            </a:pPr>
            <a:r>
              <a:rPr lang="en" sz="2400" b="1" u="sng" dirty="0" smtClean="0">
                <a:solidFill>
                  <a:schemeClr val="tx1"/>
                </a:solidFill>
                <a:latin typeface="Times New Roman" panose="02020603050405020304" pitchFamily="18" charset="0"/>
                <a:cs typeface="Times New Roman" panose="02020603050405020304" pitchFamily="18" charset="0"/>
              </a:rPr>
              <a:t>Weaknesses</a:t>
            </a:r>
            <a:endParaRPr lang="en" sz="2400" b="1" u="sng" dirty="0">
              <a:solidFill>
                <a:schemeClr val="tx1"/>
              </a:solidFill>
              <a:latin typeface="Times New Roman" panose="02020603050405020304" pitchFamily="18" charset="0"/>
              <a:cs typeface="Times New Roman" panose="02020603050405020304" pitchFamily="18" charset="0"/>
            </a:endParaRPr>
          </a:p>
          <a:p>
            <a:pPr marL="482600" lvl="0" indent="-342900">
              <a:buFont typeface="Wingdings" panose="05000000000000000000" pitchFamily="2" charset="2"/>
              <a:buChar char="§"/>
            </a:pPr>
            <a:r>
              <a:rPr lang="en-US" sz="2000" dirty="0">
                <a:solidFill>
                  <a:schemeClr val="tx1"/>
                </a:solidFill>
                <a:latin typeface="Times New Roman" panose="02020603050405020304" pitchFamily="18" charset="0"/>
                <a:cs typeface="Times New Roman" panose="02020603050405020304" pitchFamily="18" charset="0"/>
              </a:rPr>
              <a:t>Cannot tackle mixed variable optimization problems</a:t>
            </a:r>
          </a:p>
          <a:p>
            <a:pPr marL="482600" lvl="0" indent="-342900">
              <a:buFont typeface="Wingdings" panose="05000000000000000000" pitchFamily="2" charset="2"/>
              <a:buChar char="§"/>
            </a:pPr>
            <a:r>
              <a:rPr lang="en-US" sz="2000" dirty="0">
                <a:solidFill>
                  <a:schemeClr val="tx1"/>
                </a:solidFill>
                <a:latin typeface="Times New Roman" panose="02020603050405020304" pitchFamily="18" charset="0"/>
                <a:cs typeface="Times New Roman" panose="02020603050405020304" pitchFamily="18" charset="0"/>
              </a:rPr>
              <a:t>Inferior performance on complex problems</a:t>
            </a:r>
          </a:p>
          <a:p>
            <a:pPr marL="482600" lvl="0" indent="-342900">
              <a:buFont typeface="Wingdings" panose="05000000000000000000" pitchFamily="2" charset="2"/>
              <a:buChar char="§"/>
            </a:pPr>
            <a:r>
              <a:rPr lang="en-US" sz="2000" dirty="0">
                <a:solidFill>
                  <a:schemeClr val="tx1"/>
                </a:solidFill>
                <a:latin typeface="Times New Roman" panose="02020603050405020304" pitchFamily="18" charset="0"/>
                <a:cs typeface="Times New Roman" panose="02020603050405020304" pitchFamily="18" charset="0"/>
              </a:rPr>
              <a:t>a random based niche size setting strategy is added to the used niching methods </a:t>
            </a:r>
          </a:p>
          <a:p>
            <a:pPr marL="457200" lvl="0" indent="-317500" rtl="0">
              <a:spcBef>
                <a:spcPts val="0"/>
              </a:spcBef>
              <a:buSzPct val="100000"/>
              <a:buAutoNum type="arabicPeriod"/>
            </a:pPr>
            <a:endParaRPr sz="1400" dirty="0">
              <a:solidFill>
                <a:schemeClr val="tx1"/>
              </a:solidFill>
              <a:latin typeface="Times New Roman" panose="02020603050405020304" pitchFamily="18" charset="0"/>
              <a:cs typeface="Times New Roman" panose="02020603050405020304" pitchFamily="18" charset="0"/>
            </a:endParaRPr>
          </a:p>
          <a:p>
            <a:pPr lvl="0" rtl="0">
              <a:spcBef>
                <a:spcPts val="0"/>
              </a:spcBef>
              <a:buNone/>
            </a:pPr>
            <a:endParaRPr sz="1400" dirty="0">
              <a:solidFill>
                <a:schemeClr val="tx1"/>
              </a:solidFill>
              <a:latin typeface="Times New Roman" panose="02020603050405020304" pitchFamily="18" charset="0"/>
              <a:cs typeface="Times New Roman" panose="02020603050405020304" pitchFamily="18" charset="0"/>
            </a:endParaRPr>
          </a:p>
        </p:txBody>
      </p:sp>
      <p:sp>
        <p:nvSpPr>
          <p:cNvPr id="2" name="Slide Number Placeholder 1"/>
          <p:cNvSpPr>
            <a:spLocks noGrp="1"/>
          </p:cNvSpPr>
          <p:nvPr>
            <p:ph type="sldNum" idx="12"/>
          </p:nvPr>
        </p:nvSpPr>
        <p:spPr/>
        <p:txBody>
          <a:bodyPr/>
          <a:lstStyle/>
          <a:p>
            <a:pPr lvl="0">
              <a:spcBef>
                <a:spcPts val="0"/>
              </a:spcBef>
              <a:buNone/>
            </a:pPr>
            <a:fld id="{00000000-1234-1234-1234-123412341234}" type="slidenum">
              <a:rPr lang="en" smtClean="0"/>
              <a:t>12</a:t>
            </a:fld>
            <a:endParaRPr lang="en" dirty="0"/>
          </a:p>
        </p:txBody>
      </p:sp>
    </p:spTree>
    <p:extLst>
      <p:ext uri="{BB962C8B-B14F-4D97-AF65-F5344CB8AC3E}">
        <p14:creationId xmlns:p14="http://schemas.microsoft.com/office/powerpoint/2010/main" val="1338281787"/>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28"/>
        <p:cNvGrpSpPr/>
        <p:nvPr/>
      </p:nvGrpSpPr>
      <p:grpSpPr>
        <a:xfrm>
          <a:off x="0" y="0"/>
          <a:ext cx="0" cy="0"/>
          <a:chOff x="0" y="0"/>
          <a:chExt cx="0" cy="0"/>
        </a:xfrm>
      </p:grpSpPr>
      <p:sp>
        <p:nvSpPr>
          <p:cNvPr id="129" name="Shape 129"/>
          <p:cNvSpPr txBox="1">
            <a:spLocks noGrp="1"/>
          </p:cNvSpPr>
          <p:nvPr>
            <p:ph type="title"/>
          </p:nvPr>
        </p:nvSpPr>
        <p:spPr>
          <a:xfrm>
            <a:off x="251749" y="364638"/>
            <a:ext cx="8520600" cy="965700"/>
          </a:xfrm>
          <a:prstGeom prst="rect">
            <a:avLst/>
          </a:prstGeom>
        </p:spPr>
        <p:txBody>
          <a:bodyPr wrap="square" lIns="91425" tIns="91425" rIns="91425" bIns="91425" anchor="t" anchorCtr="0">
            <a:noAutofit/>
          </a:bodyPr>
          <a:lstStyle/>
          <a:p>
            <a:pPr lvl="0">
              <a:buClr>
                <a:schemeClr val="dk2"/>
              </a:buClr>
              <a:buSzPct val="36666"/>
            </a:pPr>
            <a:r>
              <a:rPr lang="en" sz="3200" b="1" dirty="0">
                <a:solidFill>
                  <a:schemeClr val="tx1"/>
                </a:solidFill>
                <a:latin typeface="Times New Roman" panose="02020603050405020304" pitchFamily="18" charset="0"/>
                <a:ea typeface="Calibri"/>
                <a:cs typeface="Times New Roman" panose="02020603050405020304" pitchFamily="18" charset="0"/>
              </a:rPr>
              <a:t>A Unified Ant Colony Optimization Algorithm </a:t>
            </a:r>
            <a:r>
              <a:rPr lang="en" sz="3200" b="1" dirty="0" smtClean="0">
                <a:solidFill>
                  <a:schemeClr val="tx1"/>
                </a:solidFill>
                <a:latin typeface="Times New Roman" panose="02020603050405020304" pitchFamily="18" charset="0"/>
                <a:ea typeface="Calibri"/>
                <a:cs typeface="Times New Roman" panose="02020603050405020304" pitchFamily="18" charset="0"/>
              </a:rPr>
              <a:t>for </a:t>
            </a:r>
            <a:r>
              <a:rPr lang="en" sz="3200" b="1" dirty="0">
                <a:solidFill>
                  <a:schemeClr val="tx1"/>
                </a:solidFill>
                <a:latin typeface="Times New Roman" panose="02020603050405020304" pitchFamily="18" charset="0"/>
                <a:ea typeface="Calibri"/>
                <a:cs typeface="Times New Roman" panose="02020603050405020304" pitchFamily="18" charset="0"/>
              </a:rPr>
              <a:t>Continuous </a:t>
            </a:r>
            <a:r>
              <a:rPr lang="en" sz="3200" b="1" dirty="0" smtClean="0">
                <a:solidFill>
                  <a:schemeClr val="tx1"/>
                </a:solidFill>
                <a:latin typeface="Times New Roman" panose="02020603050405020304" pitchFamily="18" charset="0"/>
                <a:ea typeface="Calibri"/>
                <a:cs typeface="Times New Roman" panose="02020603050405020304" pitchFamily="18" charset="0"/>
              </a:rPr>
              <a:t>Optimization [</a:t>
            </a:r>
            <a:r>
              <a:rPr lang="en" sz="3200" b="1" dirty="0">
                <a:solidFill>
                  <a:schemeClr val="tx1"/>
                </a:solidFill>
                <a:latin typeface="Times New Roman" panose="02020603050405020304" pitchFamily="18" charset="0"/>
                <a:ea typeface="Calibri"/>
                <a:cs typeface="Times New Roman" panose="02020603050405020304" pitchFamily="18" charset="0"/>
              </a:rPr>
              <a:t>3]</a:t>
            </a:r>
          </a:p>
        </p:txBody>
      </p:sp>
      <p:sp>
        <p:nvSpPr>
          <p:cNvPr id="130" name="Shape 130"/>
          <p:cNvSpPr txBox="1">
            <a:spLocks noGrp="1"/>
          </p:cNvSpPr>
          <p:nvPr>
            <p:ph type="body" idx="1"/>
          </p:nvPr>
        </p:nvSpPr>
        <p:spPr>
          <a:xfrm>
            <a:off x="251749" y="1550798"/>
            <a:ext cx="8520600" cy="2917500"/>
          </a:xfrm>
          <a:prstGeom prst="rect">
            <a:avLst/>
          </a:prstGeom>
        </p:spPr>
        <p:txBody>
          <a:bodyPr wrap="square" lIns="91425" tIns="91425" rIns="91425" bIns="91425" anchor="t" anchorCtr="0">
            <a:noAutofit/>
          </a:bodyPr>
          <a:lstStyle/>
          <a:p>
            <a:pPr lvl="0">
              <a:buFont typeface="Wingdings" panose="05000000000000000000" pitchFamily="2" charset="2"/>
              <a:buChar char="§"/>
            </a:pPr>
            <a:r>
              <a:rPr lang="en" sz="2000" dirty="0" smtClean="0">
                <a:solidFill>
                  <a:schemeClr val="tx1"/>
                </a:solidFill>
                <a:latin typeface="Times New Roman" panose="02020603050405020304" pitchFamily="18" charset="0"/>
                <a:cs typeface="Times New Roman" panose="02020603050405020304" pitchFamily="18" charset="0"/>
              </a:rPr>
              <a:t> Used </a:t>
            </a:r>
            <a:r>
              <a:rPr lang="en" sz="2000" dirty="0">
                <a:solidFill>
                  <a:schemeClr val="tx1"/>
                </a:solidFill>
                <a:latin typeface="Times New Roman" panose="02020603050405020304" pitchFamily="18" charset="0"/>
                <a:cs typeface="Times New Roman" panose="02020603050405020304" pitchFamily="18" charset="0"/>
              </a:rPr>
              <a:t>the components of ACOR ,DACOR and LACOR-LS in UACOR algorithm</a:t>
            </a:r>
          </a:p>
          <a:p>
            <a:pPr lvl="0">
              <a:buFont typeface="Wingdings" panose="05000000000000000000" pitchFamily="2" charset="2"/>
              <a:buChar char="§"/>
            </a:pPr>
            <a:r>
              <a:rPr lang="en" sz="2000" dirty="0" smtClean="0">
                <a:solidFill>
                  <a:schemeClr val="tx1"/>
                </a:solidFill>
                <a:latin typeface="Times New Roman" panose="02020603050405020304" pitchFamily="18" charset="0"/>
                <a:cs typeface="Times New Roman" panose="02020603050405020304" pitchFamily="18" charset="0"/>
              </a:rPr>
              <a:t> UACOR </a:t>
            </a:r>
            <a:r>
              <a:rPr lang="en" sz="2000" dirty="0">
                <a:solidFill>
                  <a:schemeClr val="tx1"/>
                </a:solidFill>
                <a:latin typeface="Times New Roman" panose="02020603050405020304" pitchFamily="18" charset="0"/>
                <a:cs typeface="Times New Roman" panose="02020603050405020304" pitchFamily="18" charset="0"/>
              </a:rPr>
              <a:t>exploits the behavior of all the three previously proposed algorithms</a:t>
            </a:r>
          </a:p>
          <a:p>
            <a:pPr lvl="0">
              <a:buFont typeface="Wingdings" panose="05000000000000000000" pitchFamily="2" charset="2"/>
              <a:buChar char="§"/>
            </a:pPr>
            <a:r>
              <a:rPr lang="en" sz="2000" dirty="0" smtClean="0">
                <a:solidFill>
                  <a:schemeClr val="tx1"/>
                </a:solidFill>
                <a:latin typeface="Times New Roman" panose="02020603050405020304" pitchFamily="18" charset="0"/>
                <a:cs typeface="Times New Roman" panose="02020603050405020304" pitchFamily="18" charset="0"/>
              </a:rPr>
              <a:t> UACOR-S </a:t>
            </a:r>
            <a:r>
              <a:rPr lang="en" sz="2000" dirty="0">
                <a:solidFill>
                  <a:schemeClr val="tx1"/>
                </a:solidFill>
                <a:latin typeface="Times New Roman" panose="02020603050405020304" pitchFamily="18" charset="0"/>
                <a:cs typeface="Times New Roman" panose="02020603050405020304" pitchFamily="18" charset="0"/>
              </a:rPr>
              <a:t>and UACOR-C were derived from UACOR</a:t>
            </a:r>
          </a:p>
          <a:p>
            <a:pPr lvl="0">
              <a:buFont typeface="Wingdings" panose="05000000000000000000" pitchFamily="2" charset="2"/>
              <a:buChar char="§"/>
            </a:pPr>
            <a:r>
              <a:rPr lang="en" sz="2000" dirty="0" smtClean="0">
                <a:solidFill>
                  <a:schemeClr val="tx1"/>
                </a:solidFill>
                <a:latin typeface="Times New Roman" panose="02020603050405020304" pitchFamily="18" charset="0"/>
                <a:cs typeface="Times New Roman" panose="02020603050405020304" pitchFamily="18" charset="0"/>
              </a:rPr>
              <a:t> Both </a:t>
            </a:r>
            <a:r>
              <a:rPr lang="en" sz="2000" dirty="0">
                <a:solidFill>
                  <a:schemeClr val="tx1"/>
                </a:solidFill>
                <a:latin typeface="Times New Roman" panose="02020603050405020304" pitchFamily="18" charset="0"/>
                <a:cs typeface="Times New Roman" panose="02020603050405020304" pitchFamily="18" charset="0"/>
              </a:rPr>
              <a:t>derived algorithms were evaluated on two sets of benchmark functions</a:t>
            </a:r>
          </a:p>
          <a:p>
            <a:pPr lvl="0">
              <a:buFont typeface="Wingdings" panose="05000000000000000000" pitchFamily="2" charset="2"/>
              <a:buChar char="§"/>
            </a:pPr>
            <a:r>
              <a:rPr lang="en" sz="2000" dirty="0" smtClean="0">
                <a:solidFill>
                  <a:schemeClr val="tx1"/>
                </a:solidFill>
                <a:latin typeface="Times New Roman" panose="02020603050405020304" pitchFamily="18" charset="0"/>
                <a:cs typeface="Times New Roman" panose="02020603050405020304" pitchFamily="18" charset="0"/>
              </a:rPr>
              <a:t> 19 </a:t>
            </a:r>
            <a:r>
              <a:rPr lang="en" sz="2000" dirty="0">
                <a:solidFill>
                  <a:schemeClr val="tx1"/>
                </a:solidFill>
                <a:latin typeface="Times New Roman" panose="02020603050405020304" pitchFamily="18" charset="0"/>
                <a:cs typeface="Times New Roman" panose="02020603050405020304" pitchFamily="18" charset="0"/>
              </a:rPr>
              <a:t>functions were from SOCO benchmark functions and 25 functions were from CEC 05 </a:t>
            </a:r>
            <a:r>
              <a:rPr lang="en" sz="2000" dirty="0" smtClean="0">
                <a:solidFill>
                  <a:schemeClr val="tx1"/>
                </a:solidFill>
                <a:latin typeface="Times New Roman" panose="02020603050405020304" pitchFamily="18" charset="0"/>
                <a:cs typeface="Times New Roman" panose="02020603050405020304" pitchFamily="18" charset="0"/>
              </a:rPr>
              <a:t> benchmark </a:t>
            </a:r>
            <a:r>
              <a:rPr lang="en" sz="2000" dirty="0">
                <a:solidFill>
                  <a:schemeClr val="tx1"/>
                </a:solidFill>
                <a:latin typeface="Times New Roman" panose="02020603050405020304" pitchFamily="18" charset="0"/>
                <a:cs typeface="Times New Roman" panose="02020603050405020304" pitchFamily="18" charset="0"/>
              </a:rPr>
              <a:t>set</a:t>
            </a:r>
          </a:p>
          <a:p>
            <a:pPr lvl="0">
              <a:buFont typeface="Wingdings" panose="05000000000000000000" pitchFamily="2" charset="2"/>
              <a:buChar char="§"/>
            </a:pPr>
            <a:r>
              <a:rPr lang="en" sz="2000" dirty="0" smtClean="0">
                <a:solidFill>
                  <a:schemeClr val="tx1"/>
                </a:solidFill>
                <a:latin typeface="Times New Roman" panose="02020603050405020304" pitchFamily="18" charset="0"/>
                <a:cs typeface="Times New Roman" panose="02020603050405020304" pitchFamily="18" charset="0"/>
              </a:rPr>
              <a:t> Results </a:t>
            </a:r>
            <a:r>
              <a:rPr lang="en" sz="2000" dirty="0">
                <a:solidFill>
                  <a:schemeClr val="tx1"/>
                </a:solidFill>
                <a:latin typeface="Times New Roman" panose="02020603050405020304" pitchFamily="18" charset="0"/>
                <a:cs typeface="Times New Roman" panose="02020603050405020304" pitchFamily="18" charset="0"/>
              </a:rPr>
              <a:t>show that ACO algorithms have high potential in solving continuous optimization problems</a:t>
            </a:r>
          </a:p>
        </p:txBody>
      </p:sp>
      <p:sp>
        <p:nvSpPr>
          <p:cNvPr id="2" name="Slide Number Placeholder 1"/>
          <p:cNvSpPr>
            <a:spLocks noGrp="1"/>
          </p:cNvSpPr>
          <p:nvPr>
            <p:ph type="sldNum" idx="12"/>
          </p:nvPr>
        </p:nvSpPr>
        <p:spPr/>
        <p:txBody>
          <a:bodyPr/>
          <a:lstStyle/>
          <a:p>
            <a:pPr lvl="0">
              <a:spcBef>
                <a:spcPts val="0"/>
              </a:spcBef>
              <a:buNone/>
            </a:pPr>
            <a:fld id="{00000000-1234-1234-1234-123412341234}" type="slidenum">
              <a:rPr lang="en" smtClean="0"/>
              <a:t>13</a:t>
            </a:fld>
            <a:endParaRPr lang="en" dirty="0"/>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34"/>
        <p:cNvGrpSpPr/>
        <p:nvPr/>
      </p:nvGrpSpPr>
      <p:grpSpPr>
        <a:xfrm>
          <a:off x="0" y="0"/>
          <a:ext cx="0" cy="0"/>
          <a:chOff x="0" y="0"/>
          <a:chExt cx="0" cy="0"/>
        </a:xfrm>
      </p:grpSpPr>
      <p:sp>
        <p:nvSpPr>
          <p:cNvPr id="135" name="Shape 135"/>
          <p:cNvSpPr txBox="1">
            <a:spLocks noGrp="1"/>
          </p:cNvSpPr>
          <p:nvPr>
            <p:ph type="title"/>
          </p:nvPr>
        </p:nvSpPr>
        <p:spPr>
          <a:xfrm>
            <a:off x="311700" y="349259"/>
            <a:ext cx="8520600" cy="965700"/>
          </a:xfrm>
          <a:prstGeom prst="rect">
            <a:avLst/>
          </a:prstGeom>
        </p:spPr>
        <p:txBody>
          <a:bodyPr wrap="square" lIns="91425" tIns="91425" rIns="91425" bIns="91425" anchor="t" anchorCtr="0">
            <a:noAutofit/>
          </a:bodyPr>
          <a:lstStyle/>
          <a:p>
            <a:pPr>
              <a:buClr>
                <a:schemeClr val="dk2"/>
              </a:buClr>
              <a:buSzPct val="36666"/>
            </a:pPr>
            <a:r>
              <a:rPr lang="en" sz="3200" b="1" dirty="0">
                <a:solidFill>
                  <a:schemeClr val="tx1"/>
                </a:solidFill>
                <a:latin typeface="Times New Roman" panose="02020603050405020304" pitchFamily="18" charset="0"/>
                <a:ea typeface="Calibri"/>
                <a:cs typeface="Times New Roman" panose="02020603050405020304" pitchFamily="18" charset="0"/>
              </a:rPr>
              <a:t>A Unified Ant Colony Optimization Algorithm for Continuous </a:t>
            </a:r>
            <a:r>
              <a:rPr lang="en" sz="3200" b="1" dirty="0" smtClean="0">
                <a:solidFill>
                  <a:schemeClr val="tx1"/>
                </a:solidFill>
                <a:latin typeface="Times New Roman" panose="02020603050405020304" pitchFamily="18" charset="0"/>
                <a:ea typeface="Calibri"/>
                <a:cs typeface="Times New Roman" panose="02020603050405020304" pitchFamily="18" charset="0"/>
              </a:rPr>
              <a:t>Optimization [</a:t>
            </a:r>
            <a:r>
              <a:rPr lang="en" sz="3200" b="1" dirty="0">
                <a:solidFill>
                  <a:schemeClr val="tx1"/>
                </a:solidFill>
                <a:latin typeface="Times New Roman" panose="02020603050405020304" pitchFamily="18" charset="0"/>
                <a:ea typeface="Calibri"/>
                <a:cs typeface="Times New Roman" panose="02020603050405020304" pitchFamily="18" charset="0"/>
              </a:rPr>
              <a:t>3]</a:t>
            </a:r>
          </a:p>
        </p:txBody>
      </p:sp>
      <p:sp>
        <p:nvSpPr>
          <p:cNvPr id="136" name="Shape 136"/>
          <p:cNvSpPr txBox="1">
            <a:spLocks noGrp="1"/>
          </p:cNvSpPr>
          <p:nvPr>
            <p:ph type="body" idx="1"/>
          </p:nvPr>
        </p:nvSpPr>
        <p:spPr>
          <a:xfrm>
            <a:off x="311700" y="1376100"/>
            <a:ext cx="8520600" cy="3767400"/>
          </a:xfrm>
          <a:prstGeom prst="rect">
            <a:avLst/>
          </a:prstGeom>
        </p:spPr>
        <p:txBody>
          <a:bodyPr wrap="square" lIns="91425" tIns="91425" rIns="91425" bIns="91425" anchor="t" anchorCtr="0">
            <a:noAutofit/>
          </a:bodyPr>
          <a:lstStyle/>
          <a:p>
            <a:pPr>
              <a:buNone/>
            </a:pPr>
            <a:r>
              <a:rPr lang="en" sz="2400" b="1" u="sng" dirty="0">
                <a:solidFill>
                  <a:schemeClr val="tx1"/>
                </a:solidFill>
                <a:latin typeface="Times New Roman" panose="02020603050405020304" pitchFamily="18" charset="0"/>
                <a:cs typeface="Times New Roman" panose="02020603050405020304" pitchFamily="18" charset="0"/>
              </a:rPr>
              <a:t>Strengths</a:t>
            </a:r>
          </a:p>
          <a:p>
            <a:pPr marL="482600" lvl="0" indent="-342900">
              <a:buFont typeface="Wingdings" panose="05000000000000000000" pitchFamily="2" charset="2"/>
              <a:buChar char="§"/>
            </a:pPr>
            <a:r>
              <a:rPr lang="en" sz="2000" dirty="0">
                <a:solidFill>
                  <a:schemeClr val="tx1"/>
                </a:solidFill>
                <a:latin typeface="Times New Roman" panose="02020603050405020304" pitchFamily="18" charset="0"/>
                <a:cs typeface="Times New Roman" panose="02020603050405020304" pitchFamily="18" charset="0"/>
              </a:rPr>
              <a:t>The author has exploited the algorithmic components of previous three </a:t>
            </a:r>
            <a:r>
              <a:rPr lang="en" sz="2000" dirty="0" smtClean="0">
                <a:solidFill>
                  <a:schemeClr val="tx1"/>
                </a:solidFill>
                <a:latin typeface="Times New Roman" panose="02020603050405020304" pitchFamily="18" charset="0"/>
                <a:cs typeface="Times New Roman" panose="02020603050405020304" pitchFamily="18" charset="0"/>
              </a:rPr>
              <a:t>Continuous </a:t>
            </a:r>
            <a:r>
              <a:rPr lang="en" sz="2000" dirty="0">
                <a:solidFill>
                  <a:schemeClr val="tx1"/>
                </a:solidFill>
                <a:latin typeface="Times New Roman" panose="02020603050405020304" pitchFamily="18" charset="0"/>
                <a:cs typeface="Times New Roman" panose="02020603050405020304" pitchFamily="18" charset="0"/>
              </a:rPr>
              <a:t>ACO </a:t>
            </a:r>
            <a:r>
              <a:rPr lang="en" sz="2000" dirty="0" smtClean="0">
                <a:solidFill>
                  <a:schemeClr val="tx1"/>
                </a:solidFill>
                <a:latin typeface="Times New Roman" panose="02020603050405020304" pitchFamily="18" charset="0"/>
                <a:cs typeface="Times New Roman" panose="02020603050405020304" pitchFamily="18" charset="0"/>
              </a:rPr>
              <a:t>algorithms </a:t>
            </a:r>
            <a:r>
              <a:rPr lang="en" sz="2000" dirty="0">
                <a:solidFill>
                  <a:schemeClr val="tx1"/>
                </a:solidFill>
                <a:latin typeface="Times New Roman" panose="02020603050405020304" pitchFamily="18" charset="0"/>
                <a:cs typeface="Times New Roman" panose="02020603050405020304" pitchFamily="18" charset="0"/>
              </a:rPr>
              <a:t>by using automatic algorithmic configuration technique</a:t>
            </a:r>
          </a:p>
          <a:p>
            <a:pPr lvl="0">
              <a:buNone/>
            </a:pPr>
            <a:r>
              <a:rPr lang="en" sz="2400" b="1" u="sng" dirty="0" smtClean="0">
                <a:solidFill>
                  <a:schemeClr val="tx1"/>
                </a:solidFill>
                <a:latin typeface="Times New Roman" panose="02020603050405020304" pitchFamily="18" charset="0"/>
                <a:cs typeface="Times New Roman" panose="02020603050405020304" pitchFamily="18" charset="0"/>
              </a:rPr>
              <a:t>Weaknesses</a:t>
            </a:r>
            <a:endParaRPr lang="en" sz="2400" b="1" u="sng" dirty="0">
              <a:solidFill>
                <a:schemeClr val="tx1"/>
              </a:solidFill>
              <a:latin typeface="Times New Roman" panose="02020603050405020304" pitchFamily="18" charset="0"/>
              <a:cs typeface="Times New Roman" panose="02020603050405020304" pitchFamily="18" charset="0"/>
            </a:endParaRPr>
          </a:p>
          <a:p>
            <a:pPr marL="482600" indent="-342900">
              <a:buFont typeface="Wingdings" panose="05000000000000000000" pitchFamily="2" charset="2"/>
              <a:buChar char="§"/>
            </a:pPr>
            <a:r>
              <a:rPr lang="en" sz="2000" dirty="0">
                <a:solidFill>
                  <a:schemeClr val="tx1"/>
                </a:solidFill>
                <a:latin typeface="Times New Roman" panose="02020603050405020304" pitchFamily="18" charset="0"/>
                <a:cs typeface="Times New Roman" panose="02020603050405020304" pitchFamily="18" charset="0"/>
              </a:rPr>
              <a:t>For automatic algorithmic configuration an iterated F Race method was used which is highly computationally expensive</a:t>
            </a:r>
          </a:p>
          <a:p>
            <a:pPr marL="482600" indent="-342900">
              <a:buFont typeface="Wingdings" panose="05000000000000000000" pitchFamily="2" charset="2"/>
              <a:buChar char="§"/>
            </a:pPr>
            <a:r>
              <a:rPr lang="en" sz="2000" dirty="0">
                <a:solidFill>
                  <a:schemeClr val="tx1"/>
                </a:solidFill>
                <a:latin typeface="Times New Roman" panose="02020603050405020304" pitchFamily="18" charset="0"/>
                <a:cs typeface="Times New Roman" panose="02020603050405020304" pitchFamily="18" charset="0"/>
              </a:rPr>
              <a:t>Before every run an automatic tuning process is initialized once for the SOCO training instances to initiate UACOR-S and once for the CEC 05 training instances to initiate UACOR-C</a:t>
            </a:r>
          </a:p>
        </p:txBody>
      </p:sp>
      <p:sp>
        <p:nvSpPr>
          <p:cNvPr id="2" name="Slide Number Placeholder 1"/>
          <p:cNvSpPr>
            <a:spLocks noGrp="1"/>
          </p:cNvSpPr>
          <p:nvPr>
            <p:ph type="sldNum" idx="12"/>
          </p:nvPr>
        </p:nvSpPr>
        <p:spPr/>
        <p:txBody>
          <a:bodyPr/>
          <a:lstStyle/>
          <a:p>
            <a:pPr lvl="0">
              <a:spcBef>
                <a:spcPts val="0"/>
              </a:spcBef>
              <a:buNone/>
            </a:pPr>
            <a:fld id="{00000000-1234-1234-1234-123412341234}" type="slidenum">
              <a:rPr lang="en" smtClean="0"/>
              <a:t>14</a:t>
            </a:fld>
            <a:endParaRPr lang="en" dirty="0"/>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04"/>
        <p:cNvGrpSpPr/>
        <p:nvPr/>
      </p:nvGrpSpPr>
      <p:grpSpPr>
        <a:xfrm>
          <a:off x="0" y="0"/>
          <a:ext cx="0" cy="0"/>
          <a:chOff x="0" y="0"/>
          <a:chExt cx="0" cy="0"/>
        </a:xfrm>
      </p:grpSpPr>
      <p:sp>
        <p:nvSpPr>
          <p:cNvPr id="105" name="Shape 105"/>
          <p:cNvSpPr txBox="1">
            <a:spLocks noGrp="1"/>
          </p:cNvSpPr>
          <p:nvPr>
            <p:ph type="title"/>
          </p:nvPr>
        </p:nvSpPr>
        <p:spPr>
          <a:xfrm>
            <a:off x="251749" y="0"/>
            <a:ext cx="8520600" cy="1467059"/>
          </a:xfrm>
          <a:prstGeom prst="rect">
            <a:avLst/>
          </a:prstGeom>
        </p:spPr>
        <p:txBody>
          <a:bodyPr wrap="square" lIns="91425" tIns="91425" rIns="91425" bIns="91425" anchor="t" anchorCtr="0">
            <a:noAutofit/>
          </a:bodyPr>
          <a:lstStyle/>
          <a:p>
            <a:pPr lvl="0">
              <a:buClr>
                <a:schemeClr val="dk2"/>
              </a:buClr>
              <a:buSzPct val="36666"/>
            </a:pPr>
            <a:r>
              <a:rPr lang="en" sz="3200" b="1" dirty="0">
                <a:solidFill>
                  <a:schemeClr val="tx1"/>
                </a:solidFill>
                <a:latin typeface="Times New Roman" panose="02020603050405020304" pitchFamily="18" charset="0"/>
                <a:ea typeface="Calibri"/>
                <a:cs typeface="Times New Roman" panose="02020603050405020304" pitchFamily="18" charset="0"/>
              </a:rPr>
              <a:t>Multiobjective Optimization for Locating Multiple Optimal Solutions of Multimodal Optimization Problems [4]</a:t>
            </a:r>
          </a:p>
        </p:txBody>
      </p:sp>
      <p:sp>
        <p:nvSpPr>
          <p:cNvPr id="106" name="Shape 106"/>
          <p:cNvSpPr txBox="1">
            <a:spLocks noGrp="1"/>
          </p:cNvSpPr>
          <p:nvPr>
            <p:ph type="body" idx="1"/>
          </p:nvPr>
        </p:nvSpPr>
        <p:spPr>
          <a:xfrm>
            <a:off x="251749" y="1467059"/>
            <a:ext cx="8520600" cy="2917500"/>
          </a:xfrm>
          <a:prstGeom prst="rect">
            <a:avLst/>
          </a:prstGeom>
        </p:spPr>
        <p:txBody>
          <a:bodyPr wrap="square" lIns="91425" tIns="91425" rIns="91425" bIns="91425" anchor="t" anchorCtr="0">
            <a:noAutofit/>
          </a:bodyPr>
          <a:lstStyle/>
          <a:p>
            <a:pPr>
              <a:buFont typeface="Wingdings" panose="05000000000000000000" pitchFamily="2" charset="2"/>
              <a:buChar char="§"/>
            </a:pPr>
            <a:r>
              <a:rPr lang="en" sz="2000" dirty="0" smtClean="0">
                <a:solidFill>
                  <a:schemeClr val="tx1"/>
                </a:solidFill>
                <a:latin typeface="Times New Roman" panose="02020603050405020304" pitchFamily="18" charset="0"/>
                <a:cs typeface="Times New Roman" panose="02020603050405020304" pitchFamily="18" charset="0"/>
              </a:rPr>
              <a:t> Multiobjective </a:t>
            </a:r>
            <a:r>
              <a:rPr lang="en" sz="2000" dirty="0">
                <a:solidFill>
                  <a:schemeClr val="tx1"/>
                </a:solidFill>
                <a:latin typeface="Times New Roman" panose="02020603050405020304" pitchFamily="18" charset="0"/>
                <a:cs typeface="Times New Roman" panose="02020603050405020304" pitchFamily="18" charset="0"/>
              </a:rPr>
              <a:t>optimization technique to solve multimodal problem</a:t>
            </a:r>
          </a:p>
          <a:p>
            <a:pPr>
              <a:buFont typeface="Wingdings" panose="05000000000000000000" pitchFamily="2" charset="2"/>
              <a:buChar char="§"/>
            </a:pPr>
            <a:r>
              <a:rPr lang="en" sz="2000" dirty="0" smtClean="0">
                <a:solidFill>
                  <a:schemeClr val="tx1"/>
                </a:solidFill>
                <a:latin typeface="Times New Roman" panose="02020603050405020304" pitchFamily="18" charset="0"/>
                <a:cs typeface="Times New Roman" panose="02020603050405020304" pitchFamily="18" charset="0"/>
              </a:rPr>
              <a:t> Transformed </a:t>
            </a:r>
            <a:r>
              <a:rPr lang="en" sz="2000" dirty="0">
                <a:solidFill>
                  <a:schemeClr val="tx1"/>
                </a:solidFill>
                <a:latin typeface="Times New Roman" panose="02020603050405020304" pitchFamily="18" charset="0"/>
                <a:cs typeface="Times New Roman" panose="02020603050405020304" pitchFamily="18" charset="0"/>
              </a:rPr>
              <a:t>Multimodal optimization problem to multiobjective optimization </a:t>
            </a:r>
            <a:r>
              <a:rPr lang="en" sz="2000" dirty="0" smtClean="0">
                <a:solidFill>
                  <a:schemeClr val="tx1"/>
                </a:solidFill>
                <a:latin typeface="Times New Roman" panose="02020603050405020304" pitchFamily="18" charset="0"/>
                <a:cs typeface="Times New Roman" panose="02020603050405020304" pitchFamily="18" charset="0"/>
              </a:rPr>
              <a:t> problem</a:t>
            </a:r>
            <a:endParaRPr lang="en" sz="2000" dirty="0">
              <a:solidFill>
                <a:schemeClr val="tx1"/>
              </a:solidFill>
              <a:latin typeface="Times New Roman" panose="02020603050405020304" pitchFamily="18" charset="0"/>
              <a:cs typeface="Times New Roman" panose="02020603050405020304" pitchFamily="18" charset="0"/>
            </a:endParaRPr>
          </a:p>
          <a:p>
            <a:pPr>
              <a:buFont typeface="Wingdings" panose="05000000000000000000" pitchFamily="2" charset="2"/>
              <a:buChar char="§"/>
            </a:pPr>
            <a:r>
              <a:rPr lang="en" sz="2000" dirty="0" smtClean="0">
                <a:solidFill>
                  <a:schemeClr val="tx1"/>
                </a:solidFill>
                <a:latin typeface="Times New Roman" panose="02020603050405020304" pitchFamily="18" charset="0"/>
                <a:cs typeface="Times New Roman" panose="02020603050405020304" pitchFamily="18" charset="0"/>
              </a:rPr>
              <a:t> Incorporated </a:t>
            </a:r>
            <a:r>
              <a:rPr lang="en" sz="2000" dirty="0">
                <a:solidFill>
                  <a:schemeClr val="tx1"/>
                </a:solidFill>
                <a:latin typeface="Times New Roman" panose="02020603050405020304" pitchFamily="18" charset="0"/>
                <a:cs typeface="Times New Roman" panose="02020603050405020304" pitchFamily="18" charset="0"/>
              </a:rPr>
              <a:t>two conflicting objectives</a:t>
            </a:r>
          </a:p>
          <a:p>
            <a:pPr>
              <a:buFont typeface="Wingdings" panose="05000000000000000000" pitchFamily="2" charset="2"/>
              <a:buChar char="§"/>
            </a:pPr>
            <a:r>
              <a:rPr lang="en" sz="2000" dirty="0" smtClean="0">
                <a:solidFill>
                  <a:schemeClr val="tx1"/>
                </a:solidFill>
                <a:latin typeface="Times New Roman" panose="02020603050405020304" pitchFamily="18" charset="0"/>
                <a:cs typeface="Times New Roman" panose="02020603050405020304" pitchFamily="18" charset="0"/>
              </a:rPr>
              <a:t> Introduced </a:t>
            </a:r>
            <a:r>
              <a:rPr lang="en" sz="2000" dirty="0">
                <a:solidFill>
                  <a:schemeClr val="tx1"/>
                </a:solidFill>
                <a:latin typeface="Times New Roman" panose="02020603050405020304" pitchFamily="18" charset="0"/>
                <a:cs typeface="Times New Roman" panose="02020603050405020304" pitchFamily="18" charset="0"/>
              </a:rPr>
              <a:t>two new comparison criterias which solved pareto dominance </a:t>
            </a:r>
            <a:r>
              <a:rPr lang="en" sz="2000" dirty="0" smtClean="0">
                <a:solidFill>
                  <a:schemeClr val="tx1"/>
                </a:solidFill>
                <a:latin typeface="Times New Roman" panose="02020603050405020304" pitchFamily="18" charset="0"/>
                <a:cs typeface="Times New Roman" panose="02020603050405020304" pitchFamily="18" charset="0"/>
              </a:rPr>
              <a:t> problem</a:t>
            </a:r>
            <a:endParaRPr lang="en" sz="2000" dirty="0">
              <a:solidFill>
                <a:schemeClr val="tx1"/>
              </a:solidFill>
              <a:latin typeface="Times New Roman" panose="02020603050405020304" pitchFamily="18" charset="0"/>
              <a:cs typeface="Times New Roman" panose="02020603050405020304" pitchFamily="18" charset="0"/>
            </a:endParaRPr>
          </a:p>
          <a:p>
            <a:pPr>
              <a:buFont typeface="Wingdings" panose="05000000000000000000" pitchFamily="2" charset="2"/>
              <a:buChar char="§"/>
            </a:pPr>
            <a:r>
              <a:rPr lang="en" sz="2000" dirty="0" smtClean="0">
                <a:solidFill>
                  <a:schemeClr val="tx1"/>
                </a:solidFill>
                <a:latin typeface="Times New Roman" panose="02020603050405020304" pitchFamily="18" charset="0"/>
                <a:cs typeface="Times New Roman" panose="02020603050405020304" pitchFamily="18" charset="0"/>
              </a:rPr>
              <a:t> Integrated </a:t>
            </a:r>
            <a:r>
              <a:rPr lang="en" sz="2000" dirty="0">
                <a:solidFill>
                  <a:schemeClr val="tx1"/>
                </a:solidFill>
                <a:latin typeface="Times New Roman" panose="02020603050405020304" pitchFamily="18" charset="0"/>
                <a:cs typeface="Times New Roman" panose="02020603050405020304" pitchFamily="18" charset="0"/>
              </a:rPr>
              <a:t>MOMMOP with the nondominated sorting genetic algorithm </a:t>
            </a:r>
          </a:p>
          <a:p>
            <a:pPr>
              <a:buFont typeface="Wingdings" panose="05000000000000000000" pitchFamily="2" charset="2"/>
              <a:buChar char="§"/>
            </a:pPr>
            <a:r>
              <a:rPr lang="en" sz="2000" dirty="0" smtClean="0">
                <a:solidFill>
                  <a:schemeClr val="tx1"/>
                </a:solidFill>
                <a:latin typeface="Times New Roman" panose="02020603050405020304" pitchFamily="18" charset="0"/>
                <a:cs typeface="Times New Roman" panose="02020603050405020304" pitchFamily="18" charset="0"/>
              </a:rPr>
              <a:t> This </a:t>
            </a:r>
            <a:r>
              <a:rPr lang="en" sz="2000" dirty="0">
                <a:solidFill>
                  <a:schemeClr val="tx1"/>
                </a:solidFill>
                <a:latin typeface="Times New Roman" panose="02020603050405020304" pitchFamily="18" charset="0"/>
                <a:cs typeface="Times New Roman" panose="02020603050405020304" pitchFamily="18" charset="0"/>
              </a:rPr>
              <a:t>integrated version was evaluated on 20 benchmark test functions</a:t>
            </a:r>
          </a:p>
          <a:p>
            <a:pPr>
              <a:buFont typeface="Wingdings" panose="05000000000000000000" pitchFamily="2" charset="2"/>
              <a:buChar char="§"/>
            </a:pPr>
            <a:r>
              <a:rPr lang="en" sz="2000" dirty="0" smtClean="0">
                <a:solidFill>
                  <a:schemeClr val="tx1"/>
                </a:solidFill>
                <a:latin typeface="Times New Roman" panose="02020603050405020304" pitchFamily="18" charset="0"/>
                <a:cs typeface="Times New Roman" panose="02020603050405020304" pitchFamily="18" charset="0"/>
              </a:rPr>
              <a:t> Wilcoxon's </a:t>
            </a:r>
            <a:r>
              <a:rPr lang="en" sz="2000" dirty="0">
                <a:solidFill>
                  <a:schemeClr val="tx1"/>
                </a:solidFill>
                <a:latin typeface="Times New Roman" panose="02020603050405020304" pitchFamily="18" charset="0"/>
                <a:cs typeface="Times New Roman" panose="02020603050405020304" pitchFamily="18" charset="0"/>
              </a:rPr>
              <a:t>test and Friedman's test was conducted on peak ratio values</a:t>
            </a:r>
          </a:p>
        </p:txBody>
      </p:sp>
      <p:sp>
        <p:nvSpPr>
          <p:cNvPr id="2" name="Slide Number Placeholder 1"/>
          <p:cNvSpPr>
            <a:spLocks noGrp="1"/>
          </p:cNvSpPr>
          <p:nvPr>
            <p:ph type="sldNum" idx="12"/>
          </p:nvPr>
        </p:nvSpPr>
        <p:spPr/>
        <p:txBody>
          <a:bodyPr/>
          <a:lstStyle/>
          <a:p>
            <a:pPr lvl="0">
              <a:spcBef>
                <a:spcPts val="0"/>
              </a:spcBef>
              <a:buNone/>
            </a:pPr>
            <a:fld id="{00000000-1234-1234-1234-123412341234}" type="slidenum">
              <a:rPr lang="en" smtClean="0"/>
              <a:t>15</a:t>
            </a:fld>
            <a:endParaRPr lang="en" dirty="0"/>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10"/>
        <p:cNvGrpSpPr/>
        <p:nvPr/>
      </p:nvGrpSpPr>
      <p:grpSpPr>
        <a:xfrm>
          <a:off x="0" y="0"/>
          <a:ext cx="0" cy="0"/>
          <a:chOff x="0" y="0"/>
          <a:chExt cx="0" cy="0"/>
        </a:xfrm>
      </p:grpSpPr>
      <p:sp>
        <p:nvSpPr>
          <p:cNvPr id="111" name="Shape 111"/>
          <p:cNvSpPr txBox="1">
            <a:spLocks noGrp="1"/>
          </p:cNvSpPr>
          <p:nvPr>
            <p:ph type="title"/>
          </p:nvPr>
        </p:nvSpPr>
        <p:spPr>
          <a:xfrm>
            <a:off x="251749" y="0"/>
            <a:ext cx="8520600" cy="965700"/>
          </a:xfrm>
          <a:prstGeom prst="rect">
            <a:avLst/>
          </a:prstGeom>
        </p:spPr>
        <p:txBody>
          <a:bodyPr wrap="square" lIns="91425" tIns="91425" rIns="91425" bIns="91425" anchor="t" anchorCtr="0">
            <a:noAutofit/>
          </a:bodyPr>
          <a:lstStyle/>
          <a:p>
            <a:pPr>
              <a:buClr>
                <a:schemeClr val="dk2"/>
              </a:buClr>
              <a:buSzPct val="36666"/>
            </a:pPr>
            <a:r>
              <a:rPr lang="en" sz="3200" b="1" dirty="0">
                <a:solidFill>
                  <a:schemeClr val="tx1"/>
                </a:solidFill>
                <a:latin typeface="Times New Roman" panose="02020603050405020304" pitchFamily="18" charset="0"/>
                <a:ea typeface="Calibri"/>
                <a:cs typeface="Times New Roman" panose="02020603050405020304" pitchFamily="18" charset="0"/>
              </a:rPr>
              <a:t>Multiobjective Optimization for Locating Multiple Optimal Solutions of Multimodal Optimization </a:t>
            </a:r>
            <a:r>
              <a:rPr lang="en" sz="3200" b="1" dirty="0" smtClean="0">
                <a:solidFill>
                  <a:schemeClr val="tx1"/>
                </a:solidFill>
                <a:latin typeface="Times New Roman" panose="02020603050405020304" pitchFamily="18" charset="0"/>
                <a:ea typeface="Calibri"/>
                <a:cs typeface="Times New Roman" panose="02020603050405020304" pitchFamily="18" charset="0"/>
              </a:rPr>
              <a:t>Problems [</a:t>
            </a:r>
            <a:r>
              <a:rPr lang="en" sz="3200" b="1" dirty="0">
                <a:solidFill>
                  <a:schemeClr val="tx1"/>
                </a:solidFill>
                <a:latin typeface="Times New Roman" panose="02020603050405020304" pitchFamily="18" charset="0"/>
                <a:ea typeface="Calibri"/>
                <a:cs typeface="Times New Roman" panose="02020603050405020304" pitchFamily="18" charset="0"/>
              </a:rPr>
              <a:t>4]</a:t>
            </a:r>
          </a:p>
        </p:txBody>
      </p:sp>
      <p:sp>
        <p:nvSpPr>
          <p:cNvPr id="112" name="Shape 112"/>
          <p:cNvSpPr txBox="1">
            <a:spLocks noGrp="1"/>
          </p:cNvSpPr>
          <p:nvPr>
            <p:ph type="body" idx="1"/>
          </p:nvPr>
        </p:nvSpPr>
        <p:spPr>
          <a:xfrm>
            <a:off x="355277" y="1376100"/>
            <a:ext cx="8520600" cy="3767400"/>
          </a:xfrm>
          <a:prstGeom prst="rect">
            <a:avLst/>
          </a:prstGeom>
        </p:spPr>
        <p:txBody>
          <a:bodyPr wrap="square" lIns="91425" tIns="91425" rIns="91425" bIns="91425" anchor="t" anchorCtr="0">
            <a:noAutofit/>
          </a:bodyPr>
          <a:lstStyle/>
          <a:p>
            <a:pPr lvl="0">
              <a:buNone/>
            </a:pPr>
            <a:r>
              <a:rPr lang="en" sz="2400" b="1" u="sng" dirty="0">
                <a:solidFill>
                  <a:schemeClr val="tx1"/>
                </a:solidFill>
                <a:latin typeface="Times New Roman" panose="02020603050405020304" pitchFamily="18" charset="0"/>
                <a:cs typeface="Times New Roman" panose="02020603050405020304" pitchFamily="18" charset="0"/>
              </a:rPr>
              <a:t>Strengths</a:t>
            </a:r>
          </a:p>
          <a:p>
            <a:pPr marL="482600" indent="-342900">
              <a:buFont typeface="Wingdings" panose="05000000000000000000" pitchFamily="2" charset="2"/>
              <a:buChar char="§"/>
            </a:pPr>
            <a:r>
              <a:rPr lang="en" sz="2000" dirty="0">
                <a:solidFill>
                  <a:schemeClr val="tx1"/>
                </a:solidFill>
                <a:latin typeface="Times New Roman" panose="02020603050405020304" pitchFamily="18" charset="0"/>
                <a:cs typeface="Times New Roman" panose="02020603050405020304" pitchFamily="18" charset="0"/>
              </a:rPr>
              <a:t>Successful extraction of two conflicting objectives which are essential to transform MMOP to MOP.</a:t>
            </a:r>
          </a:p>
          <a:p>
            <a:pPr marL="482600" indent="-342900">
              <a:buFont typeface="Wingdings" panose="05000000000000000000" pitchFamily="2" charset="2"/>
              <a:buChar char="§"/>
            </a:pPr>
            <a:r>
              <a:rPr lang="en" sz="2000" dirty="0">
                <a:solidFill>
                  <a:schemeClr val="tx1"/>
                </a:solidFill>
                <a:latin typeface="Times New Roman" panose="02020603050405020304" pitchFamily="18" charset="0"/>
                <a:cs typeface="Times New Roman" panose="02020603050405020304" pitchFamily="18" charset="0"/>
              </a:rPr>
              <a:t>Solved Two pareto dominance problems by introducing two new comparison criterias</a:t>
            </a:r>
          </a:p>
          <a:p>
            <a:pPr lvl="0">
              <a:buNone/>
            </a:pPr>
            <a:r>
              <a:rPr lang="en" sz="2400" b="1" u="sng" dirty="0">
                <a:solidFill>
                  <a:schemeClr val="tx1"/>
                </a:solidFill>
                <a:latin typeface="Times New Roman" panose="02020603050405020304" pitchFamily="18" charset="0"/>
                <a:cs typeface="Times New Roman" panose="02020603050405020304" pitchFamily="18" charset="0"/>
              </a:rPr>
              <a:t>Weaknesses</a:t>
            </a:r>
          </a:p>
          <a:p>
            <a:pPr marL="482600" indent="-342900">
              <a:buFont typeface="Wingdings" panose="05000000000000000000" pitchFamily="2" charset="2"/>
              <a:buChar char="§"/>
            </a:pPr>
            <a:r>
              <a:rPr lang="en" sz="2000" dirty="0">
                <a:solidFill>
                  <a:schemeClr val="tx1"/>
                </a:solidFill>
                <a:latin typeface="Times New Roman" panose="02020603050405020304" pitchFamily="18" charset="0"/>
                <a:cs typeface="Times New Roman" panose="02020603050405020304" pitchFamily="18" charset="0"/>
              </a:rPr>
              <a:t>Mutation factor and crossover control parameter was fixed</a:t>
            </a:r>
          </a:p>
          <a:p>
            <a:pPr marL="482600" indent="-342900">
              <a:buFont typeface="Wingdings" panose="05000000000000000000" pitchFamily="2" charset="2"/>
              <a:buChar char="§"/>
            </a:pPr>
            <a:r>
              <a:rPr lang="en" sz="2000" dirty="0">
                <a:solidFill>
                  <a:schemeClr val="tx1"/>
                </a:solidFill>
                <a:latin typeface="Times New Roman" panose="02020603050405020304" pitchFamily="18" charset="0"/>
                <a:cs typeface="Times New Roman" panose="02020603050405020304" pitchFamily="18" charset="0"/>
              </a:rPr>
              <a:t>Dynamic settings were used for the scaling factor</a:t>
            </a:r>
          </a:p>
          <a:p>
            <a:pPr marL="482600" indent="-342900">
              <a:buFont typeface="Wingdings" panose="05000000000000000000" pitchFamily="2" charset="2"/>
              <a:buChar char="§"/>
            </a:pPr>
            <a:r>
              <a:rPr lang="en" sz="2000" dirty="0">
                <a:solidFill>
                  <a:schemeClr val="tx1"/>
                </a:solidFill>
                <a:latin typeface="Times New Roman" panose="02020603050405020304" pitchFamily="18" charset="0"/>
                <a:cs typeface="Times New Roman" panose="02020603050405020304" pitchFamily="18" charset="0"/>
              </a:rPr>
              <a:t>Neighborhood information can be used to enhance the CS and the quality of the solution</a:t>
            </a:r>
          </a:p>
        </p:txBody>
      </p:sp>
      <p:sp>
        <p:nvSpPr>
          <p:cNvPr id="2" name="Slide Number Placeholder 1"/>
          <p:cNvSpPr>
            <a:spLocks noGrp="1"/>
          </p:cNvSpPr>
          <p:nvPr>
            <p:ph type="sldNum" idx="12"/>
          </p:nvPr>
        </p:nvSpPr>
        <p:spPr/>
        <p:txBody>
          <a:bodyPr/>
          <a:lstStyle/>
          <a:p>
            <a:pPr lvl="0">
              <a:spcBef>
                <a:spcPts val="0"/>
              </a:spcBef>
              <a:buNone/>
            </a:pPr>
            <a:fld id="{00000000-1234-1234-1234-123412341234}" type="slidenum">
              <a:rPr lang="en" smtClean="0"/>
              <a:t>16</a:t>
            </a:fld>
            <a:endParaRPr lang="en" dirty="0"/>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16"/>
        <p:cNvGrpSpPr/>
        <p:nvPr/>
      </p:nvGrpSpPr>
      <p:grpSpPr>
        <a:xfrm>
          <a:off x="0" y="0"/>
          <a:ext cx="0" cy="0"/>
          <a:chOff x="0" y="0"/>
          <a:chExt cx="0" cy="0"/>
        </a:xfrm>
      </p:grpSpPr>
      <p:sp>
        <p:nvSpPr>
          <p:cNvPr id="117" name="Shape 117"/>
          <p:cNvSpPr txBox="1">
            <a:spLocks noGrp="1"/>
          </p:cNvSpPr>
          <p:nvPr>
            <p:ph type="title"/>
          </p:nvPr>
        </p:nvSpPr>
        <p:spPr>
          <a:xfrm>
            <a:off x="311700" y="0"/>
            <a:ext cx="8520600" cy="965700"/>
          </a:xfrm>
          <a:prstGeom prst="rect">
            <a:avLst/>
          </a:prstGeom>
        </p:spPr>
        <p:txBody>
          <a:bodyPr wrap="square" lIns="91425" tIns="91425" rIns="91425" bIns="91425" anchor="t" anchorCtr="0">
            <a:noAutofit/>
          </a:bodyPr>
          <a:lstStyle/>
          <a:p>
            <a:pPr lvl="0">
              <a:buClr>
                <a:schemeClr val="dk2"/>
              </a:buClr>
              <a:buSzPct val="36666"/>
            </a:pPr>
            <a:r>
              <a:rPr lang="en" sz="3200" b="1" dirty="0">
                <a:solidFill>
                  <a:schemeClr val="tx1"/>
                </a:solidFill>
                <a:latin typeface="Times New Roman" panose="02020603050405020304" pitchFamily="18" charset="0"/>
                <a:ea typeface="Calibri"/>
                <a:cs typeface="Times New Roman" panose="02020603050405020304" pitchFamily="18" charset="0"/>
              </a:rPr>
              <a:t>Running Up Those Hills: MultiModal Search With the Niching Migratory Multi-Swarm Optimizer [5]</a:t>
            </a:r>
          </a:p>
        </p:txBody>
      </p:sp>
      <p:sp>
        <p:nvSpPr>
          <p:cNvPr id="118" name="Shape 118"/>
          <p:cNvSpPr txBox="1">
            <a:spLocks noGrp="1"/>
          </p:cNvSpPr>
          <p:nvPr>
            <p:ph type="body" idx="1"/>
          </p:nvPr>
        </p:nvSpPr>
        <p:spPr>
          <a:xfrm>
            <a:off x="526099" y="1584600"/>
            <a:ext cx="8520600" cy="2917500"/>
          </a:xfrm>
          <a:prstGeom prst="rect">
            <a:avLst/>
          </a:prstGeom>
        </p:spPr>
        <p:txBody>
          <a:bodyPr wrap="square" lIns="91425" tIns="91425" rIns="91425" bIns="91425" anchor="t" anchorCtr="0">
            <a:noAutofit/>
          </a:bodyPr>
          <a:lstStyle/>
          <a:p>
            <a:pPr lvl="0">
              <a:buFont typeface="Wingdings" panose="05000000000000000000" pitchFamily="2" charset="2"/>
              <a:buChar char="§"/>
            </a:pPr>
            <a:r>
              <a:rPr lang="en" sz="2000" dirty="0" smtClean="0">
                <a:solidFill>
                  <a:schemeClr val="tx1"/>
                </a:solidFill>
                <a:latin typeface="Times New Roman" panose="02020603050405020304" pitchFamily="18" charset="0"/>
                <a:cs typeface="Times New Roman" panose="02020603050405020304" pitchFamily="18" charset="0"/>
              </a:rPr>
              <a:t> Used </a:t>
            </a:r>
            <a:r>
              <a:rPr lang="en" sz="2000" dirty="0">
                <a:solidFill>
                  <a:schemeClr val="tx1"/>
                </a:solidFill>
                <a:latin typeface="Times New Roman" panose="02020603050405020304" pitchFamily="18" charset="0"/>
                <a:cs typeface="Times New Roman" panose="02020603050405020304" pitchFamily="18" charset="0"/>
              </a:rPr>
              <a:t>PSO for solving multimodal optimization problem</a:t>
            </a:r>
          </a:p>
          <a:p>
            <a:pPr lvl="0">
              <a:buFont typeface="Wingdings" panose="05000000000000000000" pitchFamily="2" charset="2"/>
              <a:buChar char="§"/>
            </a:pPr>
            <a:r>
              <a:rPr lang="en" sz="2000" dirty="0" smtClean="0">
                <a:solidFill>
                  <a:schemeClr val="tx1"/>
                </a:solidFill>
                <a:latin typeface="Times New Roman" panose="02020603050405020304" pitchFamily="18" charset="0"/>
                <a:cs typeface="Times New Roman" panose="02020603050405020304" pitchFamily="18" charset="0"/>
              </a:rPr>
              <a:t> Exploit </a:t>
            </a:r>
            <a:r>
              <a:rPr lang="en" sz="2000" dirty="0">
                <a:solidFill>
                  <a:schemeClr val="tx1"/>
                </a:solidFill>
                <a:latin typeface="Times New Roman" panose="02020603050405020304" pitchFamily="18" charset="0"/>
                <a:cs typeface="Times New Roman" panose="02020603050405020304" pitchFamily="18" charset="0"/>
              </a:rPr>
              <a:t>the regions that lie outside the hypercuboid structure of PSO</a:t>
            </a:r>
          </a:p>
          <a:p>
            <a:pPr lvl="0">
              <a:buFont typeface="Wingdings" panose="05000000000000000000" pitchFamily="2" charset="2"/>
              <a:buChar char="§"/>
            </a:pPr>
            <a:r>
              <a:rPr lang="en" sz="2000" dirty="0" smtClean="0">
                <a:solidFill>
                  <a:schemeClr val="tx1"/>
                </a:solidFill>
                <a:latin typeface="Times New Roman" panose="02020603050405020304" pitchFamily="18" charset="0"/>
                <a:cs typeface="Times New Roman" panose="02020603050405020304" pitchFamily="18" charset="0"/>
              </a:rPr>
              <a:t> Used </a:t>
            </a:r>
            <a:r>
              <a:rPr lang="en" sz="2000" dirty="0">
                <a:solidFill>
                  <a:schemeClr val="tx1"/>
                </a:solidFill>
                <a:latin typeface="Times New Roman" panose="02020603050405020304" pitchFamily="18" charset="0"/>
                <a:cs typeface="Times New Roman" panose="02020603050405020304" pitchFamily="18" charset="0"/>
              </a:rPr>
              <a:t>multiple swarms each optimizing a particular region in the search landscape</a:t>
            </a:r>
          </a:p>
          <a:p>
            <a:pPr lvl="0">
              <a:buFont typeface="Wingdings" panose="05000000000000000000" pitchFamily="2" charset="2"/>
              <a:buChar char="§"/>
            </a:pPr>
            <a:r>
              <a:rPr lang="en" sz="2000" dirty="0" smtClean="0">
                <a:solidFill>
                  <a:schemeClr val="tx1"/>
                </a:solidFill>
                <a:latin typeface="Times New Roman" panose="02020603050405020304" pitchFamily="18" charset="0"/>
                <a:cs typeface="Times New Roman" panose="02020603050405020304" pitchFamily="18" charset="0"/>
              </a:rPr>
              <a:t> Swarms </a:t>
            </a:r>
            <a:r>
              <a:rPr lang="en" sz="2000" dirty="0">
                <a:solidFill>
                  <a:schemeClr val="tx1"/>
                </a:solidFill>
                <a:latin typeface="Times New Roman" panose="02020603050405020304" pitchFamily="18" charset="0"/>
                <a:cs typeface="Times New Roman" panose="02020603050405020304" pitchFamily="18" charset="0"/>
              </a:rPr>
              <a:t>can merge if they lie in the region having same peak of optimal solution</a:t>
            </a:r>
          </a:p>
          <a:p>
            <a:pPr lvl="0">
              <a:buFont typeface="Wingdings" panose="05000000000000000000" pitchFamily="2" charset="2"/>
              <a:buChar char="§"/>
            </a:pPr>
            <a:r>
              <a:rPr lang="en" sz="2000" dirty="0" smtClean="0">
                <a:solidFill>
                  <a:schemeClr val="tx1"/>
                </a:solidFill>
                <a:latin typeface="Times New Roman" panose="02020603050405020304" pitchFamily="18" charset="0"/>
                <a:cs typeface="Times New Roman" panose="02020603050405020304" pitchFamily="18" charset="0"/>
              </a:rPr>
              <a:t> Compared </a:t>
            </a:r>
            <a:r>
              <a:rPr lang="en" sz="2000" dirty="0">
                <a:solidFill>
                  <a:schemeClr val="tx1"/>
                </a:solidFill>
                <a:latin typeface="Times New Roman" panose="02020603050405020304" pitchFamily="18" charset="0"/>
                <a:cs typeface="Times New Roman" panose="02020603050405020304" pitchFamily="18" charset="0"/>
              </a:rPr>
              <a:t>with 20 benchmark problems of CEC 2013</a:t>
            </a:r>
          </a:p>
          <a:p>
            <a:pPr lvl="0">
              <a:buFont typeface="Wingdings" panose="05000000000000000000" pitchFamily="2" charset="2"/>
              <a:buChar char="§"/>
            </a:pPr>
            <a:r>
              <a:rPr lang="en" sz="2000" dirty="0" smtClean="0">
                <a:solidFill>
                  <a:schemeClr val="tx1"/>
                </a:solidFill>
                <a:latin typeface="Times New Roman" panose="02020603050405020304" pitchFamily="18" charset="0"/>
                <a:cs typeface="Times New Roman" panose="02020603050405020304" pitchFamily="18" charset="0"/>
              </a:rPr>
              <a:t> 50 </a:t>
            </a:r>
            <a:r>
              <a:rPr lang="en" sz="2000" dirty="0">
                <a:solidFill>
                  <a:schemeClr val="tx1"/>
                </a:solidFill>
                <a:latin typeface="Times New Roman" panose="02020603050405020304" pitchFamily="18" charset="0"/>
                <a:cs typeface="Times New Roman" panose="02020603050405020304" pitchFamily="18" charset="0"/>
              </a:rPr>
              <a:t>independent runs were carried out , success rate and peak ratio were the assessment criteria</a:t>
            </a:r>
          </a:p>
          <a:p>
            <a:pPr lvl="0" rtl="0">
              <a:spcBef>
                <a:spcPts val="0"/>
              </a:spcBef>
              <a:buNone/>
            </a:pPr>
            <a:endParaRPr sz="1600" dirty="0"/>
          </a:p>
        </p:txBody>
      </p:sp>
      <p:sp>
        <p:nvSpPr>
          <p:cNvPr id="2" name="Slide Number Placeholder 1"/>
          <p:cNvSpPr>
            <a:spLocks noGrp="1"/>
          </p:cNvSpPr>
          <p:nvPr>
            <p:ph type="sldNum" idx="12"/>
          </p:nvPr>
        </p:nvSpPr>
        <p:spPr/>
        <p:txBody>
          <a:bodyPr/>
          <a:lstStyle/>
          <a:p>
            <a:pPr lvl="0">
              <a:spcBef>
                <a:spcPts val="0"/>
              </a:spcBef>
              <a:buNone/>
            </a:pPr>
            <a:fld id="{00000000-1234-1234-1234-123412341234}" type="slidenum">
              <a:rPr lang="en" smtClean="0"/>
              <a:t>17</a:t>
            </a:fld>
            <a:endParaRPr lang="en" dirty="0"/>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22"/>
        <p:cNvGrpSpPr/>
        <p:nvPr/>
      </p:nvGrpSpPr>
      <p:grpSpPr>
        <a:xfrm>
          <a:off x="0" y="0"/>
          <a:ext cx="0" cy="0"/>
          <a:chOff x="0" y="0"/>
          <a:chExt cx="0" cy="0"/>
        </a:xfrm>
      </p:grpSpPr>
      <p:sp>
        <p:nvSpPr>
          <p:cNvPr id="123" name="Shape 123"/>
          <p:cNvSpPr txBox="1">
            <a:spLocks noGrp="1"/>
          </p:cNvSpPr>
          <p:nvPr>
            <p:ph type="title"/>
          </p:nvPr>
        </p:nvSpPr>
        <p:spPr>
          <a:xfrm>
            <a:off x="251749" y="0"/>
            <a:ext cx="8520600" cy="965700"/>
          </a:xfrm>
          <a:prstGeom prst="rect">
            <a:avLst/>
          </a:prstGeom>
        </p:spPr>
        <p:txBody>
          <a:bodyPr wrap="square" lIns="91425" tIns="91425" rIns="91425" bIns="91425" anchor="t" anchorCtr="0">
            <a:noAutofit/>
          </a:bodyPr>
          <a:lstStyle/>
          <a:p>
            <a:pPr>
              <a:buClr>
                <a:schemeClr val="dk2"/>
              </a:buClr>
              <a:buSzPct val="36666"/>
            </a:pPr>
            <a:r>
              <a:rPr lang="en" sz="3200" b="1" dirty="0">
                <a:solidFill>
                  <a:schemeClr val="tx1"/>
                </a:solidFill>
                <a:latin typeface="Times New Roman" panose="02020603050405020304" pitchFamily="18" charset="0"/>
                <a:ea typeface="Calibri"/>
                <a:cs typeface="Times New Roman" panose="02020603050405020304" pitchFamily="18" charset="0"/>
              </a:rPr>
              <a:t>Running Up Those Hills: MultiModal Search With the Niching Migratory Multi-Swarm Optimizer [5]</a:t>
            </a:r>
          </a:p>
        </p:txBody>
      </p:sp>
      <p:sp>
        <p:nvSpPr>
          <p:cNvPr id="124" name="Shape 124"/>
          <p:cNvSpPr txBox="1">
            <a:spLocks noGrp="1"/>
          </p:cNvSpPr>
          <p:nvPr>
            <p:ph type="body" idx="1"/>
          </p:nvPr>
        </p:nvSpPr>
        <p:spPr>
          <a:xfrm>
            <a:off x="355945" y="1503780"/>
            <a:ext cx="8520600" cy="3767400"/>
          </a:xfrm>
          <a:prstGeom prst="rect">
            <a:avLst/>
          </a:prstGeom>
        </p:spPr>
        <p:txBody>
          <a:bodyPr wrap="square" lIns="91425" tIns="91425" rIns="91425" bIns="91425" anchor="t" anchorCtr="0">
            <a:noAutofit/>
          </a:bodyPr>
          <a:lstStyle/>
          <a:p>
            <a:pPr lvl="0" rtl="0">
              <a:spcBef>
                <a:spcPts val="0"/>
              </a:spcBef>
              <a:buNone/>
            </a:pPr>
            <a:r>
              <a:rPr lang="en" sz="2400" b="1" u="sng" dirty="0">
                <a:solidFill>
                  <a:schemeClr val="tx1"/>
                </a:solidFill>
                <a:latin typeface="Times New Roman" panose="02020603050405020304" pitchFamily="18" charset="0"/>
                <a:cs typeface="Times New Roman" panose="02020603050405020304" pitchFamily="18" charset="0"/>
              </a:rPr>
              <a:t>Strengths</a:t>
            </a:r>
          </a:p>
          <a:p>
            <a:pPr marL="482600" lvl="0" indent="-342900">
              <a:buFont typeface="Wingdings" panose="05000000000000000000" pitchFamily="2" charset="2"/>
              <a:buChar char="§"/>
            </a:pPr>
            <a:r>
              <a:rPr lang="en" sz="2000" dirty="0">
                <a:solidFill>
                  <a:schemeClr val="tx1"/>
                </a:solidFill>
                <a:latin typeface="Times New Roman" panose="02020603050405020304" pitchFamily="18" charset="0"/>
                <a:cs typeface="Times New Roman" panose="02020603050405020304" pitchFamily="18" charset="0"/>
              </a:rPr>
              <a:t>The optimizer does not not require a niching radius or the no of niches to be set. Both of them are dynamically adjusted </a:t>
            </a:r>
          </a:p>
          <a:p>
            <a:pPr lvl="0" rtl="0">
              <a:spcBef>
                <a:spcPts val="0"/>
              </a:spcBef>
              <a:buNone/>
            </a:pPr>
            <a:r>
              <a:rPr lang="en" sz="2400" b="1" u="sng" dirty="0">
                <a:solidFill>
                  <a:schemeClr val="tx1"/>
                </a:solidFill>
                <a:latin typeface="Times New Roman" panose="02020603050405020304" pitchFamily="18" charset="0"/>
                <a:cs typeface="Times New Roman" panose="02020603050405020304" pitchFamily="18" charset="0"/>
              </a:rPr>
              <a:t>Weaknesses</a:t>
            </a:r>
          </a:p>
          <a:p>
            <a:pPr marL="482600" lvl="0" indent="-342900">
              <a:buFont typeface="Wingdings" panose="05000000000000000000" pitchFamily="2" charset="2"/>
              <a:buChar char="§"/>
            </a:pPr>
            <a:r>
              <a:rPr lang="en" sz="2000" dirty="0">
                <a:solidFill>
                  <a:schemeClr val="tx1"/>
                </a:solidFill>
                <a:latin typeface="Times New Roman" panose="02020603050405020304" pitchFamily="18" charset="0"/>
                <a:cs typeface="Times New Roman" panose="02020603050405020304" pitchFamily="18" charset="0"/>
              </a:rPr>
              <a:t>Parameter values are fixed e.g population size and the number of swarms</a:t>
            </a:r>
          </a:p>
        </p:txBody>
      </p:sp>
      <p:sp>
        <p:nvSpPr>
          <p:cNvPr id="2" name="Slide Number Placeholder 1"/>
          <p:cNvSpPr>
            <a:spLocks noGrp="1"/>
          </p:cNvSpPr>
          <p:nvPr>
            <p:ph type="sldNum" idx="12"/>
          </p:nvPr>
        </p:nvSpPr>
        <p:spPr/>
        <p:txBody>
          <a:bodyPr/>
          <a:lstStyle/>
          <a:p>
            <a:pPr lvl="0">
              <a:spcBef>
                <a:spcPts val="0"/>
              </a:spcBef>
              <a:buNone/>
            </a:pPr>
            <a:fld id="{00000000-1234-1234-1234-123412341234}" type="slidenum">
              <a:rPr lang="en" smtClean="0"/>
              <a:t>18</a:t>
            </a:fld>
            <a:endParaRPr lang="en" dirty="0"/>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52"/>
        <p:cNvGrpSpPr/>
        <p:nvPr/>
      </p:nvGrpSpPr>
      <p:grpSpPr>
        <a:xfrm>
          <a:off x="0" y="0"/>
          <a:ext cx="0" cy="0"/>
          <a:chOff x="0" y="0"/>
          <a:chExt cx="0" cy="0"/>
        </a:xfrm>
      </p:grpSpPr>
      <p:sp>
        <p:nvSpPr>
          <p:cNvPr id="153" name="Shape 153"/>
          <p:cNvSpPr txBox="1">
            <a:spLocks noGrp="1"/>
          </p:cNvSpPr>
          <p:nvPr>
            <p:ph type="title"/>
          </p:nvPr>
        </p:nvSpPr>
        <p:spPr>
          <a:xfrm>
            <a:off x="311700" y="354590"/>
            <a:ext cx="8520600" cy="965700"/>
          </a:xfrm>
          <a:prstGeom prst="rect">
            <a:avLst/>
          </a:prstGeom>
        </p:spPr>
        <p:txBody>
          <a:bodyPr wrap="square" lIns="91425" tIns="91425" rIns="91425" bIns="91425" anchor="t" anchorCtr="0">
            <a:noAutofit/>
          </a:bodyPr>
          <a:lstStyle/>
          <a:p>
            <a:pPr lvl="0">
              <a:buClr>
                <a:schemeClr val="dk2"/>
              </a:buClr>
              <a:buSzPct val="36666"/>
            </a:pPr>
            <a:r>
              <a:rPr lang="en" sz="3200" b="1" dirty="0">
                <a:solidFill>
                  <a:schemeClr val="tx1"/>
                </a:solidFill>
                <a:latin typeface="Times New Roman" panose="02020603050405020304" pitchFamily="18" charset="0"/>
                <a:ea typeface="Calibri"/>
                <a:cs typeface="Times New Roman" panose="02020603050405020304" pitchFamily="18" charset="0"/>
              </a:rPr>
              <a:t>A Distance Based Locally Informed Particle Swarm Model for MultiModal </a:t>
            </a:r>
            <a:r>
              <a:rPr lang="en" sz="3200" b="1" dirty="0" smtClean="0">
                <a:solidFill>
                  <a:schemeClr val="tx1"/>
                </a:solidFill>
                <a:latin typeface="Times New Roman" panose="02020603050405020304" pitchFamily="18" charset="0"/>
                <a:ea typeface="Calibri"/>
                <a:cs typeface="Times New Roman" panose="02020603050405020304" pitchFamily="18" charset="0"/>
              </a:rPr>
              <a:t>Optimization [</a:t>
            </a:r>
            <a:r>
              <a:rPr lang="en" sz="3200" b="1" dirty="0">
                <a:solidFill>
                  <a:schemeClr val="tx1"/>
                </a:solidFill>
                <a:latin typeface="Times New Roman" panose="02020603050405020304" pitchFamily="18" charset="0"/>
                <a:ea typeface="Calibri"/>
                <a:cs typeface="Times New Roman" panose="02020603050405020304" pitchFamily="18" charset="0"/>
              </a:rPr>
              <a:t>6]</a:t>
            </a:r>
          </a:p>
          <a:p>
            <a:pPr lvl="0" rtl="0">
              <a:spcBef>
                <a:spcPts val="0"/>
              </a:spcBef>
              <a:buNone/>
            </a:pPr>
            <a:endParaRPr dirty="0">
              <a:solidFill>
                <a:schemeClr val="tx1"/>
              </a:solidFill>
            </a:endParaRPr>
          </a:p>
          <a:p>
            <a:pPr lvl="0" rtl="0">
              <a:spcBef>
                <a:spcPts val="0"/>
              </a:spcBef>
              <a:buNone/>
            </a:pPr>
            <a:endParaRPr dirty="0">
              <a:solidFill>
                <a:schemeClr val="tx1"/>
              </a:solidFill>
            </a:endParaRPr>
          </a:p>
        </p:txBody>
      </p:sp>
      <p:sp>
        <p:nvSpPr>
          <p:cNvPr id="154" name="Shape 154"/>
          <p:cNvSpPr txBox="1">
            <a:spLocks noGrp="1"/>
          </p:cNvSpPr>
          <p:nvPr>
            <p:ph type="body" idx="1"/>
          </p:nvPr>
        </p:nvSpPr>
        <p:spPr>
          <a:xfrm>
            <a:off x="311700" y="1545774"/>
            <a:ext cx="8520600" cy="2917500"/>
          </a:xfrm>
          <a:prstGeom prst="rect">
            <a:avLst/>
          </a:prstGeom>
        </p:spPr>
        <p:txBody>
          <a:bodyPr wrap="square" lIns="91425" tIns="91425" rIns="91425" bIns="91425" anchor="t" anchorCtr="0">
            <a:noAutofit/>
          </a:bodyPr>
          <a:lstStyle/>
          <a:p>
            <a:pPr lvl="0">
              <a:buFont typeface="Wingdings" panose="05000000000000000000" pitchFamily="2" charset="2"/>
              <a:buChar char="§"/>
            </a:pPr>
            <a:r>
              <a:rPr lang="en" sz="2000" dirty="0" smtClean="0">
                <a:solidFill>
                  <a:schemeClr val="tx1"/>
                </a:solidFill>
                <a:latin typeface="Times New Roman" panose="02020603050405020304" pitchFamily="18" charset="0"/>
                <a:cs typeface="Times New Roman" panose="02020603050405020304" pitchFamily="18" charset="0"/>
              </a:rPr>
              <a:t> Distance </a:t>
            </a:r>
            <a:r>
              <a:rPr lang="en" sz="2000" dirty="0">
                <a:solidFill>
                  <a:schemeClr val="tx1"/>
                </a:solidFill>
                <a:latin typeface="Times New Roman" panose="02020603050405020304" pitchFamily="18" charset="0"/>
                <a:cs typeface="Times New Roman" panose="02020603050405020304" pitchFamily="18" charset="0"/>
              </a:rPr>
              <a:t>based locally informed particle swarm optimizer is presented in this paper</a:t>
            </a:r>
          </a:p>
          <a:p>
            <a:pPr lvl="0">
              <a:buFont typeface="Wingdings" panose="05000000000000000000" pitchFamily="2" charset="2"/>
              <a:buChar char="§"/>
            </a:pPr>
            <a:r>
              <a:rPr lang="en" sz="2000" dirty="0" smtClean="0">
                <a:solidFill>
                  <a:schemeClr val="tx1"/>
                </a:solidFill>
                <a:latin typeface="Times New Roman" panose="02020603050405020304" pitchFamily="18" charset="0"/>
                <a:cs typeface="Times New Roman" panose="02020603050405020304" pitchFamily="18" charset="0"/>
              </a:rPr>
              <a:t> Uses </a:t>
            </a:r>
            <a:r>
              <a:rPr lang="en" sz="2000" dirty="0">
                <a:solidFill>
                  <a:schemeClr val="tx1"/>
                </a:solidFill>
                <a:latin typeface="Times New Roman" panose="02020603050405020304" pitchFamily="18" charset="0"/>
                <a:cs typeface="Times New Roman" panose="02020603050405020304" pitchFamily="18" charset="0"/>
              </a:rPr>
              <a:t>euclidean distance based neighborhood instead of topological neighborhood</a:t>
            </a:r>
          </a:p>
          <a:p>
            <a:pPr lvl="0">
              <a:buFont typeface="Wingdings" panose="05000000000000000000" pitchFamily="2" charset="2"/>
              <a:buChar char="§"/>
            </a:pPr>
            <a:r>
              <a:rPr lang="en" sz="2000" dirty="0" smtClean="0">
                <a:solidFill>
                  <a:schemeClr val="tx1"/>
                </a:solidFill>
                <a:latin typeface="Times New Roman" panose="02020603050405020304" pitchFamily="18" charset="0"/>
                <a:cs typeface="Times New Roman" panose="02020603050405020304" pitchFamily="18" charset="0"/>
              </a:rPr>
              <a:t> LIPS </a:t>
            </a:r>
            <a:r>
              <a:rPr lang="en" sz="2000" dirty="0">
                <a:solidFill>
                  <a:schemeClr val="tx1"/>
                </a:solidFill>
                <a:latin typeface="Times New Roman" panose="02020603050405020304" pitchFamily="18" charset="0"/>
                <a:cs typeface="Times New Roman" panose="02020603050405020304" pitchFamily="18" charset="0"/>
              </a:rPr>
              <a:t>used the local best to guide the search process</a:t>
            </a:r>
          </a:p>
          <a:p>
            <a:pPr lvl="0">
              <a:buFont typeface="Wingdings" panose="05000000000000000000" pitchFamily="2" charset="2"/>
              <a:buChar char="§"/>
            </a:pPr>
            <a:r>
              <a:rPr lang="en" sz="2000" dirty="0" smtClean="0">
                <a:solidFill>
                  <a:schemeClr val="tx1"/>
                </a:solidFill>
                <a:latin typeface="Times New Roman" panose="02020603050405020304" pitchFamily="18" charset="0"/>
                <a:cs typeface="Times New Roman" panose="02020603050405020304" pitchFamily="18" charset="0"/>
              </a:rPr>
              <a:t> Algorithm </a:t>
            </a:r>
            <a:r>
              <a:rPr lang="en" sz="2000" dirty="0">
                <a:solidFill>
                  <a:schemeClr val="tx1"/>
                </a:solidFill>
                <a:latin typeface="Times New Roman" panose="02020603050405020304" pitchFamily="18" charset="0"/>
                <a:cs typeface="Times New Roman" panose="02020603050405020304" pitchFamily="18" charset="0"/>
              </a:rPr>
              <a:t>is compared with 10 different multi modal optimizers</a:t>
            </a:r>
          </a:p>
          <a:p>
            <a:pPr lvl="0">
              <a:buFont typeface="Wingdings" panose="05000000000000000000" pitchFamily="2" charset="2"/>
              <a:buChar char="§"/>
            </a:pPr>
            <a:r>
              <a:rPr lang="en" sz="2000" dirty="0" smtClean="0">
                <a:solidFill>
                  <a:schemeClr val="tx1"/>
                </a:solidFill>
                <a:latin typeface="Times New Roman" panose="02020603050405020304" pitchFamily="18" charset="0"/>
                <a:cs typeface="Times New Roman" panose="02020603050405020304" pitchFamily="18" charset="0"/>
              </a:rPr>
              <a:t> Tested </a:t>
            </a:r>
            <a:r>
              <a:rPr lang="en" sz="2000" dirty="0">
                <a:solidFill>
                  <a:schemeClr val="tx1"/>
                </a:solidFill>
                <a:latin typeface="Times New Roman" panose="02020603050405020304" pitchFamily="18" charset="0"/>
                <a:cs typeface="Times New Roman" panose="02020603050405020304" pitchFamily="18" charset="0"/>
              </a:rPr>
              <a:t>on 30 commonly used multi modal benchmark functions</a:t>
            </a:r>
          </a:p>
          <a:p>
            <a:pPr lvl="0">
              <a:buFont typeface="Wingdings" panose="05000000000000000000" pitchFamily="2" charset="2"/>
              <a:buChar char="§"/>
            </a:pPr>
            <a:r>
              <a:rPr lang="en" sz="2000" dirty="0" smtClean="0">
                <a:solidFill>
                  <a:schemeClr val="tx1"/>
                </a:solidFill>
                <a:latin typeface="Times New Roman" panose="02020603050405020304" pitchFamily="18" charset="0"/>
                <a:cs typeface="Times New Roman" panose="02020603050405020304" pitchFamily="18" charset="0"/>
              </a:rPr>
              <a:t> LIPS </a:t>
            </a:r>
            <a:r>
              <a:rPr lang="en" sz="2000" dirty="0">
                <a:solidFill>
                  <a:schemeClr val="tx1"/>
                </a:solidFill>
                <a:latin typeface="Times New Roman" panose="02020603050405020304" pitchFamily="18" charset="0"/>
                <a:cs typeface="Times New Roman" panose="02020603050405020304" pitchFamily="18" charset="0"/>
              </a:rPr>
              <a:t>had a consistent performance on these benchmark functions as compared to existing multimodal algorithms</a:t>
            </a:r>
          </a:p>
          <a:p>
            <a:pPr lvl="0" rtl="0">
              <a:spcBef>
                <a:spcPts val="0"/>
              </a:spcBef>
              <a:buNone/>
            </a:pPr>
            <a:endParaRPr sz="2000" dirty="0">
              <a:latin typeface="Times New Roman" panose="02020603050405020304" pitchFamily="18" charset="0"/>
              <a:cs typeface="Times New Roman" panose="02020603050405020304" pitchFamily="18" charset="0"/>
            </a:endParaRPr>
          </a:p>
          <a:p>
            <a:pPr marL="457200" lvl="0" indent="-228600" rtl="0">
              <a:spcBef>
                <a:spcPts val="0"/>
              </a:spcBef>
            </a:pPr>
            <a:endParaRPr sz="2000" dirty="0">
              <a:latin typeface="Times New Roman" panose="02020603050405020304" pitchFamily="18" charset="0"/>
              <a:cs typeface="Times New Roman" panose="02020603050405020304" pitchFamily="18" charset="0"/>
            </a:endParaRPr>
          </a:p>
        </p:txBody>
      </p:sp>
      <p:sp>
        <p:nvSpPr>
          <p:cNvPr id="2" name="Slide Number Placeholder 1"/>
          <p:cNvSpPr>
            <a:spLocks noGrp="1"/>
          </p:cNvSpPr>
          <p:nvPr>
            <p:ph type="sldNum" idx="12"/>
          </p:nvPr>
        </p:nvSpPr>
        <p:spPr/>
        <p:txBody>
          <a:bodyPr/>
          <a:lstStyle/>
          <a:p>
            <a:pPr lvl="0">
              <a:spcBef>
                <a:spcPts val="0"/>
              </a:spcBef>
              <a:buNone/>
            </a:pPr>
            <a:fld id="{00000000-1234-1234-1234-123412341234}" type="slidenum">
              <a:rPr lang="en" smtClean="0"/>
              <a:t>19</a:t>
            </a:fld>
            <a:endParaRPr lang="en" dirty="0"/>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58"/>
        <p:cNvGrpSpPr/>
        <p:nvPr/>
      </p:nvGrpSpPr>
      <p:grpSpPr>
        <a:xfrm>
          <a:off x="0" y="0"/>
          <a:ext cx="0" cy="0"/>
          <a:chOff x="0" y="0"/>
          <a:chExt cx="0" cy="0"/>
        </a:xfrm>
      </p:grpSpPr>
      <p:sp>
        <p:nvSpPr>
          <p:cNvPr id="159" name="Shape 159"/>
          <p:cNvSpPr txBox="1">
            <a:spLocks noGrp="1"/>
          </p:cNvSpPr>
          <p:nvPr>
            <p:ph type="title"/>
          </p:nvPr>
        </p:nvSpPr>
        <p:spPr>
          <a:xfrm>
            <a:off x="311700" y="349259"/>
            <a:ext cx="8520600" cy="965700"/>
          </a:xfrm>
          <a:prstGeom prst="rect">
            <a:avLst/>
          </a:prstGeom>
        </p:spPr>
        <p:txBody>
          <a:bodyPr wrap="square" lIns="91425" tIns="91425" rIns="91425" bIns="91425" anchor="t" anchorCtr="0">
            <a:noAutofit/>
          </a:bodyPr>
          <a:lstStyle/>
          <a:p>
            <a:r>
              <a:rPr lang="en" sz="3200" b="1" dirty="0">
                <a:solidFill>
                  <a:schemeClr val="tx1"/>
                </a:solidFill>
                <a:latin typeface="Times New Roman" panose="02020603050405020304" pitchFamily="18" charset="0"/>
                <a:ea typeface="Calibri"/>
                <a:cs typeface="Times New Roman" panose="02020603050405020304" pitchFamily="18" charset="0"/>
              </a:rPr>
              <a:t>A Distance Based Locally Informed Particle Swarm Model for MultiModal </a:t>
            </a:r>
            <a:r>
              <a:rPr lang="en" sz="3200" b="1" dirty="0" smtClean="0">
                <a:solidFill>
                  <a:schemeClr val="tx1"/>
                </a:solidFill>
                <a:latin typeface="Times New Roman" panose="02020603050405020304" pitchFamily="18" charset="0"/>
                <a:ea typeface="Calibri"/>
                <a:cs typeface="Times New Roman" panose="02020603050405020304" pitchFamily="18" charset="0"/>
              </a:rPr>
              <a:t>Optimization [</a:t>
            </a:r>
            <a:r>
              <a:rPr lang="en" sz="3200" b="1" dirty="0">
                <a:solidFill>
                  <a:schemeClr val="tx1"/>
                </a:solidFill>
                <a:latin typeface="Times New Roman" panose="02020603050405020304" pitchFamily="18" charset="0"/>
                <a:ea typeface="Calibri"/>
                <a:cs typeface="Times New Roman" panose="02020603050405020304" pitchFamily="18" charset="0"/>
              </a:rPr>
              <a:t>6]</a:t>
            </a:r>
          </a:p>
        </p:txBody>
      </p:sp>
      <p:sp>
        <p:nvSpPr>
          <p:cNvPr id="160" name="Shape 160"/>
          <p:cNvSpPr txBox="1">
            <a:spLocks noGrp="1"/>
          </p:cNvSpPr>
          <p:nvPr>
            <p:ph type="body" idx="1"/>
          </p:nvPr>
        </p:nvSpPr>
        <p:spPr>
          <a:xfrm>
            <a:off x="311700" y="1298566"/>
            <a:ext cx="8520600" cy="3706259"/>
          </a:xfrm>
          <a:prstGeom prst="rect">
            <a:avLst/>
          </a:prstGeom>
        </p:spPr>
        <p:txBody>
          <a:bodyPr wrap="square" lIns="91425" tIns="91425" rIns="91425" bIns="91425" anchor="t" anchorCtr="0">
            <a:noAutofit/>
          </a:bodyPr>
          <a:lstStyle/>
          <a:p>
            <a:pPr lvl="0" rtl="0">
              <a:spcBef>
                <a:spcPts val="0"/>
              </a:spcBef>
              <a:buNone/>
            </a:pPr>
            <a:r>
              <a:rPr lang="en" sz="2400" b="1" u="sng" dirty="0">
                <a:solidFill>
                  <a:schemeClr val="tx1"/>
                </a:solidFill>
                <a:latin typeface="Times New Roman" panose="02020603050405020304" pitchFamily="18" charset="0"/>
                <a:cs typeface="Times New Roman" panose="02020603050405020304" pitchFamily="18" charset="0"/>
              </a:rPr>
              <a:t>Strengths</a:t>
            </a:r>
          </a:p>
          <a:p>
            <a:pPr marL="482600" lvl="0" indent="-342900">
              <a:buFont typeface="Wingdings" panose="05000000000000000000" pitchFamily="2" charset="2"/>
              <a:buChar char="§"/>
            </a:pPr>
            <a:r>
              <a:rPr lang="en" sz="2000" dirty="0">
                <a:solidFill>
                  <a:schemeClr val="tx1"/>
                </a:solidFill>
                <a:latin typeface="Times New Roman" panose="02020603050405020304" pitchFamily="18" charset="0"/>
                <a:cs typeface="Times New Roman" panose="02020603050405020304" pitchFamily="18" charset="0"/>
              </a:rPr>
              <a:t>The convergence speed of LIPS is better than other topological based algorithms</a:t>
            </a:r>
          </a:p>
          <a:p>
            <a:pPr marL="482600" lvl="0" indent="-342900">
              <a:buFont typeface="Wingdings" panose="05000000000000000000" pitchFamily="2" charset="2"/>
              <a:buChar char="§"/>
            </a:pPr>
            <a:r>
              <a:rPr lang="en" sz="2000" dirty="0">
                <a:solidFill>
                  <a:schemeClr val="tx1"/>
                </a:solidFill>
                <a:latin typeface="Times New Roman" panose="02020603050405020304" pitchFamily="18" charset="0"/>
                <a:cs typeface="Times New Roman" panose="02020603050405020304" pitchFamily="18" charset="0"/>
              </a:rPr>
              <a:t>No need to specify any of the niching parameters for the effcient running of the algorithm</a:t>
            </a:r>
          </a:p>
          <a:p>
            <a:pPr lvl="0" rtl="0">
              <a:spcBef>
                <a:spcPts val="0"/>
              </a:spcBef>
              <a:buNone/>
            </a:pPr>
            <a:r>
              <a:rPr lang="en" sz="2400" b="1" u="sng" dirty="0" smtClean="0">
                <a:solidFill>
                  <a:schemeClr val="tx1"/>
                </a:solidFill>
                <a:latin typeface="Times New Roman" panose="02020603050405020304" pitchFamily="18" charset="0"/>
                <a:cs typeface="Times New Roman" panose="02020603050405020304" pitchFamily="18" charset="0"/>
              </a:rPr>
              <a:t>Weaknesses</a:t>
            </a:r>
            <a:endParaRPr lang="en" sz="2400" b="1" u="sng" dirty="0">
              <a:solidFill>
                <a:schemeClr val="tx1"/>
              </a:solidFill>
              <a:latin typeface="Times New Roman" panose="02020603050405020304" pitchFamily="18" charset="0"/>
              <a:cs typeface="Times New Roman" panose="02020603050405020304" pitchFamily="18" charset="0"/>
            </a:endParaRPr>
          </a:p>
          <a:p>
            <a:pPr marL="482600" lvl="0" indent="-342900">
              <a:buFont typeface="Wingdings" panose="05000000000000000000" pitchFamily="2" charset="2"/>
              <a:buChar char="§"/>
            </a:pPr>
            <a:r>
              <a:rPr lang="en" sz="2000" dirty="0">
                <a:solidFill>
                  <a:schemeClr val="tx1"/>
                </a:solidFill>
                <a:latin typeface="Times New Roman" panose="02020603050405020304" pitchFamily="18" charset="0"/>
                <a:cs typeface="Times New Roman" panose="02020603050405020304" pitchFamily="18" charset="0"/>
              </a:rPr>
              <a:t>The performance of LIPS drops slightly as the  dimensions of the problem increases</a:t>
            </a:r>
          </a:p>
          <a:p>
            <a:pPr marL="482600" lvl="0" indent="-342900">
              <a:buFont typeface="Wingdings" panose="05000000000000000000" pitchFamily="2" charset="2"/>
              <a:buChar char="§"/>
            </a:pPr>
            <a:r>
              <a:rPr lang="en" sz="2000" dirty="0">
                <a:solidFill>
                  <a:schemeClr val="tx1"/>
                </a:solidFill>
                <a:latin typeface="Times New Roman" panose="02020603050405020304" pitchFamily="18" charset="0"/>
                <a:cs typeface="Times New Roman" panose="02020603050405020304" pitchFamily="18" charset="0"/>
              </a:rPr>
              <a:t>N</a:t>
            </a:r>
            <a:r>
              <a:rPr lang="en" sz="2000" dirty="0" smtClean="0">
                <a:solidFill>
                  <a:schemeClr val="tx1"/>
                </a:solidFill>
                <a:latin typeface="Times New Roman" panose="02020603050405020304" pitchFamily="18" charset="0"/>
                <a:cs typeface="Times New Roman" panose="02020603050405020304" pitchFamily="18" charset="0"/>
              </a:rPr>
              <a:t>eighborhood </a:t>
            </a:r>
            <a:r>
              <a:rPr lang="en" sz="2000" dirty="0">
                <a:solidFill>
                  <a:schemeClr val="tx1"/>
                </a:solidFill>
                <a:latin typeface="Times New Roman" panose="02020603050405020304" pitchFamily="18" charset="0"/>
                <a:cs typeface="Times New Roman" panose="02020603050405020304" pitchFamily="18" charset="0"/>
              </a:rPr>
              <a:t>size has adverse effect on the performance of LIPS</a:t>
            </a:r>
          </a:p>
          <a:p>
            <a:pPr marL="482600" lvl="0" indent="-342900">
              <a:buFont typeface="Wingdings" panose="05000000000000000000" pitchFamily="2" charset="2"/>
              <a:buChar char="§"/>
            </a:pPr>
            <a:r>
              <a:rPr lang="en" sz="2000" dirty="0">
                <a:solidFill>
                  <a:schemeClr val="tx1"/>
                </a:solidFill>
                <a:latin typeface="Times New Roman" panose="02020603050405020304" pitchFamily="18" charset="0"/>
                <a:cs typeface="Times New Roman" panose="02020603050405020304" pitchFamily="18" charset="0"/>
              </a:rPr>
              <a:t>W</a:t>
            </a:r>
            <a:r>
              <a:rPr lang="en" sz="2000" dirty="0" smtClean="0">
                <a:solidFill>
                  <a:schemeClr val="tx1"/>
                </a:solidFill>
                <a:latin typeface="Times New Roman" panose="02020603050405020304" pitchFamily="18" charset="0"/>
                <a:cs typeface="Times New Roman" panose="02020603050405020304" pitchFamily="18" charset="0"/>
              </a:rPr>
              <a:t>ith </a:t>
            </a:r>
            <a:r>
              <a:rPr lang="en" sz="2000" dirty="0">
                <a:solidFill>
                  <a:schemeClr val="tx1"/>
                </a:solidFill>
                <a:latin typeface="Times New Roman" panose="02020603050405020304" pitchFamily="18" charset="0"/>
                <a:cs typeface="Times New Roman" panose="02020603050405020304" pitchFamily="18" charset="0"/>
              </a:rPr>
              <a:t>neighborhood size </a:t>
            </a:r>
            <a:r>
              <a:rPr lang="en" sz="2000" dirty="0" smtClean="0">
                <a:solidFill>
                  <a:schemeClr val="tx1"/>
                </a:solidFill>
                <a:latin typeface="Times New Roman" panose="02020603050405020304" pitchFamily="18" charset="0"/>
                <a:cs typeface="Times New Roman" panose="02020603050405020304" pitchFamily="18" charset="0"/>
              </a:rPr>
              <a:t>convergence </a:t>
            </a:r>
            <a:r>
              <a:rPr lang="en" sz="2000" dirty="0">
                <a:solidFill>
                  <a:schemeClr val="tx1"/>
                </a:solidFill>
                <a:latin typeface="Times New Roman" panose="02020603050405020304" pitchFamily="18" charset="0"/>
                <a:cs typeface="Times New Roman" panose="02020603050405020304" pitchFamily="18" charset="0"/>
              </a:rPr>
              <a:t>speed of the algorithm improves but the diversity </a:t>
            </a:r>
            <a:r>
              <a:rPr lang="en" sz="2000" dirty="0" smtClean="0">
                <a:solidFill>
                  <a:schemeClr val="tx1"/>
                </a:solidFill>
                <a:latin typeface="Times New Roman" panose="02020603050405020304" pitchFamily="18" charset="0"/>
                <a:cs typeface="Times New Roman" panose="02020603050405020304" pitchFamily="18" charset="0"/>
              </a:rPr>
              <a:t>decreases hence </a:t>
            </a:r>
            <a:r>
              <a:rPr lang="en" sz="2000" dirty="0">
                <a:solidFill>
                  <a:schemeClr val="tx1"/>
                </a:solidFill>
                <a:latin typeface="Times New Roman" panose="02020603050405020304" pitchFamily="18" charset="0"/>
                <a:cs typeface="Times New Roman" panose="02020603050405020304" pitchFamily="18" charset="0"/>
              </a:rPr>
              <a:t>many </a:t>
            </a:r>
            <a:r>
              <a:rPr lang="en" sz="2000" dirty="0" smtClean="0">
                <a:solidFill>
                  <a:schemeClr val="tx1"/>
                </a:solidFill>
                <a:latin typeface="Times New Roman" panose="02020603050405020304" pitchFamily="18" charset="0"/>
                <a:cs typeface="Times New Roman" panose="02020603050405020304" pitchFamily="18" charset="0"/>
              </a:rPr>
              <a:t>peaks </a:t>
            </a:r>
            <a:r>
              <a:rPr lang="en" sz="2000" dirty="0">
                <a:solidFill>
                  <a:schemeClr val="tx1"/>
                </a:solidFill>
                <a:latin typeface="Times New Roman" panose="02020603050405020304" pitchFamily="18" charset="0"/>
                <a:cs typeface="Times New Roman" panose="02020603050405020304" pitchFamily="18" charset="0"/>
              </a:rPr>
              <a:t>are dropped out during </a:t>
            </a:r>
            <a:r>
              <a:rPr lang="en" sz="2000" dirty="0" smtClean="0">
                <a:solidFill>
                  <a:schemeClr val="tx1"/>
                </a:solidFill>
                <a:latin typeface="Times New Roman" panose="02020603050405020304" pitchFamily="18" charset="0"/>
                <a:cs typeface="Times New Roman" panose="02020603050405020304" pitchFamily="18" charset="0"/>
              </a:rPr>
              <a:t>search</a:t>
            </a:r>
            <a:endParaRPr lang="en" sz="2000" dirty="0">
              <a:solidFill>
                <a:schemeClr val="tx1"/>
              </a:solidFill>
              <a:latin typeface="Times New Roman" panose="02020603050405020304" pitchFamily="18" charset="0"/>
              <a:cs typeface="Times New Roman" panose="02020603050405020304" pitchFamily="18" charset="0"/>
            </a:endParaRPr>
          </a:p>
          <a:p>
            <a:pPr lvl="0" rtl="0">
              <a:spcBef>
                <a:spcPts val="0"/>
              </a:spcBef>
              <a:buNone/>
            </a:pPr>
            <a:endParaRPr sz="1400" dirty="0"/>
          </a:p>
        </p:txBody>
      </p:sp>
      <p:sp>
        <p:nvSpPr>
          <p:cNvPr id="2" name="Slide Number Placeholder 1"/>
          <p:cNvSpPr>
            <a:spLocks noGrp="1"/>
          </p:cNvSpPr>
          <p:nvPr>
            <p:ph type="sldNum" idx="12"/>
          </p:nvPr>
        </p:nvSpPr>
        <p:spPr/>
        <p:txBody>
          <a:bodyPr/>
          <a:lstStyle/>
          <a:p>
            <a:pPr lvl="0">
              <a:spcBef>
                <a:spcPts val="0"/>
              </a:spcBef>
              <a:buNone/>
            </a:pPr>
            <a:fld id="{00000000-1234-1234-1234-123412341234}" type="slidenum">
              <a:rPr lang="en" smtClean="0"/>
              <a:t>20</a:t>
            </a:fld>
            <a:endParaRPr lang="en" dirty="0"/>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11699" y="0"/>
            <a:ext cx="8520600" cy="572700"/>
          </a:xfrm>
        </p:spPr>
        <p:txBody>
          <a:bodyPr>
            <a:noAutofit/>
          </a:bodyPr>
          <a:lstStyle/>
          <a:p>
            <a:r>
              <a:rPr lang="en-US" sz="3200" b="1" dirty="0">
                <a:solidFill>
                  <a:schemeClr val="tx1"/>
                </a:solidFill>
                <a:latin typeface="Times New Roman" panose="02020603050405020304" pitchFamily="18" charset="0"/>
                <a:ea typeface="Calibri"/>
                <a:cs typeface="Times New Roman" panose="02020603050405020304" pitchFamily="18" charset="0"/>
              </a:rPr>
              <a:t>Comparative Analysis</a:t>
            </a:r>
          </a:p>
        </p:txBody>
      </p:sp>
      <p:sp>
        <p:nvSpPr>
          <p:cNvPr id="4" name="Slide Number Placeholder 3"/>
          <p:cNvSpPr>
            <a:spLocks noGrp="1"/>
          </p:cNvSpPr>
          <p:nvPr>
            <p:ph type="sldNum" idx="12"/>
          </p:nvPr>
        </p:nvSpPr>
        <p:spPr/>
        <p:txBody>
          <a:bodyPr/>
          <a:lstStyle/>
          <a:p>
            <a:fld id="{00000000-1234-1234-1234-123412341234}" type="slidenum">
              <a:rPr lang="en" smtClean="0"/>
              <a:pPr/>
              <a:t>21</a:t>
            </a:fld>
            <a:endParaRPr lang="en" dirty="0"/>
          </a:p>
        </p:txBody>
      </p:sp>
      <p:graphicFrame>
        <p:nvGraphicFramePr>
          <p:cNvPr id="5" name="Table 4"/>
          <p:cNvGraphicFramePr>
            <a:graphicFrameLocks noGrp="1"/>
          </p:cNvGraphicFramePr>
          <p:nvPr>
            <p:extLst>
              <p:ext uri="{D42A27DB-BD31-4B8C-83A1-F6EECF244321}">
                <p14:modId xmlns:p14="http://schemas.microsoft.com/office/powerpoint/2010/main" val="2969699092"/>
              </p:ext>
            </p:extLst>
          </p:nvPr>
        </p:nvGraphicFramePr>
        <p:xfrm>
          <a:off x="311699" y="595005"/>
          <a:ext cx="8184119" cy="4071449"/>
        </p:xfrm>
        <a:graphic>
          <a:graphicData uri="http://schemas.openxmlformats.org/drawingml/2006/table">
            <a:tbl>
              <a:tblPr firstRow="1" bandRow="1">
                <a:tableStyleId>{5C22544A-7EE6-4342-B048-85BDC9FD1C3A}</a:tableStyleId>
              </a:tblPr>
              <a:tblGrid>
                <a:gridCol w="883435"/>
                <a:gridCol w="2532527"/>
                <a:gridCol w="2860662"/>
                <a:gridCol w="1907495"/>
              </a:tblGrid>
              <a:tr h="413849">
                <a:tc>
                  <a:txBody>
                    <a:bodyPr/>
                    <a:lstStyle/>
                    <a:p>
                      <a:pPr algn="ctr"/>
                      <a:r>
                        <a:rPr lang="en-US" dirty="0" err="1" smtClean="0">
                          <a:solidFill>
                            <a:schemeClr val="tx1"/>
                          </a:solidFill>
                        </a:rPr>
                        <a:t>Ref.No</a:t>
                      </a:r>
                      <a:endParaRPr lang="en-US" dirty="0">
                        <a:solidFill>
                          <a:schemeClr val="tx1"/>
                        </a:solidFill>
                      </a:endParaRPr>
                    </a:p>
                  </a:txBody>
                  <a:tcPr/>
                </a:tc>
                <a:tc>
                  <a:txBody>
                    <a:bodyPr/>
                    <a:lstStyle/>
                    <a:p>
                      <a:pPr algn="ctr"/>
                      <a:r>
                        <a:rPr lang="en-US" dirty="0" smtClean="0">
                          <a:solidFill>
                            <a:schemeClr val="tx1"/>
                          </a:solidFill>
                        </a:rPr>
                        <a:t>Objective</a:t>
                      </a:r>
                      <a:endParaRPr lang="en-US" dirty="0">
                        <a:solidFill>
                          <a:schemeClr val="tx1"/>
                        </a:solidFill>
                      </a:endParaRPr>
                    </a:p>
                  </a:txBody>
                  <a:tcPr/>
                </a:tc>
                <a:tc>
                  <a:txBody>
                    <a:bodyPr/>
                    <a:lstStyle/>
                    <a:p>
                      <a:pPr algn="ctr"/>
                      <a:r>
                        <a:rPr lang="en-US" dirty="0" smtClean="0">
                          <a:solidFill>
                            <a:schemeClr val="tx1"/>
                          </a:solidFill>
                        </a:rPr>
                        <a:t>Approach</a:t>
                      </a:r>
                      <a:endParaRPr lang="en-US" dirty="0">
                        <a:solidFill>
                          <a:schemeClr val="tx1"/>
                        </a:solidFill>
                      </a:endParaRPr>
                    </a:p>
                  </a:txBody>
                  <a:tcPr/>
                </a:tc>
                <a:tc>
                  <a:txBody>
                    <a:bodyPr/>
                    <a:lstStyle/>
                    <a:p>
                      <a:pPr algn="ctr"/>
                      <a:r>
                        <a:rPr lang="en-US" dirty="0" smtClean="0">
                          <a:solidFill>
                            <a:schemeClr val="tx1"/>
                          </a:solidFill>
                        </a:rPr>
                        <a:t>Limitations</a:t>
                      </a:r>
                      <a:endParaRPr lang="en-US" dirty="0">
                        <a:solidFill>
                          <a:schemeClr val="tx1"/>
                        </a:solidFill>
                      </a:endParaRPr>
                    </a:p>
                  </a:txBody>
                  <a:tcPr/>
                </a:tc>
              </a:tr>
              <a:tr h="786546">
                <a:tc>
                  <a:txBody>
                    <a:bodyPr/>
                    <a:lstStyle/>
                    <a:p>
                      <a:pPr algn="ctr"/>
                      <a:r>
                        <a:rPr lang="en-US" dirty="0" smtClean="0">
                          <a:solidFill>
                            <a:schemeClr val="tx1"/>
                          </a:solidFill>
                        </a:rPr>
                        <a:t>[1]</a:t>
                      </a:r>
                      <a:endParaRPr lang="en-US" dirty="0">
                        <a:solidFill>
                          <a:schemeClr val="tx1"/>
                        </a:solidFill>
                      </a:endParaRPr>
                    </a:p>
                  </a:txBody>
                  <a:tcPr/>
                </a:tc>
                <a:tc>
                  <a:txBody>
                    <a:bodyPr/>
                    <a:lstStyle/>
                    <a:p>
                      <a:pPr algn="ctr"/>
                      <a:r>
                        <a:rPr lang="en-US" sz="1350" b="0" i="0" u="none" strike="noStrike" kern="1200" baseline="0" dirty="0" smtClean="0">
                          <a:solidFill>
                            <a:schemeClr val="dk1"/>
                          </a:solidFill>
                          <a:latin typeface="+mn-lt"/>
                          <a:ea typeface="+mn-ea"/>
                          <a:cs typeface="+mn-cs"/>
                        </a:rPr>
                        <a:t>Solve MMO problem</a:t>
                      </a:r>
                    </a:p>
                    <a:p>
                      <a:pPr algn="ctr"/>
                      <a:r>
                        <a:rPr lang="en-US" sz="1350" b="0" i="0" u="none" strike="noStrike" kern="1200" baseline="0" dirty="0" smtClean="0">
                          <a:solidFill>
                            <a:schemeClr val="dk1"/>
                          </a:solidFill>
                          <a:latin typeface="+mn-lt"/>
                          <a:ea typeface="+mn-ea"/>
                          <a:cs typeface="+mn-cs"/>
                        </a:rPr>
                        <a:t>using EA</a:t>
                      </a:r>
                      <a:endParaRPr lang="en-US" dirty="0">
                        <a:solidFill>
                          <a:schemeClr val="tx1"/>
                        </a:solidFill>
                      </a:endParaRPr>
                    </a:p>
                  </a:txBody>
                  <a:tcPr/>
                </a:tc>
                <a:tc>
                  <a:txBody>
                    <a:bodyPr/>
                    <a:lstStyle/>
                    <a:p>
                      <a:pPr algn="ctr"/>
                      <a:r>
                        <a:rPr lang="en-US" sz="1350" b="0" i="0" u="none" strike="noStrike" kern="1200" baseline="0" dirty="0" smtClean="0">
                          <a:solidFill>
                            <a:schemeClr val="dk1"/>
                          </a:solidFill>
                          <a:latin typeface="+mn-lt"/>
                          <a:ea typeface="+mn-ea"/>
                          <a:cs typeface="+mn-cs"/>
                        </a:rPr>
                        <a:t>Used DE algorithm with</a:t>
                      </a:r>
                    </a:p>
                    <a:p>
                      <a:pPr algn="ctr"/>
                      <a:r>
                        <a:rPr lang="en-US" sz="1350" b="0" i="0" u="none" strike="noStrike" kern="1200" baseline="0" dirty="0" smtClean="0">
                          <a:solidFill>
                            <a:schemeClr val="dk1"/>
                          </a:solidFill>
                          <a:latin typeface="+mn-lt"/>
                          <a:ea typeface="+mn-ea"/>
                          <a:cs typeface="+mn-cs"/>
                        </a:rPr>
                        <a:t>proposed mutation</a:t>
                      </a:r>
                    </a:p>
                    <a:p>
                      <a:pPr algn="ctr"/>
                      <a:r>
                        <a:rPr lang="en-US" sz="1350" b="0" i="0" u="none" strike="noStrike" kern="1200" baseline="0" dirty="0" smtClean="0">
                          <a:solidFill>
                            <a:schemeClr val="dk1"/>
                          </a:solidFill>
                          <a:latin typeface="+mn-lt"/>
                          <a:ea typeface="+mn-ea"/>
                          <a:cs typeface="+mn-cs"/>
                        </a:rPr>
                        <a:t>operator</a:t>
                      </a:r>
                      <a:endParaRPr lang="en-US" dirty="0">
                        <a:solidFill>
                          <a:schemeClr val="tx1"/>
                        </a:solidFill>
                      </a:endParaRPr>
                    </a:p>
                  </a:txBody>
                  <a:tcPr/>
                </a:tc>
                <a:tc>
                  <a:txBody>
                    <a:bodyPr/>
                    <a:lstStyle/>
                    <a:p>
                      <a:pPr algn="ctr"/>
                      <a:r>
                        <a:rPr lang="en-US" sz="1350" b="0" i="0" u="none" strike="noStrike" kern="1200" baseline="0" dirty="0" smtClean="0">
                          <a:solidFill>
                            <a:schemeClr val="dk1"/>
                          </a:solidFill>
                          <a:latin typeface="+mn-lt"/>
                          <a:ea typeface="+mn-ea"/>
                          <a:cs typeface="+mn-cs"/>
                        </a:rPr>
                        <a:t>Mixed variables not</a:t>
                      </a:r>
                    </a:p>
                    <a:p>
                      <a:pPr algn="ctr"/>
                      <a:r>
                        <a:rPr lang="en-US" sz="1350" b="0" i="0" u="none" strike="noStrike" kern="1200" baseline="0" dirty="0" smtClean="0">
                          <a:solidFill>
                            <a:schemeClr val="dk1"/>
                          </a:solidFill>
                          <a:latin typeface="+mn-lt"/>
                          <a:ea typeface="+mn-ea"/>
                          <a:cs typeface="+mn-cs"/>
                        </a:rPr>
                        <a:t>handled. Dimension</a:t>
                      </a:r>
                    </a:p>
                    <a:p>
                      <a:pPr algn="ctr"/>
                      <a:r>
                        <a:rPr lang="en-US" sz="1350" b="0" i="0" u="none" strike="noStrike" kern="1200" baseline="0" dirty="0" smtClean="0">
                          <a:solidFill>
                            <a:schemeClr val="dk1"/>
                          </a:solidFill>
                          <a:latin typeface="+mn-lt"/>
                          <a:ea typeface="+mn-ea"/>
                          <a:cs typeface="+mn-cs"/>
                        </a:rPr>
                        <a:t>and complexity</a:t>
                      </a:r>
                    </a:p>
                    <a:p>
                      <a:pPr algn="ctr"/>
                      <a:r>
                        <a:rPr lang="en-US" sz="1350" b="0" i="0" u="none" strike="noStrike" kern="1200" baseline="0" dirty="0" smtClean="0">
                          <a:solidFill>
                            <a:schemeClr val="dk1"/>
                          </a:solidFill>
                          <a:latin typeface="+mn-lt"/>
                          <a:ea typeface="+mn-ea"/>
                          <a:cs typeface="+mn-cs"/>
                        </a:rPr>
                        <a:t>dependent</a:t>
                      </a:r>
                      <a:endParaRPr lang="en-US" dirty="0">
                        <a:solidFill>
                          <a:schemeClr val="tx1"/>
                        </a:solidFill>
                      </a:endParaRPr>
                    </a:p>
                  </a:txBody>
                  <a:tcPr/>
                </a:tc>
              </a:tr>
              <a:tr h="786546">
                <a:tc>
                  <a:txBody>
                    <a:bodyPr/>
                    <a:lstStyle/>
                    <a:p>
                      <a:pPr algn="ctr"/>
                      <a:r>
                        <a:rPr lang="en-US" dirty="0" smtClean="0">
                          <a:solidFill>
                            <a:schemeClr val="tx1"/>
                          </a:solidFill>
                        </a:rPr>
                        <a:t>[2]</a:t>
                      </a:r>
                      <a:endParaRPr lang="en-US" dirty="0">
                        <a:solidFill>
                          <a:schemeClr val="tx1"/>
                        </a:solidFill>
                      </a:endParaRPr>
                    </a:p>
                  </a:txBody>
                  <a:tcPr/>
                </a:tc>
                <a:tc>
                  <a:txBody>
                    <a:bodyPr/>
                    <a:lstStyle/>
                    <a:p>
                      <a:pPr algn="ctr"/>
                      <a:r>
                        <a:rPr lang="en-US" sz="1350" b="0" i="0" u="none" strike="noStrike" kern="1200" baseline="0" dirty="0" smtClean="0">
                          <a:solidFill>
                            <a:schemeClr val="dk1"/>
                          </a:solidFill>
                          <a:latin typeface="+mn-lt"/>
                          <a:ea typeface="+mn-ea"/>
                          <a:cs typeface="+mn-cs"/>
                        </a:rPr>
                        <a:t>Solve MMO problem</a:t>
                      </a:r>
                    </a:p>
                    <a:p>
                      <a:pPr algn="ctr"/>
                      <a:r>
                        <a:rPr lang="en-US" sz="1350" b="0" i="0" u="none" strike="noStrike" kern="1200" baseline="0" dirty="0" smtClean="0">
                          <a:solidFill>
                            <a:schemeClr val="dk1"/>
                          </a:solidFill>
                          <a:latin typeface="+mn-lt"/>
                          <a:ea typeface="+mn-ea"/>
                          <a:cs typeface="+mn-cs"/>
                        </a:rPr>
                        <a:t>using EA</a:t>
                      </a:r>
                      <a:endParaRPr lang="en-US" dirty="0">
                        <a:solidFill>
                          <a:schemeClr val="tx1"/>
                        </a:solidFill>
                      </a:endParaRPr>
                    </a:p>
                  </a:txBody>
                  <a:tcPr/>
                </a:tc>
                <a:tc>
                  <a:txBody>
                    <a:bodyPr/>
                    <a:lstStyle/>
                    <a:p>
                      <a:pPr algn="ctr"/>
                      <a:r>
                        <a:rPr lang="en-US" sz="1350" b="0" i="0" u="none" strike="noStrike" kern="1200" baseline="0" dirty="0" smtClean="0">
                          <a:solidFill>
                            <a:schemeClr val="dk1"/>
                          </a:solidFill>
                          <a:latin typeface="+mn-lt"/>
                          <a:ea typeface="+mn-ea"/>
                          <a:cs typeface="+mn-cs"/>
                        </a:rPr>
                        <a:t>Used cluster based DE</a:t>
                      </a:r>
                    </a:p>
                    <a:p>
                      <a:pPr algn="ctr"/>
                      <a:r>
                        <a:rPr lang="en-US" sz="1350" b="0" i="0" u="none" strike="noStrike" kern="1200" baseline="0" dirty="0" smtClean="0">
                          <a:solidFill>
                            <a:schemeClr val="dk1"/>
                          </a:solidFill>
                          <a:latin typeface="+mn-lt"/>
                          <a:ea typeface="+mn-ea"/>
                          <a:cs typeface="+mn-cs"/>
                        </a:rPr>
                        <a:t>with adaptive parameter</a:t>
                      </a:r>
                    </a:p>
                    <a:p>
                      <a:pPr algn="ctr"/>
                      <a:r>
                        <a:rPr lang="en-US" sz="1350" b="0" i="0" u="none" strike="noStrike" kern="1200" baseline="0" dirty="0" smtClean="0">
                          <a:solidFill>
                            <a:schemeClr val="dk1"/>
                          </a:solidFill>
                          <a:latin typeface="+mn-lt"/>
                          <a:ea typeface="+mn-ea"/>
                          <a:cs typeface="+mn-cs"/>
                        </a:rPr>
                        <a:t>settings</a:t>
                      </a:r>
                      <a:endParaRPr lang="en-US" dirty="0">
                        <a:solidFill>
                          <a:schemeClr val="tx1"/>
                        </a:solidFill>
                      </a:endParaRPr>
                    </a:p>
                  </a:txBody>
                  <a:tcPr/>
                </a:tc>
                <a:tc>
                  <a:txBody>
                    <a:bodyPr/>
                    <a:lstStyle/>
                    <a:p>
                      <a:pPr algn="ctr"/>
                      <a:r>
                        <a:rPr lang="en-US" sz="1350" b="0" i="0" u="none" strike="noStrike" kern="1200" baseline="0" dirty="0" smtClean="0">
                          <a:solidFill>
                            <a:schemeClr val="dk1"/>
                          </a:solidFill>
                          <a:latin typeface="+mn-lt"/>
                          <a:ea typeface="+mn-ea"/>
                          <a:cs typeface="+mn-cs"/>
                        </a:rPr>
                        <a:t>Mixed variables not</a:t>
                      </a:r>
                    </a:p>
                    <a:p>
                      <a:pPr algn="ctr"/>
                      <a:r>
                        <a:rPr lang="en-US" sz="1350" b="0" i="0" u="none" strike="noStrike" kern="1200" baseline="0" dirty="0" smtClean="0">
                          <a:solidFill>
                            <a:schemeClr val="dk1"/>
                          </a:solidFill>
                          <a:latin typeface="+mn-lt"/>
                          <a:ea typeface="+mn-ea"/>
                          <a:cs typeface="+mn-cs"/>
                        </a:rPr>
                        <a:t>handled. Dimension</a:t>
                      </a:r>
                    </a:p>
                    <a:p>
                      <a:pPr algn="ctr"/>
                      <a:r>
                        <a:rPr lang="en-US" sz="1350" b="0" i="0" u="none" strike="noStrike" kern="1200" baseline="0" dirty="0" smtClean="0">
                          <a:solidFill>
                            <a:schemeClr val="dk1"/>
                          </a:solidFill>
                          <a:latin typeface="+mn-lt"/>
                          <a:ea typeface="+mn-ea"/>
                          <a:cs typeface="+mn-cs"/>
                        </a:rPr>
                        <a:t>and complexity</a:t>
                      </a:r>
                    </a:p>
                    <a:p>
                      <a:pPr algn="ctr"/>
                      <a:r>
                        <a:rPr lang="en-US" sz="1350" b="0" i="0" u="none" strike="noStrike" kern="1200" baseline="0" dirty="0" smtClean="0">
                          <a:solidFill>
                            <a:schemeClr val="dk1"/>
                          </a:solidFill>
                          <a:latin typeface="+mn-lt"/>
                          <a:ea typeface="+mn-ea"/>
                          <a:cs typeface="+mn-cs"/>
                        </a:rPr>
                        <a:t>dependent</a:t>
                      </a:r>
                      <a:endParaRPr lang="en-US" dirty="0">
                        <a:solidFill>
                          <a:schemeClr val="tx1"/>
                        </a:solidFill>
                      </a:endParaRPr>
                    </a:p>
                  </a:txBody>
                  <a:tcPr/>
                </a:tc>
              </a:tr>
              <a:tr h="786546">
                <a:tc>
                  <a:txBody>
                    <a:bodyPr/>
                    <a:lstStyle/>
                    <a:p>
                      <a:pPr algn="ctr"/>
                      <a:r>
                        <a:rPr lang="en-US" dirty="0" smtClean="0">
                          <a:solidFill>
                            <a:schemeClr val="tx1"/>
                          </a:solidFill>
                        </a:rPr>
                        <a:t>[3]</a:t>
                      </a:r>
                      <a:endParaRPr lang="en-US" dirty="0">
                        <a:solidFill>
                          <a:schemeClr val="tx1"/>
                        </a:solidFill>
                      </a:endParaRPr>
                    </a:p>
                  </a:txBody>
                  <a:tcPr/>
                </a:tc>
                <a:tc>
                  <a:txBody>
                    <a:bodyPr/>
                    <a:lstStyle/>
                    <a:p>
                      <a:pPr algn="ctr"/>
                      <a:r>
                        <a:rPr lang="en-US" sz="1350" b="0" i="0" u="none" strike="noStrike" kern="1200" baseline="0" dirty="0" smtClean="0">
                          <a:solidFill>
                            <a:schemeClr val="dk1"/>
                          </a:solidFill>
                          <a:latin typeface="+mn-lt"/>
                          <a:ea typeface="+mn-ea"/>
                          <a:cs typeface="+mn-cs"/>
                        </a:rPr>
                        <a:t>Solve MMO problem</a:t>
                      </a:r>
                    </a:p>
                    <a:p>
                      <a:pPr algn="ctr"/>
                      <a:r>
                        <a:rPr lang="en-US" sz="1350" b="0" i="0" u="none" strike="noStrike" kern="1200" baseline="0" dirty="0" smtClean="0">
                          <a:solidFill>
                            <a:schemeClr val="dk1"/>
                          </a:solidFill>
                          <a:latin typeface="+mn-lt"/>
                          <a:ea typeface="+mn-ea"/>
                          <a:cs typeface="+mn-cs"/>
                        </a:rPr>
                        <a:t>using EA and</a:t>
                      </a:r>
                    </a:p>
                    <a:p>
                      <a:pPr algn="ctr"/>
                      <a:r>
                        <a:rPr lang="en-US" sz="1350" b="0" i="0" u="none" strike="noStrike" kern="1200" baseline="0" dirty="0" smtClean="0">
                          <a:solidFill>
                            <a:schemeClr val="dk1"/>
                          </a:solidFill>
                          <a:latin typeface="+mn-lt"/>
                          <a:ea typeface="+mn-ea"/>
                          <a:cs typeface="+mn-cs"/>
                        </a:rPr>
                        <a:t>niching technique</a:t>
                      </a:r>
                      <a:endParaRPr lang="en-US" dirty="0">
                        <a:solidFill>
                          <a:schemeClr val="tx1"/>
                        </a:solidFill>
                      </a:endParaRPr>
                    </a:p>
                  </a:txBody>
                  <a:tcPr/>
                </a:tc>
                <a:tc>
                  <a:txBody>
                    <a:bodyPr/>
                    <a:lstStyle/>
                    <a:p>
                      <a:pPr algn="ctr"/>
                      <a:r>
                        <a:rPr lang="en-US" sz="1350" b="0" i="0" u="none" strike="noStrike" kern="1200" baseline="0" dirty="0" smtClean="0">
                          <a:solidFill>
                            <a:schemeClr val="dk1"/>
                          </a:solidFill>
                          <a:latin typeface="+mn-lt"/>
                          <a:ea typeface="+mn-ea"/>
                          <a:cs typeface="+mn-cs"/>
                        </a:rPr>
                        <a:t>History based</a:t>
                      </a:r>
                    </a:p>
                    <a:p>
                      <a:pPr algn="ctr"/>
                      <a:r>
                        <a:rPr lang="en-US" sz="1350" b="0" i="0" u="none" strike="noStrike" kern="1200" baseline="0" dirty="0" smtClean="0">
                          <a:solidFill>
                            <a:schemeClr val="dk1"/>
                          </a:solidFill>
                          <a:latin typeface="+mn-lt"/>
                          <a:ea typeface="+mn-ea"/>
                          <a:cs typeface="+mn-cs"/>
                        </a:rPr>
                        <a:t>topological parameter</a:t>
                      </a:r>
                    </a:p>
                    <a:p>
                      <a:pPr algn="ctr"/>
                      <a:r>
                        <a:rPr lang="en-US" sz="1350" b="0" i="0" u="none" strike="noStrike" kern="1200" baseline="0" dirty="0" smtClean="0">
                          <a:solidFill>
                            <a:schemeClr val="dk1"/>
                          </a:solidFill>
                          <a:latin typeface="+mn-lt"/>
                          <a:ea typeface="+mn-ea"/>
                          <a:cs typeface="+mn-cs"/>
                        </a:rPr>
                        <a:t>free speciation method</a:t>
                      </a:r>
                      <a:endParaRPr lang="en-US" dirty="0">
                        <a:solidFill>
                          <a:schemeClr val="tx1"/>
                        </a:solidFill>
                      </a:endParaRPr>
                    </a:p>
                  </a:txBody>
                  <a:tcPr/>
                </a:tc>
                <a:tc>
                  <a:txBody>
                    <a:bodyPr/>
                    <a:lstStyle/>
                    <a:p>
                      <a:pPr algn="ctr"/>
                      <a:r>
                        <a:rPr lang="en-US" sz="1350" b="0" i="0" u="none" strike="noStrike" kern="1200" baseline="0" dirty="0" smtClean="0">
                          <a:solidFill>
                            <a:schemeClr val="dk1"/>
                          </a:solidFill>
                          <a:latin typeface="+mn-lt"/>
                          <a:ea typeface="+mn-ea"/>
                          <a:cs typeface="+mn-cs"/>
                        </a:rPr>
                        <a:t>Mixed variables not</a:t>
                      </a:r>
                    </a:p>
                    <a:p>
                      <a:pPr algn="ctr"/>
                      <a:r>
                        <a:rPr lang="en-US" sz="1350" b="0" i="0" u="none" strike="noStrike" kern="1200" baseline="0" dirty="0" smtClean="0">
                          <a:solidFill>
                            <a:schemeClr val="dk1"/>
                          </a:solidFill>
                          <a:latin typeface="+mn-lt"/>
                          <a:ea typeface="+mn-ea"/>
                          <a:cs typeface="+mn-cs"/>
                        </a:rPr>
                        <a:t>handled. Dimension</a:t>
                      </a:r>
                    </a:p>
                    <a:p>
                      <a:pPr algn="ctr"/>
                      <a:r>
                        <a:rPr lang="en-US" sz="1350" b="0" i="0" u="none" strike="noStrike" kern="1200" baseline="0" dirty="0" smtClean="0">
                          <a:solidFill>
                            <a:schemeClr val="dk1"/>
                          </a:solidFill>
                          <a:latin typeface="+mn-lt"/>
                          <a:ea typeface="+mn-ea"/>
                          <a:cs typeface="+mn-cs"/>
                        </a:rPr>
                        <a:t>and complexity</a:t>
                      </a:r>
                    </a:p>
                    <a:p>
                      <a:pPr algn="ctr"/>
                      <a:r>
                        <a:rPr lang="en-US" sz="1350" b="0" i="0" u="none" strike="noStrike" kern="1200" baseline="0" dirty="0" smtClean="0">
                          <a:solidFill>
                            <a:schemeClr val="dk1"/>
                          </a:solidFill>
                          <a:latin typeface="+mn-lt"/>
                          <a:ea typeface="+mn-ea"/>
                          <a:cs typeface="+mn-cs"/>
                        </a:rPr>
                        <a:t>dependent</a:t>
                      </a:r>
                      <a:endParaRPr lang="en-US" dirty="0">
                        <a:solidFill>
                          <a:schemeClr val="tx1"/>
                        </a:solidFill>
                      </a:endParaRPr>
                    </a:p>
                  </a:txBody>
                  <a:tcPr/>
                </a:tc>
              </a:tr>
              <a:tr h="786546">
                <a:tc>
                  <a:txBody>
                    <a:bodyPr/>
                    <a:lstStyle/>
                    <a:p>
                      <a:pPr algn="ctr"/>
                      <a:r>
                        <a:rPr lang="en-US" dirty="0" smtClean="0">
                          <a:solidFill>
                            <a:schemeClr val="tx1"/>
                          </a:solidFill>
                        </a:rPr>
                        <a:t>[4]</a:t>
                      </a:r>
                      <a:endParaRPr lang="en-US" dirty="0">
                        <a:solidFill>
                          <a:schemeClr val="tx1"/>
                        </a:solidFill>
                      </a:endParaRPr>
                    </a:p>
                  </a:txBody>
                  <a:tcPr/>
                </a:tc>
                <a:tc>
                  <a:txBody>
                    <a:bodyPr/>
                    <a:lstStyle/>
                    <a:p>
                      <a:pPr algn="ctr"/>
                      <a:r>
                        <a:rPr lang="en-US" sz="1350" b="0" i="0" u="none" strike="noStrike" kern="1200" baseline="0" dirty="0" smtClean="0">
                          <a:solidFill>
                            <a:schemeClr val="dk1"/>
                          </a:solidFill>
                          <a:latin typeface="+mn-lt"/>
                          <a:ea typeface="+mn-ea"/>
                          <a:cs typeface="+mn-cs"/>
                        </a:rPr>
                        <a:t>Solve MMO problem</a:t>
                      </a:r>
                    </a:p>
                    <a:p>
                      <a:pPr algn="ctr"/>
                      <a:r>
                        <a:rPr lang="en-US" sz="1350" b="0" i="0" u="none" strike="noStrike" kern="1200" baseline="0" dirty="0" smtClean="0">
                          <a:solidFill>
                            <a:schemeClr val="dk1"/>
                          </a:solidFill>
                          <a:latin typeface="+mn-lt"/>
                          <a:ea typeface="+mn-ea"/>
                          <a:cs typeface="+mn-cs"/>
                        </a:rPr>
                        <a:t>using PSO and</a:t>
                      </a:r>
                    </a:p>
                    <a:p>
                      <a:pPr algn="ctr"/>
                      <a:r>
                        <a:rPr lang="en-US" sz="1350" b="0" i="0" u="none" strike="noStrike" kern="1200" baseline="0" dirty="0" smtClean="0">
                          <a:solidFill>
                            <a:schemeClr val="dk1"/>
                          </a:solidFill>
                          <a:latin typeface="+mn-lt"/>
                          <a:ea typeface="+mn-ea"/>
                          <a:cs typeface="+mn-cs"/>
                        </a:rPr>
                        <a:t>niching technique</a:t>
                      </a:r>
                      <a:endParaRPr lang="en-US" dirty="0">
                        <a:solidFill>
                          <a:schemeClr val="tx1"/>
                        </a:solidFill>
                      </a:endParaRPr>
                    </a:p>
                  </a:txBody>
                  <a:tcPr/>
                </a:tc>
                <a:tc>
                  <a:txBody>
                    <a:bodyPr/>
                    <a:lstStyle/>
                    <a:p>
                      <a:pPr algn="ctr"/>
                      <a:r>
                        <a:rPr lang="en-US" sz="1350" b="0" i="0" u="none" strike="noStrike" kern="1200" baseline="0" dirty="0" smtClean="0">
                          <a:solidFill>
                            <a:schemeClr val="dk1"/>
                          </a:solidFill>
                          <a:latin typeface="+mn-lt"/>
                          <a:ea typeface="+mn-ea"/>
                          <a:cs typeface="+mn-cs"/>
                        </a:rPr>
                        <a:t>niching based migratory</a:t>
                      </a:r>
                    </a:p>
                    <a:p>
                      <a:pPr algn="ctr"/>
                      <a:r>
                        <a:rPr lang="en-US" sz="1350" b="0" i="0" u="none" strike="noStrike" kern="1200" baseline="0" dirty="0" smtClean="0">
                          <a:solidFill>
                            <a:schemeClr val="dk1"/>
                          </a:solidFill>
                          <a:latin typeface="+mn-lt"/>
                          <a:ea typeface="+mn-ea"/>
                          <a:cs typeface="+mn-cs"/>
                        </a:rPr>
                        <a:t>multi swarm optimizer</a:t>
                      </a:r>
                      <a:endParaRPr lang="en-US" dirty="0">
                        <a:solidFill>
                          <a:schemeClr val="tx1"/>
                        </a:solidFill>
                      </a:endParaRPr>
                    </a:p>
                  </a:txBody>
                  <a:tcPr/>
                </a:tc>
                <a:tc>
                  <a:txBody>
                    <a:bodyPr/>
                    <a:lstStyle/>
                    <a:p>
                      <a:pPr algn="ctr"/>
                      <a:r>
                        <a:rPr lang="en-US" sz="1350" b="0" i="0" u="none" strike="noStrike" kern="1200" baseline="0" dirty="0" smtClean="0">
                          <a:solidFill>
                            <a:schemeClr val="dk1"/>
                          </a:solidFill>
                          <a:latin typeface="+mn-lt"/>
                          <a:ea typeface="+mn-ea"/>
                          <a:cs typeface="+mn-cs"/>
                        </a:rPr>
                        <a:t>No adaptive</a:t>
                      </a:r>
                    </a:p>
                    <a:p>
                      <a:pPr algn="ctr"/>
                      <a:r>
                        <a:rPr lang="en-US" sz="1350" b="0" i="0" u="none" strike="noStrike" kern="1200" baseline="0" dirty="0" smtClean="0">
                          <a:solidFill>
                            <a:schemeClr val="dk1"/>
                          </a:solidFill>
                          <a:latin typeface="+mn-lt"/>
                          <a:ea typeface="+mn-ea"/>
                          <a:cs typeface="+mn-cs"/>
                        </a:rPr>
                        <a:t>parameter settings</a:t>
                      </a:r>
                    </a:p>
                    <a:p>
                      <a:pPr algn="ctr"/>
                      <a:r>
                        <a:rPr lang="en-US" sz="1350" b="0" i="0" u="none" strike="noStrike" kern="1200" baseline="0" dirty="0" smtClean="0">
                          <a:solidFill>
                            <a:schemeClr val="dk1"/>
                          </a:solidFill>
                          <a:latin typeface="+mn-lt"/>
                          <a:ea typeface="+mn-ea"/>
                          <a:cs typeface="+mn-cs"/>
                        </a:rPr>
                        <a:t>and mixed variables</a:t>
                      </a:r>
                    </a:p>
                    <a:p>
                      <a:pPr algn="ctr"/>
                      <a:r>
                        <a:rPr lang="en-US" sz="1350" b="0" i="0" u="none" strike="noStrike" kern="1200" baseline="0" dirty="0" smtClean="0">
                          <a:solidFill>
                            <a:schemeClr val="dk1"/>
                          </a:solidFill>
                          <a:latin typeface="+mn-lt"/>
                          <a:ea typeface="+mn-ea"/>
                          <a:cs typeface="+mn-cs"/>
                        </a:rPr>
                        <a:t>not handled</a:t>
                      </a:r>
                      <a:endParaRPr lang="en-US" dirty="0">
                        <a:solidFill>
                          <a:schemeClr val="tx1"/>
                        </a:solidFill>
                      </a:endParaRPr>
                    </a:p>
                  </a:txBody>
                  <a:tcPr/>
                </a:tc>
              </a:tr>
            </a:tbl>
          </a:graphicData>
        </a:graphic>
      </p:graphicFrame>
    </p:spTree>
    <p:extLst>
      <p:ext uri="{BB962C8B-B14F-4D97-AF65-F5344CB8AC3E}">
        <p14:creationId xmlns:p14="http://schemas.microsoft.com/office/powerpoint/2010/main" val="3626639648"/>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11699" y="135932"/>
            <a:ext cx="8520600" cy="572700"/>
          </a:xfrm>
        </p:spPr>
        <p:txBody>
          <a:bodyPr>
            <a:noAutofit/>
          </a:bodyPr>
          <a:lstStyle/>
          <a:p>
            <a:r>
              <a:rPr lang="en-US" sz="3200" b="1" dirty="0">
                <a:solidFill>
                  <a:schemeClr val="tx1"/>
                </a:solidFill>
                <a:latin typeface="Times New Roman" panose="02020603050405020304" pitchFamily="18" charset="0"/>
                <a:ea typeface="Calibri"/>
                <a:cs typeface="Times New Roman" panose="02020603050405020304" pitchFamily="18" charset="0"/>
              </a:rPr>
              <a:t>Comparative Analysis</a:t>
            </a:r>
          </a:p>
        </p:txBody>
      </p:sp>
      <p:sp>
        <p:nvSpPr>
          <p:cNvPr id="4" name="Slide Number Placeholder 3"/>
          <p:cNvSpPr>
            <a:spLocks noGrp="1"/>
          </p:cNvSpPr>
          <p:nvPr>
            <p:ph type="sldNum" idx="12"/>
          </p:nvPr>
        </p:nvSpPr>
        <p:spPr/>
        <p:txBody>
          <a:bodyPr/>
          <a:lstStyle/>
          <a:p>
            <a:fld id="{00000000-1234-1234-1234-123412341234}" type="slidenum">
              <a:rPr lang="en" smtClean="0"/>
              <a:pPr/>
              <a:t>22</a:t>
            </a:fld>
            <a:endParaRPr lang="en" dirty="0"/>
          </a:p>
        </p:txBody>
      </p:sp>
      <p:graphicFrame>
        <p:nvGraphicFramePr>
          <p:cNvPr id="5" name="Table 4"/>
          <p:cNvGraphicFramePr>
            <a:graphicFrameLocks noGrp="1"/>
          </p:cNvGraphicFramePr>
          <p:nvPr>
            <p:extLst>
              <p:ext uri="{D42A27DB-BD31-4B8C-83A1-F6EECF244321}">
                <p14:modId xmlns:p14="http://schemas.microsoft.com/office/powerpoint/2010/main" val="3370899568"/>
              </p:ext>
            </p:extLst>
          </p:nvPr>
        </p:nvGraphicFramePr>
        <p:xfrm>
          <a:off x="313880" y="708634"/>
          <a:ext cx="8184119" cy="3988253"/>
        </p:xfrm>
        <a:graphic>
          <a:graphicData uri="http://schemas.openxmlformats.org/drawingml/2006/table">
            <a:tbl>
              <a:tblPr firstRow="1" bandRow="1">
                <a:tableStyleId>{5C22544A-7EE6-4342-B048-85BDC9FD1C3A}</a:tableStyleId>
              </a:tblPr>
              <a:tblGrid>
                <a:gridCol w="883435"/>
                <a:gridCol w="2532527"/>
                <a:gridCol w="2860662"/>
                <a:gridCol w="1907495"/>
              </a:tblGrid>
              <a:tr h="478892">
                <a:tc>
                  <a:txBody>
                    <a:bodyPr/>
                    <a:lstStyle/>
                    <a:p>
                      <a:pPr algn="ctr"/>
                      <a:r>
                        <a:rPr lang="en-US" dirty="0" err="1" smtClean="0">
                          <a:solidFill>
                            <a:schemeClr val="tx1"/>
                          </a:solidFill>
                        </a:rPr>
                        <a:t>Ref.No</a:t>
                      </a:r>
                      <a:endParaRPr lang="en-US" dirty="0">
                        <a:solidFill>
                          <a:schemeClr val="tx1"/>
                        </a:solidFill>
                      </a:endParaRPr>
                    </a:p>
                  </a:txBody>
                  <a:tcPr/>
                </a:tc>
                <a:tc>
                  <a:txBody>
                    <a:bodyPr/>
                    <a:lstStyle/>
                    <a:p>
                      <a:pPr algn="ctr"/>
                      <a:r>
                        <a:rPr lang="en-US" dirty="0" smtClean="0">
                          <a:solidFill>
                            <a:schemeClr val="tx1"/>
                          </a:solidFill>
                        </a:rPr>
                        <a:t>Objective</a:t>
                      </a:r>
                      <a:endParaRPr lang="en-US" dirty="0">
                        <a:solidFill>
                          <a:schemeClr val="tx1"/>
                        </a:solidFill>
                      </a:endParaRPr>
                    </a:p>
                  </a:txBody>
                  <a:tcPr/>
                </a:tc>
                <a:tc>
                  <a:txBody>
                    <a:bodyPr/>
                    <a:lstStyle/>
                    <a:p>
                      <a:pPr algn="ctr"/>
                      <a:r>
                        <a:rPr lang="en-US" dirty="0" smtClean="0">
                          <a:solidFill>
                            <a:schemeClr val="tx1"/>
                          </a:solidFill>
                        </a:rPr>
                        <a:t>Approach</a:t>
                      </a:r>
                      <a:endParaRPr lang="en-US" dirty="0">
                        <a:solidFill>
                          <a:schemeClr val="tx1"/>
                        </a:solidFill>
                      </a:endParaRPr>
                    </a:p>
                  </a:txBody>
                  <a:tcPr/>
                </a:tc>
                <a:tc>
                  <a:txBody>
                    <a:bodyPr/>
                    <a:lstStyle/>
                    <a:p>
                      <a:pPr algn="ctr"/>
                      <a:r>
                        <a:rPr lang="en-US" dirty="0" smtClean="0">
                          <a:solidFill>
                            <a:schemeClr val="tx1"/>
                          </a:solidFill>
                        </a:rPr>
                        <a:t>Limitations</a:t>
                      </a:r>
                      <a:endParaRPr lang="en-US" dirty="0">
                        <a:solidFill>
                          <a:schemeClr val="tx1"/>
                        </a:solidFill>
                      </a:endParaRPr>
                    </a:p>
                  </a:txBody>
                  <a:tcPr/>
                </a:tc>
              </a:tr>
              <a:tr h="816963">
                <a:tc>
                  <a:txBody>
                    <a:bodyPr/>
                    <a:lstStyle/>
                    <a:p>
                      <a:pPr algn="ctr"/>
                      <a:r>
                        <a:rPr lang="en-US" dirty="0" smtClean="0">
                          <a:solidFill>
                            <a:schemeClr val="tx1"/>
                          </a:solidFill>
                        </a:rPr>
                        <a:t>[5]</a:t>
                      </a:r>
                      <a:endParaRPr lang="en-US" dirty="0">
                        <a:solidFill>
                          <a:schemeClr val="tx1"/>
                        </a:solidFill>
                      </a:endParaRPr>
                    </a:p>
                  </a:txBody>
                  <a:tcPr/>
                </a:tc>
                <a:tc>
                  <a:txBody>
                    <a:bodyPr/>
                    <a:lstStyle/>
                    <a:p>
                      <a:pPr algn="ctr"/>
                      <a:r>
                        <a:rPr lang="en-US" sz="1350" b="0" i="0" u="none" strike="noStrike" kern="1200" baseline="0" dirty="0" smtClean="0">
                          <a:solidFill>
                            <a:schemeClr val="dk1"/>
                          </a:solidFill>
                          <a:latin typeface="+mn-lt"/>
                          <a:ea typeface="+mn-ea"/>
                          <a:cs typeface="+mn-cs"/>
                        </a:rPr>
                        <a:t>Solve MMO problem</a:t>
                      </a:r>
                    </a:p>
                    <a:p>
                      <a:pPr algn="ctr"/>
                      <a:r>
                        <a:rPr lang="en-US" sz="1350" b="0" i="0" u="none" strike="noStrike" kern="1200" baseline="0" dirty="0" smtClean="0">
                          <a:solidFill>
                            <a:schemeClr val="dk1"/>
                          </a:solidFill>
                          <a:latin typeface="+mn-lt"/>
                          <a:ea typeface="+mn-ea"/>
                          <a:cs typeface="+mn-cs"/>
                        </a:rPr>
                        <a:t>using PSO and</a:t>
                      </a:r>
                    </a:p>
                    <a:p>
                      <a:pPr algn="ctr"/>
                      <a:r>
                        <a:rPr lang="en-US" sz="1350" b="0" i="0" u="none" strike="noStrike" kern="1200" baseline="0" dirty="0" smtClean="0">
                          <a:solidFill>
                            <a:schemeClr val="dk1"/>
                          </a:solidFill>
                          <a:latin typeface="+mn-lt"/>
                          <a:ea typeface="+mn-ea"/>
                          <a:cs typeface="+mn-cs"/>
                        </a:rPr>
                        <a:t>niching technique</a:t>
                      </a:r>
                      <a:endParaRPr lang="en-US" dirty="0">
                        <a:solidFill>
                          <a:schemeClr val="tx1"/>
                        </a:solidFill>
                      </a:endParaRPr>
                    </a:p>
                  </a:txBody>
                  <a:tcPr/>
                </a:tc>
                <a:tc>
                  <a:txBody>
                    <a:bodyPr/>
                    <a:lstStyle/>
                    <a:p>
                      <a:pPr algn="ctr"/>
                      <a:r>
                        <a:rPr lang="en-US" sz="1350" b="0" i="0" u="none" strike="noStrike" kern="1200" baseline="0" dirty="0" smtClean="0">
                          <a:solidFill>
                            <a:schemeClr val="dk1"/>
                          </a:solidFill>
                          <a:latin typeface="+mn-lt"/>
                          <a:ea typeface="+mn-ea"/>
                          <a:cs typeface="+mn-cs"/>
                        </a:rPr>
                        <a:t>Distance based locally</a:t>
                      </a:r>
                    </a:p>
                    <a:p>
                      <a:pPr algn="ctr"/>
                      <a:r>
                        <a:rPr lang="en-US" sz="1350" b="0" i="0" u="none" strike="noStrike" kern="1200" baseline="0" dirty="0" smtClean="0">
                          <a:solidFill>
                            <a:schemeClr val="dk1"/>
                          </a:solidFill>
                          <a:latin typeface="+mn-lt"/>
                          <a:ea typeface="+mn-ea"/>
                          <a:cs typeface="+mn-cs"/>
                        </a:rPr>
                        <a:t>informed PSO using</a:t>
                      </a:r>
                    </a:p>
                    <a:p>
                      <a:pPr algn="ctr"/>
                      <a:r>
                        <a:rPr lang="en-US" sz="1350" b="0" i="0" u="none" strike="noStrike" kern="1200" baseline="0" dirty="0" smtClean="0">
                          <a:solidFill>
                            <a:schemeClr val="dk1"/>
                          </a:solidFill>
                          <a:latin typeface="+mn-lt"/>
                          <a:ea typeface="+mn-ea"/>
                          <a:cs typeface="+mn-cs"/>
                        </a:rPr>
                        <a:t>niching and adaptive</a:t>
                      </a:r>
                    </a:p>
                    <a:p>
                      <a:pPr algn="ctr"/>
                      <a:r>
                        <a:rPr lang="en-US" sz="1350" b="0" i="0" u="none" strike="noStrike" kern="1200" baseline="0" dirty="0" smtClean="0">
                          <a:solidFill>
                            <a:schemeClr val="dk1"/>
                          </a:solidFill>
                          <a:latin typeface="+mn-lt"/>
                          <a:ea typeface="+mn-ea"/>
                          <a:cs typeface="+mn-cs"/>
                        </a:rPr>
                        <a:t>parameter settings</a:t>
                      </a:r>
                      <a:endParaRPr lang="en-US" dirty="0">
                        <a:solidFill>
                          <a:schemeClr val="tx1"/>
                        </a:solidFill>
                      </a:endParaRPr>
                    </a:p>
                  </a:txBody>
                  <a:tcPr/>
                </a:tc>
                <a:tc>
                  <a:txBody>
                    <a:bodyPr/>
                    <a:lstStyle/>
                    <a:p>
                      <a:pPr algn="ctr"/>
                      <a:r>
                        <a:rPr lang="en-US" sz="1350" b="0" i="0" u="none" strike="noStrike" kern="1200" baseline="0" dirty="0" smtClean="0">
                          <a:solidFill>
                            <a:schemeClr val="dk1"/>
                          </a:solidFill>
                          <a:latin typeface="+mn-lt"/>
                          <a:ea typeface="+mn-ea"/>
                          <a:cs typeface="+mn-cs"/>
                        </a:rPr>
                        <a:t>Mixed variables not</a:t>
                      </a:r>
                    </a:p>
                    <a:p>
                      <a:pPr algn="ctr"/>
                      <a:r>
                        <a:rPr lang="en-US" sz="1350" b="0" i="0" u="none" strike="noStrike" kern="1200" baseline="0" dirty="0" smtClean="0">
                          <a:solidFill>
                            <a:schemeClr val="dk1"/>
                          </a:solidFill>
                          <a:latin typeface="+mn-lt"/>
                          <a:ea typeface="+mn-ea"/>
                          <a:cs typeface="+mn-cs"/>
                        </a:rPr>
                        <a:t>handled. Dimension</a:t>
                      </a:r>
                    </a:p>
                    <a:p>
                      <a:pPr algn="ctr"/>
                      <a:r>
                        <a:rPr lang="en-US" sz="1350" b="0" i="0" u="none" strike="noStrike" kern="1200" baseline="0" dirty="0" smtClean="0">
                          <a:solidFill>
                            <a:schemeClr val="dk1"/>
                          </a:solidFill>
                          <a:latin typeface="+mn-lt"/>
                          <a:ea typeface="+mn-ea"/>
                          <a:cs typeface="+mn-cs"/>
                        </a:rPr>
                        <a:t>and complexity</a:t>
                      </a:r>
                    </a:p>
                    <a:p>
                      <a:pPr algn="ctr"/>
                      <a:r>
                        <a:rPr lang="en-US" sz="1350" b="0" i="0" u="none" strike="noStrike" kern="1200" baseline="0" dirty="0" smtClean="0">
                          <a:solidFill>
                            <a:schemeClr val="dk1"/>
                          </a:solidFill>
                          <a:latin typeface="+mn-lt"/>
                          <a:ea typeface="+mn-ea"/>
                          <a:cs typeface="+mn-cs"/>
                        </a:rPr>
                        <a:t>dependent</a:t>
                      </a:r>
                      <a:endParaRPr lang="en-US" dirty="0">
                        <a:solidFill>
                          <a:schemeClr val="tx1"/>
                        </a:solidFill>
                      </a:endParaRPr>
                    </a:p>
                  </a:txBody>
                  <a:tcPr/>
                </a:tc>
              </a:tr>
              <a:tr h="816963">
                <a:tc>
                  <a:txBody>
                    <a:bodyPr/>
                    <a:lstStyle/>
                    <a:p>
                      <a:pPr algn="ctr"/>
                      <a:r>
                        <a:rPr lang="en-US" dirty="0" smtClean="0">
                          <a:solidFill>
                            <a:schemeClr val="tx1"/>
                          </a:solidFill>
                        </a:rPr>
                        <a:t>[6]</a:t>
                      </a:r>
                      <a:endParaRPr lang="en-US" dirty="0">
                        <a:solidFill>
                          <a:schemeClr val="tx1"/>
                        </a:solidFill>
                      </a:endParaRPr>
                    </a:p>
                  </a:txBody>
                  <a:tcPr/>
                </a:tc>
                <a:tc>
                  <a:txBody>
                    <a:bodyPr/>
                    <a:lstStyle/>
                    <a:p>
                      <a:pPr algn="ctr"/>
                      <a:r>
                        <a:rPr lang="en-US" sz="1350" b="0" i="0" u="none" strike="noStrike" kern="1200" baseline="0" dirty="0" smtClean="0">
                          <a:solidFill>
                            <a:schemeClr val="dk1"/>
                          </a:solidFill>
                          <a:latin typeface="+mn-lt"/>
                          <a:ea typeface="+mn-ea"/>
                          <a:cs typeface="+mn-cs"/>
                        </a:rPr>
                        <a:t>Solve MMO using</a:t>
                      </a:r>
                    </a:p>
                    <a:p>
                      <a:pPr algn="ctr"/>
                      <a:r>
                        <a:rPr lang="en-US" sz="1350" b="0" i="0" u="none" strike="noStrike" kern="1200" baseline="0" dirty="0" smtClean="0">
                          <a:solidFill>
                            <a:schemeClr val="dk1"/>
                          </a:solidFill>
                          <a:latin typeface="+mn-lt"/>
                          <a:ea typeface="+mn-ea"/>
                          <a:cs typeface="+mn-cs"/>
                        </a:rPr>
                        <a:t>ACO for continuous</a:t>
                      </a:r>
                    </a:p>
                    <a:p>
                      <a:pPr algn="ctr"/>
                      <a:r>
                        <a:rPr lang="en-US" sz="1350" b="0" i="0" u="none" strike="noStrike" kern="1200" baseline="0" dirty="0" smtClean="0">
                          <a:solidFill>
                            <a:schemeClr val="dk1"/>
                          </a:solidFill>
                          <a:latin typeface="+mn-lt"/>
                          <a:ea typeface="+mn-ea"/>
                          <a:cs typeface="+mn-cs"/>
                        </a:rPr>
                        <a:t>problems</a:t>
                      </a:r>
                      <a:endParaRPr lang="en-US" dirty="0">
                        <a:solidFill>
                          <a:schemeClr val="tx1"/>
                        </a:solidFill>
                      </a:endParaRPr>
                    </a:p>
                  </a:txBody>
                  <a:tcPr/>
                </a:tc>
                <a:tc>
                  <a:txBody>
                    <a:bodyPr/>
                    <a:lstStyle/>
                    <a:p>
                      <a:pPr algn="ctr"/>
                      <a:r>
                        <a:rPr lang="en-US" sz="1350" b="0" i="0" u="none" strike="noStrike" kern="1200" baseline="0" dirty="0" smtClean="0">
                          <a:solidFill>
                            <a:schemeClr val="dk1"/>
                          </a:solidFill>
                          <a:latin typeface="+mn-lt"/>
                          <a:ea typeface="+mn-ea"/>
                          <a:cs typeface="+mn-cs"/>
                        </a:rPr>
                        <a:t>ACOR Integrated with</a:t>
                      </a:r>
                    </a:p>
                    <a:p>
                      <a:pPr algn="ctr"/>
                      <a:r>
                        <a:rPr lang="en-US" sz="1350" b="0" i="0" u="none" strike="noStrike" kern="1200" baseline="0" dirty="0" smtClean="0">
                          <a:solidFill>
                            <a:schemeClr val="dk1"/>
                          </a:solidFill>
                          <a:latin typeface="+mn-lt"/>
                          <a:ea typeface="+mn-ea"/>
                          <a:cs typeface="+mn-cs"/>
                        </a:rPr>
                        <a:t>niching and differential</a:t>
                      </a:r>
                    </a:p>
                    <a:p>
                      <a:pPr algn="ctr"/>
                      <a:r>
                        <a:rPr lang="en-US" sz="1350" b="0" i="0" u="none" strike="noStrike" kern="1200" baseline="0" dirty="0" smtClean="0">
                          <a:solidFill>
                            <a:schemeClr val="dk1"/>
                          </a:solidFill>
                          <a:latin typeface="+mn-lt"/>
                          <a:ea typeface="+mn-ea"/>
                          <a:cs typeface="+mn-cs"/>
                        </a:rPr>
                        <a:t>evolution</a:t>
                      </a:r>
                      <a:endParaRPr lang="en-US" dirty="0">
                        <a:solidFill>
                          <a:schemeClr val="tx1"/>
                        </a:solidFill>
                      </a:endParaRPr>
                    </a:p>
                  </a:txBody>
                  <a:tcPr/>
                </a:tc>
                <a:tc>
                  <a:txBody>
                    <a:bodyPr/>
                    <a:lstStyle/>
                    <a:p>
                      <a:pPr algn="ctr"/>
                      <a:r>
                        <a:rPr lang="en-US" sz="1350" b="0" i="0" u="none" strike="noStrike" kern="1200" baseline="0" dirty="0" smtClean="0">
                          <a:solidFill>
                            <a:schemeClr val="dk1"/>
                          </a:solidFill>
                          <a:latin typeface="+mn-lt"/>
                          <a:ea typeface="+mn-ea"/>
                          <a:cs typeface="+mn-cs"/>
                        </a:rPr>
                        <a:t>Mixed variables not</a:t>
                      </a:r>
                    </a:p>
                    <a:p>
                      <a:pPr algn="ctr"/>
                      <a:r>
                        <a:rPr lang="en-US" sz="1350" b="0" i="0" u="none" strike="noStrike" kern="1200" baseline="0" dirty="0" smtClean="0">
                          <a:solidFill>
                            <a:schemeClr val="dk1"/>
                          </a:solidFill>
                          <a:latin typeface="+mn-lt"/>
                          <a:ea typeface="+mn-ea"/>
                          <a:cs typeface="+mn-cs"/>
                        </a:rPr>
                        <a:t>handled. Dimension</a:t>
                      </a:r>
                    </a:p>
                    <a:p>
                      <a:pPr algn="ctr"/>
                      <a:r>
                        <a:rPr lang="en-US" sz="1350" b="0" i="0" u="none" strike="noStrike" kern="1200" baseline="0" dirty="0" smtClean="0">
                          <a:solidFill>
                            <a:schemeClr val="dk1"/>
                          </a:solidFill>
                          <a:latin typeface="+mn-lt"/>
                          <a:ea typeface="+mn-ea"/>
                          <a:cs typeface="+mn-cs"/>
                        </a:rPr>
                        <a:t>and complexity</a:t>
                      </a:r>
                    </a:p>
                    <a:p>
                      <a:pPr algn="ctr"/>
                      <a:r>
                        <a:rPr lang="en-US" sz="1350" b="0" i="0" u="none" strike="noStrike" kern="1200" baseline="0" dirty="0" smtClean="0">
                          <a:solidFill>
                            <a:schemeClr val="dk1"/>
                          </a:solidFill>
                          <a:latin typeface="+mn-lt"/>
                          <a:ea typeface="+mn-ea"/>
                          <a:cs typeface="+mn-cs"/>
                        </a:rPr>
                        <a:t>dependent</a:t>
                      </a:r>
                      <a:endParaRPr lang="en-US" dirty="0">
                        <a:solidFill>
                          <a:schemeClr val="tx1"/>
                        </a:solidFill>
                      </a:endParaRPr>
                    </a:p>
                  </a:txBody>
                  <a:tcPr/>
                </a:tc>
              </a:tr>
              <a:tr h="766161">
                <a:tc>
                  <a:txBody>
                    <a:bodyPr/>
                    <a:lstStyle/>
                    <a:p>
                      <a:pPr algn="ctr"/>
                      <a:r>
                        <a:rPr lang="en-US" dirty="0" smtClean="0">
                          <a:solidFill>
                            <a:schemeClr val="tx1"/>
                          </a:solidFill>
                        </a:rPr>
                        <a:t>[7]</a:t>
                      </a:r>
                      <a:endParaRPr lang="en-US" dirty="0">
                        <a:solidFill>
                          <a:schemeClr val="tx1"/>
                        </a:solidFill>
                      </a:endParaRPr>
                    </a:p>
                  </a:txBody>
                  <a:tcPr/>
                </a:tc>
                <a:tc>
                  <a:txBody>
                    <a:bodyPr/>
                    <a:lstStyle/>
                    <a:p>
                      <a:pPr algn="ctr"/>
                      <a:r>
                        <a:rPr lang="en-US" sz="1350" b="0" i="0" u="none" strike="noStrike" kern="1200" baseline="0" dirty="0" smtClean="0">
                          <a:solidFill>
                            <a:schemeClr val="dk1"/>
                          </a:solidFill>
                          <a:latin typeface="+mn-lt"/>
                          <a:ea typeface="+mn-ea"/>
                          <a:cs typeface="+mn-cs"/>
                        </a:rPr>
                        <a:t>Propose scheme for</a:t>
                      </a:r>
                    </a:p>
                    <a:p>
                      <a:pPr algn="ctr"/>
                      <a:r>
                        <a:rPr lang="en-US" sz="1350" b="0" i="0" u="none" strike="noStrike" kern="1200" baseline="0" dirty="0" smtClean="0">
                          <a:solidFill>
                            <a:schemeClr val="dk1"/>
                          </a:solidFill>
                          <a:latin typeface="+mn-lt"/>
                          <a:ea typeface="+mn-ea"/>
                          <a:cs typeface="+mn-cs"/>
                        </a:rPr>
                        <a:t>discrete optimization</a:t>
                      </a:r>
                    </a:p>
                    <a:p>
                      <a:pPr algn="ctr"/>
                      <a:r>
                        <a:rPr lang="en-US" sz="1350" b="0" i="0" u="none" strike="noStrike" kern="1200" baseline="0" dirty="0" smtClean="0">
                          <a:solidFill>
                            <a:schemeClr val="dk1"/>
                          </a:solidFill>
                          <a:latin typeface="+mn-lt"/>
                          <a:ea typeface="+mn-ea"/>
                          <a:cs typeface="+mn-cs"/>
                        </a:rPr>
                        <a:t>problems</a:t>
                      </a:r>
                      <a:endParaRPr lang="en-US" dirty="0">
                        <a:solidFill>
                          <a:schemeClr val="tx1"/>
                        </a:solidFill>
                      </a:endParaRPr>
                    </a:p>
                  </a:txBody>
                  <a:tcPr/>
                </a:tc>
                <a:tc>
                  <a:txBody>
                    <a:bodyPr/>
                    <a:lstStyle/>
                    <a:p>
                      <a:pPr algn="ctr"/>
                      <a:r>
                        <a:rPr lang="en-US" sz="1350" b="0" i="0" u="none" strike="noStrike" kern="1200" baseline="0" dirty="0" smtClean="0">
                          <a:solidFill>
                            <a:schemeClr val="dk1"/>
                          </a:solidFill>
                          <a:latin typeface="+mn-lt"/>
                          <a:ea typeface="+mn-ea"/>
                          <a:cs typeface="+mn-cs"/>
                        </a:rPr>
                        <a:t>A hybrid approach</a:t>
                      </a:r>
                    </a:p>
                    <a:p>
                      <a:pPr algn="ctr"/>
                      <a:r>
                        <a:rPr lang="en-US" sz="1350" b="0" i="0" u="none" strike="noStrike" kern="1200" baseline="0" dirty="0" smtClean="0">
                          <a:solidFill>
                            <a:schemeClr val="dk1"/>
                          </a:solidFill>
                          <a:latin typeface="+mn-lt"/>
                          <a:ea typeface="+mn-ea"/>
                          <a:cs typeface="+mn-cs"/>
                        </a:rPr>
                        <a:t>using PSO and ACO</a:t>
                      </a:r>
                      <a:endParaRPr lang="en-US" dirty="0">
                        <a:solidFill>
                          <a:schemeClr val="tx1"/>
                        </a:solidFill>
                      </a:endParaRPr>
                    </a:p>
                  </a:txBody>
                  <a:tcPr/>
                </a:tc>
                <a:tc>
                  <a:txBody>
                    <a:bodyPr/>
                    <a:lstStyle/>
                    <a:p>
                      <a:pPr algn="ctr"/>
                      <a:r>
                        <a:rPr lang="en-US" sz="1350" b="0" i="0" u="none" strike="noStrike" kern="1200" baseline="0" dirty="0" smtClean="0">
                          <a:solidFill>
                            <a:schemeClr val="dk1"/>
                          </a:solidFill>
                          <a:latin typeface="+mn-lt"/>
                          <a:ea typeface="+mn-ea"/>
                          <a:cs typeface="+mn-cs"/>
                        </a:rPr>
                        <a:t>multi-modal and</a:t>
                      </a:r>
                    </a:p>
                    <a:p>
                      <a:pPr algn="ctr"/>
                      <a:r>
                        <a:rPr lang="en-US" sz="1350" b="0" i="0" u="none" strike="noStrike" kern="1200" baseline="0" dirty="0" smtClean="0">
                          <a:solidFill>
                            <a:schemeClr val="dk1"/>
                          </a:solidFill>
                          <a:latin typeface="+mn-lt"/>
                          <a:ea typeface="+mn-ea"/>
                          <a:cs typeface="+mn-cs"/>
                        </a:rPr>
                        <a:t>mixed-variable not</a:t>
                      </a:r>
                    </a:p>
                    <a:p>
                      <a:pPr algn="ctr"/>
                      <a:r>
                        <a:rPr lang="en-US" sz="1350" b="0" i="0" u="none" strike="noStrike" kern="1200" baseline="0" dirty="0" smtClean="0">
                          <a:solidFill>
                            <a:schemeClr val="dk1"/>
                          </a:solidFill>
                          <a:latin typeface="+mn-lt"/>
                          <a:ea typeface="+mn-ea"/>
                          <a:cs typeface="+mn-cs"/>
                        </a:rPr>
                        <a:t>handled</a:t>
                      </a:r>
                      <a:endParaRPr lang="en-US" dirty="0">
                        <a:solidFill>
                          <a:schemeClr val="tx1"/>
                        </a:solidFill>
                      </a:endParaRPr>
                    </a:p>
                  </a:txBody>
                  <a:tcPr/>
                </a:tc>
              </a:tr>
              <a:tr h="816963">
                <a:tc>
                  <a:txBody>
                    <a:bodyPr/>
                    <a:lstStyle/>
                    <a:p>
                      <a:pPr algn="ctr"/>
                      <a:r>
                        <a:rPr lang="en-US" dirty="0" smtClean="0">
                          <a:solidFill>
                            <a:schemeClr val="tx1"/>
                          </a:solidFill>
                        </a:rPr>
                        <a:t>[8]</a:t>
                      </a:r>
                      <a:endParaRPr lang="en-US" dirty="0">
                        <a:solidFill>
                          <a:schemeClr val="tx1"/>
                        </a:solidFill>
                      </a:endParaRPr>
                    </a:p>
                  </a:txBody>
                  <a:tcPr/>
                </a:tc>
                <a:tc>
                  <a:txBody>
                    <a:bodyPr/>
                    <a:lstStyle/>
                    <a:p>
                      <a:pPr algn="ctr"/>
                      <a:r>
                        <a:rPr lang="en-US" sz="1350" b="0" i="0" u="none" strike="noStrike" kern="1200" baseline="0" dirty="0" smtClean="0">
                          <a:solidFill>
                            <a:schemeClr val="dk1"/>
                          </a:solidFill>
                          <a:latin typeface="+mn-lt"/>
                          <a:ea typeface="+mn-ea"/>
                          <a:cs typeface="+mn-cs"/>
                        </a:rPr>
                        <a:t>Solve MMO using</a:t>
                      </a:r>
                    </a:p>
                    <a:p>
                      <a:pPr algn="ctr"/>
                      <a:r>
                        <a:rPr lang="en-US" sz="1350" b="0" i="0" u="none" strike="noStrike" kern="1200" baseline="0" dirty="0" smtClean="0">
                          <a:solidFill>
                            <a:schemeClr val="dk1"/>
                          </a:solidFill>
                          <a:latin typeface="+mn-lt"/>
                          <a:ea typeface="+mn-ea"/>
                          <a:cs typeface="+mn-cs"/>
                        </a:rPr>
                        <a:t>Multi-objective</a:t>
                      </a:r>
                    </a:p>
                    <a:p>
                      <a:pPr algn="ctr"/>
                      <a:r>
                        <a:rPr lang="en-US" sz="1350" b="0" i="0" u="none" strike="noStrike" kern="1200" baseline="0" dirty="0" smtClean="0">
                          <a:solidFill>
                            <a:schemeClr val="dk1"/>
                          </a:solidFill>
                          <a:latin typeface="+mn-lt"/>
                          <a:ea typeface="+mn-ea"/>
                          <a:cs typeface="+mn-cs"/>
                        </a:rPr>
                        <a:t>optimization</a:t>
                      </a:r>
                      <a:endParaRPr lang="en-US" dirty="0">
                        <a:solidFill>
                          <a:schemeClr val="tx1"/>
                        </a:solidFill>
                      </a:endParaRPr>
                    </a:p>
                  </a:txBody>
                  <a:tcPr/>
                </a:tc>
                <a:tc>
                  <a:txBody>
                    <a:bodyPr/>
                    <a:lstStyle/>
                    <a:p>
                      <a:pPr algn="ctr"/>
                      <a:r>
                        <a:rPr lang="en-US" sz="1350" b="0" i="0" u="none" strike="noStrike" kern="1200" baseline="0" dirty="0" smtClean="0">
                          <a:solidFill>
                            <a:schemeClr val="dk1"/>
                          </a:solidFill>
                          <a:latin typeface="+mn-lt"/>
                          <a:ea typeface="+mn-ea"/>
                          <a:cs typeface="+mn-cs"/>
                        </a:rPr>
                        <a:t>Bi-objective approach</a:t>
                      </a:r>
                    </a:p>
                    <a:p>
                      <a:pPr algn="ctr"/>
                      <a:r>
                        <a:rPr lang="en-US" sz="1350" b="0" i="0" u="none" strike="noStrike" kern="1200" baseline="0" dirty="0" smtClean="0">
                          <a:solidFill>
                            <a:schemeClr val="dk1"/>
                          </a:solidFill>
                          <a:latin typeface="+mn-lt"/>
                          <a:ea typeface="+mn-ea"/>
                          <a:cs typeface="+mn-cs"/>
                        </a:rPr>
                        <a:t>based on DE</a:t>
                      </a:r>
                      <a:endParaRPr lang="en-US" dirty="0">
                        <a:solidFill>
                          <a:schemeClr val="tx1"/>
                        </a:solidFill>
                      </a:endParaRPr>
                    </a:p>
                  </a:txBody>
                  <a:tcPr/>
                </a:tc>
                <a:tc>
                  <a:txBody>
                    <a:bodyPr/>
                    <a:lstStyle/>
                    <a:p>
                      <a:pPr algn="ctr"/>
                      <a:r>
                        <a:rPr lang="en-US" sz="1350" b="0" i="0" u="none" strike="noStrike" kern="1200" baseline="0" dirty="0" smtClean="0">
                          <a:solidFill>
                            <a:schemeClr val="dk1"/>
                          </a:solidFill>
                          <a:latin typeface="+mn-lt"/>
                          <a:ea typeface="+mn-ea"/>
                          <a:cs typeface="+mn-cs"/>
                        </a:rPr>
                        <a:t>Mixed variables not</a:t>
                      </a:r>
                    </a:p>
                    <a:p>
                      <a:pPr algn="ctr"/>
                      <a:r>
                        <a:rPr lang="en-US" sz="1350" b="0" i="0" u="none" strike="noStrike" kern="1200" baseline="0" dirty="0" smtClean="0">
                          <a:solidFill>
                            <a:schemeClr val="dk1"/>
                          </a:solidFill>
                          <a:latin typeface="+mn-lt"/>
                          <a:ea typeface="+mn-ea"/>
                          <a:cs typeface="+mn-cs"/>
                        </a:rPr>
                        <a:t>handled. Dimension</a:t>
                      </a:r>
                    </a:p>
                    <a:p>
                      <a:pPr algn="ctr"/>
                      <a:r>
                        <a:rPr lang="en-US" sz="1350" b="0" i="0" u="none" strike="noStrike" kern="1200" baseline="0" dirty="0" smtClean="0">
                          <a:solidFill>
                            <a:schemeClr val="dk1"/>
                          </a:solidFill>
                          <a:latin typeface="+mn-lt"/>
                          <a:ea typeface="+mn-ea"/>
                          <a:cs typeface="+mn-cs"/>
                        </a:rPr>
                        <a:t>and complexity</a:t>
                      </a:r>
                    </a:p>
                    <a:p>
                      <a:pPr algn="ctr"/>
                      <a:r>
                        <a:rPr lang="en-US" sz="1350" b="0" i="0" u="none" strike="noStrike" kern="1200" baseline="0" dirty="0" smtClean="0">
                          <a:solidFill>
                            <a:schemeClr val="dk1"/>
                          </a:solidFill>
                          <a:latin typeface="+mn-lt"/>
                          <a:ea typeface="+mn-ea"/>
                          <a:cs typeface="+mn-cs"/>
                        </a:rPr>
                        <a:t>dependent</a:t>
                      </a:r>
                      <a:endParaRPr lang="en-US" dirty="0">
                        <a:solidFill>
                          <a:schemeClr val="tx1"/>
                        </a:solidFill>
                      </a:endParaRPr>
                    </a:p>
                  </a:txBody>
                  <a:tcPr/>
                </a:tc>
              </a:tr>
            </a:tbl>
          </a:graphicData>
        </a:graphic>
      </p:graphicFrame>
    </p:spTree>
    <p:extLst>
      <p:ext uri="{BB962C8B-B14F-4D97-AF65-F5344CB8AC3E}">
        <p14:creationId xmlns:p14="http://schemas.microsoft.com/office/powerpoint/2010/main" val="980022099"/>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11699" y="135932"/>
            <a:ext cx="8520600" cy="572700"/>
          </a:xfrm>
        </p:spPr>
        <p:txBody>
          <a:bodyPr>
            <a:noAutofit/>
          </a:bodyPr>
          <a:lstStyle/>
          <a:p>
            <a:r>
              <a:rPr lang="en-US" sz="3200" b="1" dirty="0">
                <a:solidFill>
                  <a:schemeClr val="tx1"/>
                </a:solidFill>
                <a:latin typeface="Times New Roman" panose="02020603050405020304" pitchFamily="18" charset="0"/>
                <a:ea typeface="Calibri"/>
                <a:cs typeface="Times New Roman" panose="02020603050405020304" pitchFamily="18" charset="0"/>
              </a:rPr>
              <a:t>Comparative Analysis</a:t>
            </a:r>
          </a:p>
        </p:txBody>
      </p:sp>
      <p:sp>
        <p:nvSpPr>
          <p:cNvPr id="4" name="Slide Number Placeholder 3"/>
          <p:cNvSpPr>
            <a:spLocks noGrp="1"/>
          </p:cNvSpPr>
          <p:nvPr>
            <p:ph type="sldNum" idx="12"/>
          </p:nvPr>
        </p:nvSpPr>
        <p:spPr/>
        <p:txBody>
          <a:bodyPr/>
          <a:lstStyle/>
          <a:p>
            <a:fld id="{00000000-1234-1234-1234-123412341234}" type="slidenum">
              <a:rPr lang="en" smtClean="0"/>
              <a:pPr/>
              <a:t>23</a:t>
            </a:fld>
            <a:endParaRPr lang="en" dirty="0"/>
          </a:p>
        </p:txBody>
      </p:sp>
      <p:graphicFrame>
        <p:nvGraphicFramePr>
          <p:cNvPr id="5" name="Table 4"/>
          <p:cNvGraphicFramePr>
            <a:graphicFrameLocks noGrp="1"/>
          </p:cNvGraphicFramePr>
          <p:nvPr>
            <p:extLst>
              <p:ext uri="{D42A27DB-BD31-4B8C-83A1-F6EECF244321}">
                <p14:modId xmlns:p14="http://schemas.microsoft.com/office/powerpoint/2010/main" val="2859069121"/>
              </p:ext>
            </p:extLst>
          </p:nvPr>
        </p:nvGraphicFramePr>
        <p:xfrm>
          <a:off x="313880" y="708633"/>
          <a:ext cx="8184119" cy="3959607"/>
        </p:xfrm>
        <a:graphic>
          <a:graphicData uri="http://schemas.openxmlformats.org/drawingml/2006/table">
            <a:tbl>
              <a:tblPr firstRow="1" bandRow="1">
                <a:tableStyleId>{5C22544A-7EE6-4342-B048-85BDC9FD1C3A}</a:tableStyleId>
              </a:tblPr>
              <a:tblGrid>
                <a:gridCol w="883435"/>
                <a:gridCol w="2532527"/>
                <a:gridCol w="2860662"/>
                <a:gridCol w="1907495"/>
              </a:tblGrid>
              <a:tr h="302007">
                <a:tc>
                  <a:txBody>
                    <a:bodyPr/>
                    <a:lstStyle/>
                    <a:p>
                      <a:pPr algn="ctr"/>
                      <a:r>
                        <a:rPr lang="en-US" dirty="0" err="1" smtClean="0">
                          <a:solidFill>
                            <a:schemeClr val="tx1"/>
                          </a:solidFill>
                        </a:rPr>
                        <a:t>Ref.No</a:t>
                      </a:r>
                      <a:endParaRPr lang="en-US" dirty="0">
                        <a:solidFill>
                          <a:schemeClr val="tx1"/>
                        </a:solidFill>
                      </a:endParaRPr>
                    </a:p>
                  </a:txBody>
                  <a:tcPr/>
                </a:tc>
                <a:tc>
                  <a:txBody>
                    <a:bodyPr/>
                    <a:lstStyle/>
                    <a:p>
                      <a:pPr algn="ctr"/>
                      <a:r>
                        <a:rPr lang="en-US" dirty="0" smtClean="0">
                          <a:solidFill>
                            <a:schemeClr val="tx1"/>
                          </a:solidFill>
                        </a:rPr>
                        <a:t>Objective</a:t>
                      </a:r>
                      <a:endParaRPr lang="en-US" dirty="0">
                        <a:solidFill>
                          <a:schemeClr val="tx1"/>
                        </a:solidFill>
                      </a:endParaRPr>
                    </a:p>
                  </a:txBody>
                  <a:tcPr/>
                </a:tc>
                <a:tc>
                  <a:txBody>
                    <a:bodyPr/>
                    <a:lstStyle/>
                    <a:p>
                      <a:pPr algn="ctr"/>
                      <a:r>
                        <a:rPr lang="en-US" dirty="0" smtClean="0">
                          <a:solidFill>
                            <a:schemeClr val="tx1"/>
                          </a:solidFill>
                        </a:rPr>
                        <a:t>Approach</a:t>
                      </a:r>
                      <a:endParaRPr lang="en-US" dirty="0">
                        <a:solidFill>
                          <a:schemeClr val="tx1"/>
                        </a:solidFill>
                      </a:endParaRPr>
                    </a:p>
                  </a:txBody>
                  <a:tcPr/>
                </a:tc>
                <a:tc>
                  <a:txBody>
                    <a:bodyPr/>
                    <a:lstStyle/>
                    <a:p>
                      <a:pPr algn="ctr"/>
                      <a:r>
                        <a:rPr lang="en-US" dirty="0" smtClean="0">
                          <a:solidFill>
                            <a:schemeClr val="tx1"/>
                          </a:solidFill>
                        </a:rPr>
                        <a:t>Limitations</a:t>
                      </a:r>
                      <a:endParaRPr lang="en-US" dirty="0">
                        <a:solidFill>
                          <a:schemeClr val="tx1"/>
                        </a:solidFill>
                      </a:endParaRPr>
                    </a:p>
                  </a:txBody>
                  <a:tcPr/>
                </a:tc>
              </a:tr>
              <a:tr h="549050">
                <a:tc>
                  <a:txBody>
                    <a:bodyPr/>
                    <a:lstStyle/>
                    <a:p>
                      <a:pPr algn="ctr"/>
                      <a:r>
                        <a:rPr lang="en-US" dirty="0" smtClean="0">
                          <a:solidFill>
                            <a:schemeClr val="tx1"/>
                          </a:solidFill>
                        </a:rPr>
                        <a:t>[9]</a:t>
                      </a:r>
                      <a:endParaRPr lang="en-US" dirty="0">
                        <a:solidFill>
                          <a:schemeClr val="tx1"/>
                        </a:solidFill>
                      </a:endParaRPr>
                    </a:p>
                  </a:txBody>
                  <a:tcPr/>
                </a:tc>
                <a:tc>
                  <a:txBody>
                    <a:bodyPr/>
                    <a:lstStyle/>
                    <a:p>
                      <a:pPr algn="ctr"/>
                      <a:r>
                        <a:rPr lang="en-US" sz="1350" b="0" i="0" u="none" strike="noStrike" kern="1200" baseline="0" dirty="0" smtClean="0">
                          <a:solidFill>
                            <a:schemeClr val="dk1"/>
                          </a:solidFill>
                          <a:latin typeface="+mn-lt"/>
                          <a:ea typeface="+mn-ea"/>
                          <a:cs typeface="+mn-cs"/>
                        </a:rPr>
                        <a:t>Solve mixed-variable</a:t>
                      </a:r>
                    </a:p>
                    <a:p>
                      <a:pPr algn="ctr"/>
                      <a:r>
                        <a:rPr lang="en-US" sz="1350" b="0" i="0" u="none" strike="noStrike" kern="1200" baseline="0" dirty="0" smtClean="0">
                          <a:solidFill>
                            <a:schemeClr val="dk1"/>
                          </a:solidFill>
                          <a:latin typeface="+mn-lt"/>
                          <a:ea typeface="+mn-ea"/>
                          <a:cs typeface="+mn-cs"/>
                        </a:rPr>
                        <a:t>optimization</a:t>
                      </a:r>
                    </a:p>
                    <a:p>
                      <a:pPr algn="ctr"/>
                      <a:r>
                        <a:rPr lang="en-US" sz="1350" b="0" i="0" u="none" strike="noStrike" kern="1200" baseline="0" dirty="0" smtClean="0">
                          <a:solidFill>
                            <a:schemeClr val="dk1"/>
                          </a:solidFill>
                          <a:latin typeface="+mn-lt"/>
                          <a:ea typeface="+mn-ea"/>
                          <a:cs typeface="+mn-cs"/>
                        </a:rPr>
                        <a:t>problem using Ant</a:t>
                      </a:r>
                    </a:p>
                    <a:p>
                      <a:pPr algn="ctr"/>
                      <a:r>
                        <a:rPr lang="en-US" sz="1350" b="0" i="0" u="none" strike="noStrike" kern="1200" baseline="0" dirty="0" smtClean="0">
                          <a:solidFill>
                            <a:schemeClr val="dk1"/>
                          </a:solidFill>
                          <a:latin typeface="+mn-lt"/>
                          <a:ea typeface="+mn-ea"/>
                          <a:cs typeface="+mn-cs"/>
                        </a:rPr>
                        <a:t>colony optimization</a:t>
                      </a:r>
                      <a:endParaRPr lang="en-US" dirty="0">
                        <a:solidFill>
                          <a:schemeClr val="tx1"/>
                        </a:solidFill>
                      </a:endParaRPr>
                    </a:p>
                  </a:txBody>
                  <a:tcPr/>
                </a:tc>
                <a:tc>
                  <a:txBody>
                    <a:bodyPr/>
                    <a:lstStyle/>
                    <a:p>
                      <a:pPr algn="ctr"/>
                      <a:r>
                        <a:rPr lang="en-US" sz="1350" b="0" i="0" u="none" strike="noStrike" kern="1200" baseline="0" dirty="0" smtClean="0">
                          <a:solidFill>
                            <a:schemeClr val="dk1"/>
                          </a:solidFill>
                          <a:latin typeface="+mn-lt"/>
                          <a:ea typeface="+mn-ea"/>
                          <a:cs typeface="+mn-cs"/>
                        </a:rPr>
                        <a:t>Improved ACOR</a:t>
                      </a:r>
                    </a:p>
                    <a:p>
                      <a:pPr algn="ctr"/>
                      <a:r>
                        <a:rPr lang="en-US" sz="1350" b="0" i="0" u="none" strike="noStrike" kern="1200" baseline="0" dirty="0" smtClean="0">
                          <a:solidFill>
                            <a:schemeClr val="dk1"/>
                          </a:solidFill>
                          <a:latin typeface="+mn-lt"/>
                          <a:ea typeface="+mn-ea"/>
                          <a:cs typeface="+mn-cs"/>
                        </a:rPr>
                        <a:t>proposed by </a:t>
                      </a:r>
                      <a:r>
                        <a:rPr lang="en-US" sz="1350" b="0" i="0" u="none" strike="noStrike" kern="1200" baseline="0" dirty="0" err="1" smtClean="0">
                          <a:solidFill>
                            <a:schemeClr val="dk1"/>
                          </a:solidFill>
                          <a:latin typeface="+mn-lt"/>
                          <a:ea typeface="+mn-ea"/>
                          <a:cs typeface="+mn-cs"/>
                        </a:rPr>
                        <a:t>Socha</a:t>
                      </a:r>
                      <a:r>
                        <a:rPr lang="en-US" sz="1350" b="0" i="0" u="none" strike="noStrike" kern="1200" baseline="0" dirty="0" smtClean="0">
                          <a:solidFill>
                            <a:schemeClr val="dk1"/>
                          </a:solidFill>
                          <a:latin typeface="+mn-lt"/>
                          <a:ea typeface="+mn-ea"/>
                          <a:cs typeface="+mn-cs"/>
                        </a:rPr>
                        <a:t> and</a:t>
                      </a:r>
                    </a:p>
                    <a:p>
                      <a:pPr algn="ctr"/>
                      <a:r>
                        <a:rPr lang="en-US" sz="1350" b="0" i="0" u="none" strike="noStrike" kern="1200" baseline="0" dirty="0" err="1" smtClean="0">
                          <a:solidFill>
                            <a:schemeClr val="dk1"/>
                          </a:solidFill>
                          <a:latin typeface="+mn-lt"/>
                          <a:ea typeface="+mn-ea"/>
                          <a:cs typeface="+mn-cs"/>
                        </a:rPr>
                        <a:t>Dorigo</a:t>
                      </a:r>
                      <a:r>
                        <a:rPr lang="en-US" sz="1350" b="0" i="0" u="none" strike="noStrike" kern="1200" baseline="0" dirty="0" smtClean="0">
                          <a:solidFill>
                            <a:schemeClr val="dk1"/>
                          </a:solidFill>
                          <a:latin typeface="+mn-lt"/>
                          <a:ea typeface="+mn-ea"/>
                          <a:cs typeface="+mn-cs"/>
                        </a:rPr>
                        <a:t> (2008)</a:t>
                      </a:r>
                      <a:endParaRPr lang="en-US" dirty="0">
                        <a:solidFill>
                          <a:schemeClr val="tx1"/>
                        </a:solidFill>
                      </a:endParaRPr>
                    </a:p>
                  </a:txBody>
                  <a:tcPr/>
                </a:tc>
                <a:tc>
                  <a:txBody>
                    <a:bodyPr/>
                    <a:lstStyle/>
                    <a:p>
                      <a:pPr algn="ctr"/>
                      <a:r>
                        <a:rPr lang="en-US" sz="1350" b="0" i="0" u="none" strike="noStrike" kern="1200" baseline="0" dirty="0" smtClean="0">
                          <a:solidFill>
                            <a:schemeClr val="dk1"/>
                          </a:solidFill>
                          <a:latin typeface="+mn-lt"/>
                          <a:ea typeface="+mn-ea"/>
                          <a:cs typeface="+mn-cs"/>
                        </a:rPr>
                        <a:t>Cannot handle</a:t>
                      </a:r>
                    </a:p>
                    <a:p>
                      <a:pPr algn="ctr"/>
                      <a:r>
                        <a:rPr lang="en-US" sz="1350" b="0" i="0" u="none" strike="noStrike" kern="1200" baseline="0" dirty="0" smtClean="0">
                          <a:solidFill>
                            <a:schemeClr val="dk1"/>
                          </a:solidFill>
                          <a:latin typeface="+mn-lt"/>
                          <a:ea typeface="+mn-ea"/>
                          <a:cs typeface="+mn-cs"/>
                        </a:rPr>
                        <a:t>multi-modal</a:t>
                      </a:r>
                    </a:p>
                    <a:p>
                      <a:pPr algn="ctr"/>
                      <a:r>
                        <a:rPr lang="en-US" sz="1350" b="0" i="0" u="none" strike="noStrike" kern="1200" baseline="0" dirty="0" smtClean="0">
                          <a:solidFill>
                            <a:schemeClr val="dk1"/>
                          </a:solidFill>
                          <a:latin typeface="+mn-lt"/>
                          <a:ea typeface="+mn-ea"/>
                          <a:cs typeface="+mn-cs"/>
                        </a:rPr>
                        <a:t>optimization problem</a:t>
                      </a:r>
                      <a:endParaRPr lang="en-US" dirty="0">
                        <a:solidFill>
                          <a:schemeClr val="tx1"/>
                        </a:solidFill>
                      </a:endParaRPr>
                    </a:p>
                  </a:txBody>
                  <a:tcPr/>
                </a:tc>
              </a:tr>
              <a:tr h="672586">
                <a:tc>
                  <a:txBody>
                    <a:bodyPr/>
                    <a:lstStyle/>
                    <a:p>
                      <a:pPr algn="ctr"/>
                      <a:r>
                        <a:rPr lang="en-US" dirty="0" smtClean="0">
                          <a:solidFill>
                            <a:schemeClr val="tx1"/>
                          </a:solidFill>
                        </a:rPr>
                        <a:t>[10]</a:t>
                      </a:r>
                      <a:endParaRPr lang="en-US" dirty="0">
                        <a:solidFill>
                          <a:schemeClr val="tx1"/>
                        </a:solidFill>
                      </a:endParaRPr>
                    </a:p>
                  </a:txBody>
                  <a:tcPr/>
                </a:tc>
                <a:tc>
                  <a:txBody>
                    <a:bodyPr/>
                    <a:lstStyle/>
                    <a:p>
                      <a:pPr algn="ctr"/>
                      <a:r>
                        <a:rPr lang="en-US" sz="1350" b="0" i="0" u="none" strike="noStrike" kern="1200" baseline="0" dirty="0" smtClean="0">
                          <a:solidFill>
                            <a:schemeClr val="dk1"/>
                          </a:solidFill>
                          <a:latin typeface="+mn-lt"/>
                          <a:ea typeface="+mn-ea"/>
                          <a:cs typeface="+mn-cs"/>
                        </a:rPr>
                        <a:t>Solve mixed-variable</a:t>
                      </a:r>
                    </a:p>
                    <a:p>
                      <a:pPr algn="ctr"/>
                      <a:r>
                        <a:rPr lang="en-US" sz="1350" b="0" i="0" u="none" strike="noStrike" kern="1200" baseline="0" dirty="0" smtClean="0">
                          <a:solidFill>
                            <a:schemeClr val="dk1"/>
                          </a:solidFill>
                          <a:latin typeface="+mn-lt"/>
                          <a:ea typeface="+mn-ea"/>
                          <a:cs typeface="+mn-cs"/>
                        </a:rPr>
                        <a:t>optimization</a:t>
                      </a:r>
                    </a:p>
                    <a:p>
                      <a:pPr algn="ctr"/>
                      <a:r>
                        <a:rPr lang="en-US" sz="1350" b="0" i="0" u="none" strike="noStrike" kern="1200" baseline="0" dirty="0" smtClean="0">
                          <a:solidFill>
                            <a:schemeClr val="dk1"/>
                          </a:solidFill>
                          <a:latin typeface="+mn-lt"/>
                          <a:ea typeface="+mn-ea"/>
                          <a:cs typeface="+mn-cs"/>
                        </a:rPr>
                        <a:t>problem using</a:t>
                      </a:r>
                    </a:p>
                    <a:p>
                      <a:pPr algn="ctr"/>
                      <a:r>
                        <a:rPr lang="en-US" sz="1350" b="0" i="0" u="none" strike="noStrike" kern="1200" baseline="0" dirty="0" smtClean="0">
                          <a:solidFill>
                            <a:schemeClr val="dk1"/>
                          </a:solidFill>
                          <a:latin typeface="+mn-lt"/>
                          <a:ea typeface="+mn-ea"/>
                          <a:cs typeface="+mn-cs"/>
                        </a:rPr>
                        <a:t>ACOR</a:t>
                      </a:r>
                      <a:endParaRPr lang="en-US" dirty="0">
                        <a:solidFill>
                          <a:schemeClr val="tx1"/>
                        </a:solidFill>
                      </a:endParaRPr>
                    </a:p>
                  </a:txBody>
                  <a:tcPr/>
                </a:tc>
                <a:tc>
                  <a:txBody>
                    <a:bodyPr/>
                    <a:lstStyle/>
                    <a:p>
                      <a:pPr algn="ctr"/>
                      <a:r>
                        <a:rPr lang="en-US" sz="1350" b="0" i="0" u="none" strike="noStrike" kern="1200" baseline="0" dirty="0" smtClean="0">
                          <a:solidFill>
                            <a:schemeClr val="dk1"/>
                          </a:solidFill>
                          <a:latin typeface="+mn-lt"/>
                          <a:ea typeface="+mn-ea"/>
                          <a:cs typeface="+mn-cs"/>
                        </a:rPr>
                        <a:t>Integrated ACOR with</a:t>
                      </a:r>
                    </a:p>
                    <a:p>
                      <a:pPr algn="ctr"/>
                      <a:r>
                        <a:rPr lang="en-US" sz="1350" b="0" i="0" u="none" strike="noStrike" kern="1200" baseline="0" dirty="0" smtClean="0">
                          <a:solidFill>
                            <a:schemeClr val="dk1"/>
                          </a:solidFill>
                          <a:latin typeface="+mn-lt"/>
                          <a:ea typeface="+mn-ea"/>
                          <a:cs typeface="+mn-cs"/>
                        </a:rPr>
                        <a:t>DE and local search</a:t>
                      </a:r>
                    </a:p>
                    <a:p>
                      <a:pPr algn="ctr"/>
                      <a:r>
                        <a:rPr lang="en-US" sz="1350" b="0" i="0" u="none" strike="noStrike" kern="1200" baseline="0" dirty="0" smtClean="0">
                          <a:solidFill>
                            <a:schemeClr val="dk1"/>
                          </a:solidFill>
                          <a:latin typeface="+mn-lt"/>
                          <a:ea typeface="+mn-ea"/>
                          <a:cs typeface="+mn-cs"/>
                        </a:rPr>
                        <a:t>scheme</a:t>
                      </a:r>
                      <a:endParaRPr lang="en-US" dirty="0">
                        <a:solidFill>
                          <a:schemeClr val="tx1"/>
                        </a:solidFill>
                      </a:endParaRPr>
                    </a:p>
                  </a:txBody>
                  <a:tcPr/>
                </a:tc>
                <a:tc>
                  <a:txBody>
                    <a:bodyPr/>
                    <a:lstStyle/>
                    <a:p>
                      <a:pPr algn="ctr"/>
                      <a:r>
                        <a:rPr lang="en-US" sz="1350" b="0" i="0" u="none" strike="noStrike" kern="1200" baseline="0" dirty="0" smtClean="0">
                          <a:solidFill>
                            <a:schemeClr val="dk1"/>
                          </a:solidFill>
                          <a:latin typeface="+mn-lt"/>
                          <a:ea typeface="+mn-ea"/>
                          <a:cs typeface="+mn-cs"/>
                        </a:rPr>
                        <a:t>Mixed variables not</a:t>
                      </a:r>
                    </a:p>
                    <a:p>
                      <a:pPr algn="ctr"/>
                      <a:r>
                        <a:rPr lang="en-US" sz="1350" b="0" i="0" u="none" strike="noStrike" kern="1200" baseline="0" dirty="0" smtClean="0">
                          <a:solidFill>
                            <a:schemeClr val="dk1"/>
                          </a:solidFill>
                          <a:latin typeface="+mn-lt"/>
                          <a:ea typeface="+mn-ea"/>
                          <a:cs typeface="+mn-cs"/>
                        </a:rPr>
                        <a:t>handled.</a:t>
                      </a:r>
                    </a:p>
                    <a:p>
                      <a:pPr algn="ctr"/>
                      <a:r>
                        <a:rPr lang="en-US" sz="1350" b="0" i="0" u="none" strike="noStrike" kern="1200" baseline="0" dirty="0" smtClean="0">
                          <a:solidFill>
                            <a:schemeClr val="dk1"/>
                          </a:solidFill>
                          <a:latin typeface="+mn-lt"/>
                          <a:ea typeface="+mn-ea"/>
                          <a:cs typeface="+mn-cs"/>
                        </a:rPr>
                        <a:t>Dimension, parameter</a:t>
                      </a:r>
                      <a:endParaRPr lang="en-US" sz="1350" b="0" i="0" u="none" strike="noStrike" kern="1200" baseline="0" dirty="0" smtClean="0">
                        <a:solidFill>
                          <a:schemeClr val="dk1"/>
                        </a:solidFill>
                        <a:latin typeface="+mn-lt"/>
                        <a:ea typeface="+mn-ea"/>
                        <a:cs typeface="+mn-cs"/>
                      </a:endParaRPr>
                    </a:p>
                    <a:p>
                      <a:pPr algn="ctr"/>
                      <a:r>
                        <a:rPr lang="en-US" sz="1350" b="0" i="0" u="none" strike="noStrike" kern="1200" baseline="0" dirty="0" smtClean="0">
                          <a:solidFill>
                            <a:schemeClr val="dk1"/>
                          </a:solidFill>
                          <a:latin typeface="+mn-lt"/>
                          <a:ea typeface="+mn-ea"/>
                          <a:cs typeface="+mn-cs"/>
                        </a:rPr>
                        <a:t>and complexity</a:t>
                      </a:r>
                    </a:p>
                    <a:p>
                      <a:pPr algn="ctr"/>
                      <a:r>
                        <a:rPr lang="en-US" sz="1350" b="0" i="0" u="none" strike="noStrike" kern="1200" baseline="0" dirty="0" smtClean="0">
                          <a:solidFill>
                            <a:schemeClr val="dk1"/>
                          </a:solidFill>
                          <a:latin typeface="+mn-lt"/>
                          <a:ea typeface="+mn-ea"/>
                          <a:cs typeface="+mn-cs"/>
                        </a:rPr>
                        <a:t>dependent</a:t>
                      </a:r>
                      <a:endParaRPr lang="en-US" dirty="0">
                        <a:solidFill>
                          <a:schemeClr val="tx1"/>
                        </a:solidFill>
                      </a:endParaRPr>
                    </a:p>
                  </a:txBody>
                  <a:tcPr/>
                </a:tc>
              </a:tr>
              <a:tr h="549050">
                <a:tc>
                  <a:txBody>
                    <a:bodyPr/>
                    <a:lstStyle/>
                    <a:p>
                      <a:pPr algn="ctr"/>
                      <a:r>
                        <a:rPr lang="en-US" dirty="0" smtClean="0">
                          <a:solidFill>
                            <a:schemeClr val="tx1"/>
                          </a:solidFill>
                        </a:rPr>
                        <a:t>[11]</a:t>
                      </a:r>
                      <a:endParaRPr lang="en-US" dirty="0">
                        <a:solidFill>
                          <a:schemeClr val="tx1"/>
                        </a:solidFill>
                      </a:endParaRPr>
                    </a:p>
                  </a:txBody>
                  <a:tcPr/>
                </a:tc>
                <a:tc>
                  <a:txBody>
                    <a:bodyPr/>
                    <a:lstStyle/>
                    <a:p>
                      <a:pPr algn="ctr"/>
                      <a:r>
                        <a:rPr lang="en-US" sz="1350" b="0" i="0" u="none" strike="noStrike" kern="1200" baseline="0" dirty="0" smtClean="0">
                          <a:solidFill>
                            <a:schemeClr val="dk1"/>
                          </a:solidFill>
                          <a:latin typeface="+mn-lt"/>
                          <a:ea typeface="+mn-ea"/>
                          <a:cs typeface="+mn-cs"/>
                        </a:rPr>
                        <a:t>Propose hybrid ACO</a:t>
                      </a:r>
                    </a:p>
                    <a:p>
                      <a:pPr algn="ctr"/>
                      <a:r>
                        <a:rPr lang="en-US" sz="1350" b="0" i="0" u="none" strike="noStrike" kern="1200" baseline="0" dirty="0" smtClean="0">
                          <a:solidFill>
                            <a:schemeClr val="dk1"/>
                          </a:solidFill>
                          <a:latin typeface="+mn-lt"/>
                          <a:ea typeface="+mn-ea"/>
                          <a:cs typeface="+mn-cs"/>
                        </a:rPr>
                        <a:t>model to solve</a:t>
                      </a:r>
                    </a:p>
                    <a:p>
                      <a:pPr algn="ctr"/>
                      <a:r>
                        <a:rPr lang="en-US" sz="1350" b="0" i="0" u="none" strike="noStrike" kern="1200" baseline="0" dirty="0" smtClean="0">
                          <a:solidFill>
                            <a:schemeClr val="dk1"/>
                          </a:solidFill>
                          <a:latin typeface="+mn-lt"/>
                          <a:ea typeface="+mn-ea"/>
                          <a:cs typeface="+mn-cs"/>
                        </a:rPr>
                        <a:t>optimization</a:t>
                      </a:r>
                    </a:p>
                    <a:p>
                      <a:pPr algn="ctr"/>
                      <a:r>
                        <a:rPr lang="en-US" sz="1350" b="0" i="0" u="none" strike="noStrike" kern="1200" baseline="0" dirty="0" smtClean="0">
                          <a:solidFill>
                            <a:schemeClr val="dk1"/>
                          </a:solidFill>
                          <a:latin typeface="+mn-lt"/>
                          <a:ea typeface="+mn-ea"/>
                          <a:cs typeface="+mn-cs"/>
                        </a:rPr>
                        <a:t>problems</a:t>
                      </a:r>
                      <a:endParaRPr lang="en-US" dirty="0">
                        <a:solidFill>
                          <a:schemeClr val="tx1"/>
                        </a:solidFill>
                      </a:endParaRPr>
                    </a:p>
                  </a:txBody>
                  <a:tcPr/>
                </a:tc>
                <a:tc>
                  <a:txBody>
                    <a:bodyPr/>
                    <a:lstStyle/>
                    <a:p>
                      <a:pPr algn="ctr"/>
                      <a:r>
                        <a:rPr lang="en-US" sz="1350" b="0" i="0" u="none" strike="noStrike" kern="1200" baseline="0" dirty="0" smtClean="0">
                          <a:solidFill>
                            <a:schemeClr val="dk1"/>
                          </a:solidFill>
                          <a:latin typeface="+mn-lt"/>
                          <a:ea typeface="+mn-ea"/>
                          <a:cs typeface="+mn-cs"/>
                        </a:rPr>
                        <a:t>Combined ACOR with</a:t>
                      </a:r>
                    </a:p>
                    <a:p>
                      <a:pPr algn="ctr"/>
                      <a:r>
                        <a:rPr lang="en-US" sz="1350" b="0" i="0" u="none" strike="noStrike" kern="1200" baseline="0" dirty="0" smtClean="0">
                          <a:solidFill>
                            <a:schemeClr val="dk1"/>
                          </a:solidFill>
                          <a:latin typeface="+mn-lt"/>
                          <a:ea typeface="+mn-ea"/>
                          <a:cs typeface="+mn-cs"/>
                        </a:rPr>
                        <a:t>DACOR and</a:t>
                      </a:r>
                    </a:p>
                    <a:p>
                      <a:pPr algn="ctr"/>
                      <a:r>
                        <a:rPr lang="en-US" sz="1350" b="0" i="0" u="none" strike="noStrike" kern="1200" baseline="0" dirty="0" smtClean="0">
                          <a:solidFill>
                            <a:schemeClr val="dk1"/>
                          </a:solidFill>
                          <a:latin typeface="+mn-lt"/>
                          <a:ea typeface="+mn-ea"/>
                          <a:cs typeface="+mn-cs"/>
                        </a:rPr>
                        <a:t>IACOR</a:t>
                      </a:r>
                      <a:endParaRPr lang="en-US" dirty="0">
                        <a:solidFill>
                          <a:schemeClr val="tx1"/>
                        </a:solidFill>
                      </a:endParaRPr>
                    </a:p>
                  </a:txBody>
                  <a:tcPr/>
                </a:tc>
                <a:tc>
                  <a:txBody>
                    <a:bodyPr/>
                    <a:lstStyle/>
                    <a:p>
                      <a:pPr algn="ctr"/>
                      <a:r>
                        <a:rPr lang="en-US" sz="1350" b="0" i="0" u="none" strike="noStrike" kern="1200" baseline="0" dirty="0" smtClean="0">
                          <a:solidFill>
                            <a:schemeClr val="dk1"/>
                          </a:solidFill>
                          <a:latin typeface="+mn-lt"/>
                          <a:ea typeface="+mn-ea"/>
                          <a:cs typeface="+mn-cs"/>
                        </a:rPr>
                        <a:t>Multi-modal and</a:t>
                      </a:r>
                    </a:p>
                    <a:p>
                      <a:pPr algn="ctr"/>
                      <a:r>
                        <a:rPr lang="en-US" sz="1350" b="0" i="0" u="none" strike="noStrike" kern="1200" baseline="0" dirty="0" smtClean="0">
                          <a:solidFill>
                            <a:schemeClr val="dk1"/>
                          </a:solidFill>
                          <a:latin typeface="+mn-lt"/>
                          <a:ea typeface="+mn-ea"/>
                          <a:cs typeface="+mn-cs"/>
                        </a:rPr>
                        <a:t>mixed-variable</a:t>
                      </a:r>
                    </a:p>
                    <a:p>
                      <a:pPr algn="ctr"/>
                      <a:r>
                        <a:rPr lang="en-US" sz="1350" b="0" i="0" u="none" strike="noStrike" kern="1200" baseline="0" dirty="0" smtClean="0">
                          <a:solidFill>
                            <a:schemeClr val="dk1"/>
                          </a:solidFill>
                          <a:latin typeface="+mn-lt"/>
                          <a:ea typeface="+mn-ea"/>
                          <a:cs typeface="+mn-cs"/>
                        </a:rPr>
                        <a:t>optimization</a:t>
                      </a:r>
                    </a:p>
                    <a:p>
                      <a:pPr algn="ctr"/>
                      <a:r>
                        <a:rPr lang="en-US" sz="1350" b="0" i="0" u="none" strike="noStrike" kern="1200" baseline="0" dirty="0" smtClean="0">
                          <a:solidFill>
                            <a:schemeClr val="dk1"/>
                          </a:solidFill>
                          <a:latin typeface="+mn-lt"/>
                          <a:ea typeface="+mn-ea"/>
                          <a:cs typeface="+mn-cs"/>
                        </a:rPr>
                        <a:t>problems not handled</a:t>
                      </a:r>
                      <a:endParaRPr lang="en-US" dirty="0">
                        <a:solidFill>
                          <a:schemeClr val="tx1"/>
                        </a:solidFill>
                      </a:endParaRPr>
                    </a:p>
                  </a:txBody>
                  <a:tcPr/>
                </a:tc>
              </a:tr>
              <a:tr h="425513">
                <a:tc>
                  <a:txBody>
                    <a:bodyPr/>
                    <a:lstStyle/>
                    <a:p>
                      <a:pPr algn="ctr"/>
                      <a:r>
                        <a:rPr lang="en-US" dirty="0" smtClean="0">
                          <a:solidFill>
                            <a:schemeClr val="tx1"/>
                          </a:solidFill>
                        </a:rPr>
                        <a:t>[12]</a:t>
                      </a:r>
                      <a:endParaRPr lang="en-US" dirty="0">
                        <a:solidFill>
                          <a:schemeClr val="tx1"/>
                        </a:solidFill>
                      </a:endParaRPr>
                    </a:p>
                  </a:txBody>
                  <a:tcPr/>
                </a:tc>
                <a:tc>
                  <a:txBody>
                    <a:bodyPr/>
                    <a:lstStyle/>
                    <a:p>
                      <a:pPr algn="ctr"/>
                      <a:r>
                        <a:rPr lang="en-US" sz="1350" b="0" i="0" u="none" strike="noStrike" kern="1200" baseline="0" dirty="0" smtClean="0">
                          <a:solidFill>
                            <a:schemeClr val="dk1"/>
                          </a:solidFill>
                          <a:latin typeface="+mn-lt"/>
                          <a:ea typeface="+mn-ea"/>
                          <a:cs typeface="+mn-cs"/>
                        </a:rPr>
                        <a:t>Modify ACOR to</a:t>
                      </a:r>
                    </a:p>
                    <a:p>
                      <a:pPr algn="ctr"/>
                      <a:r>
                        <a:rPr lang="en-US" sz="1350" b="0" i="0" u="none" strike="noStrike" kern="1200" baseline="0" dirty="0" smtClean="0">
                          <a:solidFill>
                            <a:schemeClr val="dk1"/>
                          </a:solidFill>
                          <a:latin typeface="+mn-lt"/>
                          <a:ea typeface="+mn-ea"/>
                          <a:cs typeface="+mn-cs"/>
                        </a:rPr>
                        <a:t>improve its</a:t>
                      </a:r>
                    </a:p>
                    <a:p>
                      <a:pPr algn="ctr"/>
                      <a:r>
                        <a:rPr lang="en-US" sz="1350" b="0" i="0" u="none" strike="noStrike" kern="1200" baseline="0" dirty="0" smtClean="0">
                          <a:solidFill>
                            <a:schemeClr val="dk1"/>
                          </a:solidFill>
                          <a:latin typeface="+mn-lt"/>
                          <a:ea typeface="+mn-ea"/>
                          <a:cs typeface="+mn-cs"/>
                        </a:rPr>
                        <a:t>performance</a:t>
                      </a:r>
                      <a:endParaRPr lang="en-US" dirty="0">
                        <a:solidFill>
                          <a:schemeClr val="tx1"/>
                        </a:solidFill>
                      </a:endParaRPr>
                    </a:p>
                  </a:txBody>
                  <a:tcPr/>
                </a:tc>
                <a:tc>
                  <a:txBody>
                    <a:bodyPr/>
                    <a:lstStyle/>
                    <a:p>
                      <a:pPr algn="ctr"/>
                      <a:r>
                        <a:rPr lang="en-US" sz="1350" b="0" i="0" u="none" strike="noStrike" kern="1200" baseline="0" dirty="0" smtClean="0">
                          <a:solidFill>
                            <a:schemeClr val="dk1"/>
                          </a:solidFill>
                          <a:latin typeface="+mn-lt"/>
                          <a:ea typeface="+mn-ea"/>
                          <a:cs typeface="+mn-cs"/>
                        </a:rPr>
                        <a:t>Integrated ACOR with</a:t>
                      </a:r>
                    </a:p>
                    <a:p>
                      <a:pPr algn="ctr"/>
                      <a:r>
                        <a:rPr lang="en-US" sz="1350" b="0" i="0" u="none" strike="noStrike" kern="1200" baseline="0" dirty="0" smtClean="0">
                          <a:solidFill>
                            <a:schemeClr val="dk1"/>
                          </a:solidFill>
                          <a:latin typeface="+mn-lt"/>
                          <a:ea typeface="+mn-ea"/>
                          <a:cs typeface="+mn-cs"/>
                        </a:rPr>
                        <a:t>local search scheme</a:t>
                      </a:r>
                      <a:endParaRPr lang="en-US" dirty="0">
                        <a:solidFill>
                          <a:schemeClr val="tx1"/>
                        </a:solidFill>
                      </a:endParaRPr>
                    </a:p>
                  </a:txBody>
                  <a:tcPr/>
                </a:tc>
                <a:tc>
                  <a:txBody>
                    <a:bodyPr/>
                    <a:lstStyle/>
                    <a:p>
                      <a:pPr algn="ctr"/>
                      <a:r>
                        <a:rPr lang="en-US" sz="1350" b="0" i="0" u="none" strike="noStrike" kern="1200" baseline="0" dirty="0" smtClean="0">
                          <a:solidFill>
                            <a:schemeClr val="dk1"/>
                          </a:solidFill>
                          <a:latin typeface="+mn-lt"/>
                          <a:ea typeface="+mn-ea"/>
                          <a:cs typeface="+mn-cs"/>
                        </a:rPr>
                        <a:t>Multi-modal and</a:t>
                      </a:r>
                    </a:p>
                    <a:p>
                      <a:pPr algn="ctr"/>
                      <a:r>
                        <a:rPr lang="en-US" sz="1350" b="0" i="0" u="none" strike="noStrike" kern="1200" baseline="0" dirty="0" smtClean="0">
                          <a:solidFill>
                            <a:schemeClr val="dk1"/>
                          </a:solidFill>
                          <a:latin typeface="+mn-lt"/>
                          <a:ea typeface="+mn-ea"/>
                          <a:cs typeface="+mn-cs"/>
                        </a:rPr>
                        <a:t>mixed-variable not</a:t>
                      </a:r>
                    </a:p>
                    <a:p>
                      <a:pPr algn="ctr"/>
                      <a:r>
                        <a:rPr lang="en-US" sz="1350" b="0" i="0" u="none" strike="noStrike" kern="1200" baseline="0" dirty="0" smtClean="0">
                          <a:solidFill>
                            <a:schemeClr val="dk1"/>
                          </a:solidFill>
                          <a:latin typeface="+mn-lt"/>
                          <a:ea typeface="+mn-ea"/>
                          <a:cs typeface="+mn-cs"/>
                        </a:rPr>
                        <a:t>handled</a:t>
                      </a:r>
                      <a:endParaRPr lang="en-US" dirty="0">
                        <a:solidFill>
                          <a:schemeClr val="tx1"/>
                        </a:solidFill>
                      </a:endParaRPr>
                    </a:p>
                  </a:txBody>
                  <a:tcPr/>
                </a:tc>
              </a:tr>
            </a:tbl>
          </a:graphicData>
        </a:graphic>
      </p:graphicFrame>
    </p:spTree>
    <p:extLst>
      <p:ext uri="{BB962C8B-B14F-4D97-AF65-F5344CB8AC3E}">
        <p14:creationId xmlns:p14="http://schemas.microsoft.com/office/powerpoint/2010/main" val="2230816003"/>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11699" y="135932"/>
            <a:ext cx="8520600" cy="572700"/>
          </a:xfrm>
        </p:spPr>
        <p:txBody>
          <a:bodyPr>
            <a:noAutofit/>
          </a:bodyPr>
          <a:lstStyle/>
          <a:p>
            <a:r>
              <a:rPr lang="en-US" sz="3200" b="1" dirty="0">
                <a:solidFill>
                  <a:schemeClr val="tx1"/>
                </a:solidFill>
                <a:latin typeface="Times New Roman" panose="02020603050405020304" pitchFamily="18" charset="0"/>
                <a:ea typeface="Calibri"/>
                <a:cs typeface="Times New Roman" panose="02020603050405020304" pitchFamily="18" charset="0"/>
              </a:rPr>
              <a:t>Comparative Analysis</a:t>
            </a:r>
          </a:p>
        </p:txBody>
      </p:sp>
      <p:sp>
        <p:nvSpPr>
          <p:cNvPr id="4" name="Slide Number Placeholder 3"/>
          <p:cNvSpPr>
            <a:spLocks noGrp="1"/>
          </p:cNvSpPr>
          <p:nvPr>
            <p:ph type="sldNum" idx="12"/>
          </p:nvPr>
        </p:nvSpPr>
        <p:spPr/>
        <p:txBody>
          <a:bodyPr/>
          <a:lstStyle/>
          <a:p>
            <a:fld id="{00000000-1234-1234-1234-123412341234}" type="slidenum">
              <a:rPr lang="en" smtClean="0"/>
              <a:pPr/>
              <a:t>24</a:t>
            </a:fld>
            <a:endParaRPr lang="en" dirty="0"/>
          </a:p>
        </p:txBody>
      </p:sp>
      <p:graphicFrame>
        <p:nvGraphicFramePr>
          <p:cNvPr id="5" name="Table 4"/>
          <p:cNvGraphicFramePr>
            <a:graphicFrameLocks noGrp="1"/>
          </p:cNvGraphicFramePr>
          <p:nvPr>
            <p:extLst>
              <p:ext uri="{D42A27DB-BD31-4B8C-83A1-F6EECF244321}">
                <p14:modId xmlns:p14="http://schemas.microsoft.com/office/powerpoint/2010/main" val="2015662606"/>
              </p:ext>
            </p:extLst>
          </p:nvPr>
        </p:nvGraphicFramePr>
        <p:xfrm>
          <a:off x="313880" y="708633"/>
          <a:ext cx="8184119" cy="3749040"/>
        </p:xfrm>
        <a:graphic>
          <a:graphicData uri="http://schemas.openxmlformats.org/drawingml/2006/table">
            <a:tbl>
              <a:tblPr firstRow="1" bandRow="1">
                <a:tableStyleId>{5C22544A-7EE6-4342-B048-85BDC9FD1C3A}</a:tableStyleId>
              </a:tblPr>
              <a:tblGrid>
                <a:gridCol w="883435"/>
                <a:gridCol w="2532527"/>
                <a:gridCol w="2860662"/>
                <a:gridCol w="1907495"/>
              </a:tblGrid>
              <a:tr h="220334">
                <a:tc>
                  <a:txBody>
                    <a:bodyPr/>
                    <a:lstStyle/>
                    <a:p>
                      <a:pPr algn="ctr"/>
                      <a:r>
                        <a:rPr lang="en-US" dirty="0" err="1" smtClean="0">
                          <a:solidFill>
                            <a:schemeClr val="tx1"/>
                          </a:solidFill>
                        </a:rPr>
                        <a:t>Ref.No</a:t>
                      </a:r>
                      <a:endParaRPr lang="en-US" dirty="0">
                        <a:solidFill>
                          <a:schemeClr val="tx1"/>
                        </a:solidFill>
                      </a:endParaRPr>
                    </a:p>
                  </a:txBody>
                  <a:tcPr/>
                </a:tc>
                <a:tc>
                  <a:txBody>
                    <a:bodyPr/>
                    <a:lstStyle/>
                    <a:p>
                      <a:pPr algn="ctr"/>
                      <a:r>
                        <a:rPr lang="en-US" dirty="0" smtClean="0">
                          <a:solidFill>
                            <a:schemeClr val="tx1"/>
                          </a:solidFill>
                        </a:rPr>
                        <a:t>Objective</a:t>
                      </a:r>
                      <a:endParaRPr lang="en-US" dirty="0">
                        <a:solidFill>
                          <a:schemeClr val="tx1"/>
                        </a:solidFill>
                      </a:endParaRPr>
                    </a:p>
                  </a:txBody>
                  <a:tcPr/>
                </a:tc>
                <a:tc>
                  <a:txBody>
                    <a:bodyPr/>
                    <a:lstStyle/>
                    <a:p>
                      <a:pPr algn="ctr"/>
                      <a:r>
                        <a:rPr lang="en-US" dirty="0" smtClean="0">
                          <a:solidFill>
                            <a:schemeClr val="tx1"/>
                          </a:solidFill>
                        </a:rPr>
                        <a:t>Approach</a:t>
                      </a:r>
                      <a:endParaRPr lang="en-US" dirty="0">
                        <a:solidFill>
                          <a:schemeClr val="tx1"/>
                        </a:solidFill>
                      </a:endParaRPr>
                    </a:p>
                  </a:txBody>
                  <a:tcPr/>
                </a:tc>
                <a:tc>
                  <a:txBody>
                    <a:bodyPr/>
                    <a:lstStyle/>
                    <a:p>
                      <a:pPr algn="ctr"/>
                      <a:r>
                        <a:rPr lang="en-US" dirty="0" smtClean="0">
                          <a:solidFill>
                            <a:schemeClr val="tx1"/>
                          </a:solidFill>
                        </a:rPr>
                        <a:t>Limitations</a:t>
                      </a:r>
                      <a:endParaRPr lang="en-US" dirty="0">
                        <a:solidFill>
                          <a:schemeClr val="tx1"/>
                        </a:solidFill>
                      </a:endParaRPr>
                    </a:p>
                  </a:txBody>
                  <a:tcPr/>
                </a:tc>
              </a:tr>
              <a:tr h="471348">
                <a:tc>
                  <a:txBody>
                    <a:bodyPr/>
                    <a:lstStyle/>
                    <a:p>
                      <a:pPr algn="ctr"/>
                      <a:r>
                        <a:rPr lang="en-US" dirty="0" smtClean="0">
                          <a:solidFill>
                            <a:schemeClr val="tx1"/>
                          </a:solidFill>
                        </a:rPr>
                        <a:t>[13]</a:t>
                      </a:r>
                      <a:endParaRPr lang="en-US" dirty="0">
                        <a:solidFill>
                          <a:schemeClr val="tx1"/>
                        </a:solidFill>
                      </a:endParaRPr>
                    </a:p>
                  </a:txBody>
                  <a:tcPr/>
                </a:tc>
                <a:tc>
                  <a:txBody>
                    <a:bodyPr/>
                    <a:lstStyle/>
                    <a:p>
                      <a:pPr algn="ctr"/>
                      <a:r>
                        <a:rPr lang="en-US" sz="1350" b="0" i="0" u="none" strike="noStrike" kern="1200" baseline="0" dirty="0" smtClean="0">
                          <a:solidFill>
                            <a:schemeClr val="dk1"/>
                          </a:solidFill>
                          <a:latin typeface="+mn-lt"/>
                          <a:ea typeface="+mn-ea"/>
                          <a:cs typeface="+mn-cs"/>
                        </a:rPr>
                        <a:t>Propose </a:t>
                      </a:r>
                      <a:r>
                        <a:rPr lang="en-US" sz="1350" b="0" i="0" u="none" strike="noStrike" kern="1200" baseline="0" dirty="0" err="1" smtClean="0">
                          <a:solidFill>
                            <a:schemeClr val="dk1"/>
                          </a:solidFill>
                          <a:latin typeface="+mn-lt"/>
                          <a:ea typeface="+mn-ea"/>
                          <a:cs typeface="+mn-cs"/>
                        </a:rPr>
                        <a:t>SamACO</a:t>
                      </a:r>
                      <a:r>
                        <a:rPr lang="en-US" sz="1350" b="0" i="0" u="none" strike="noStrike" kern="1200" baseline="0" dirty="0" smtClean="0">
                          <a:solidFill>
                            <a:schemeClr val="dk1"/>
                          </a:solidFill>
                          <a:latin typeface="+mn-lt"/>
                          <a:ea typeface="+mn-ea"/>
                          <a:cs typeface="+mn-cs"/>
                        </a:rPr>
                        <a:t> to</a:t>
                      </a:r>
                    </a:p>
                    <a:p>
                      <a:pPr algn="ctr"/>
                      <a:r>
                        <a:rPr lang="en-US" sz="1350" b="0" i="0" u="none" strike="noStrike" kern="1200" baseline="0" dirty="0" smtClean="0">
                          <a:solidFill>
                            <a:schemeClr val="dk1"/>
                          </a:solidFill>
                          <a:latin typeface="+mn-lt"/>
                          <a:ea typeface="+mn-ea"/>
                          <a:cs typeface="+mn-cs"/>
                        </a:rPr>
                        <a:t>solve continuous</a:t>
                      </a:r>
                    </a:p>
                    <a:p>
                      <a:pPr algn="ctr"/>
                      <a:r>
                        <a:rPr lang="en-US" sz="1350" b="0" i="0" u="none" strike="noStrike" kern="1200" baseline="0" dirty="0" smtClean="0">
                          <a:solidFill>
                            <a:schemeClr val="dk1"/>
                          </a:solidFill>
                          <a:latin typeface="+mn-lt"/>
                          <a:ea typeface="+mn-ea"/>
                          <a:cs typeface="+mn-cs"/>
                        </a:rPr>
                        <a:t>optimization</a:t>
                      </a:r>
                    </a:p>
                    <a:p>
                      <a:pPr algn="ctr"/>
                      <a:r>
                        <a:rPr lang="en-US" sz="1350" b="0" i="0" u="none" strike="noStrike" kern="1200" baseline="0" dirty="0" smtClean="0">
                          <a:solidFill>
                            <a:schemeClr val="dk1"/>
                          </a:solidFill>
                          <a:latin typeface="+mn-lt"/>
                          <a:ea typeface="+mn-ea"/>
                          <a:cs typeface="+mn-cs"/>
                        </a:rPr>
                        <a:t>problems</a:t>
                      </a:r>
                      <a:endParaRPr lang="en-US" dirty="0">
                        <a:solidFill>
                          <a:schemeClr val="tx1"/>
                        </a:solidFill>
                      </a:endParaRPr>
                    </a:p>
                  </a:txBody>
                  <a:tcPr/>
                </a:tc>
                <a:tc>
                  <a:txBody>
                    <a:bodyPr/>
                    <a:lstStyle/>
                    <a:p>
                      <a:pPr algn="ctr"/>
                      <a:r>
                        <a:rPr lang="en-US" sz="1350" b="0" i="0" u="none" strike="noStrike" kern="1200" baseline="0" dirty="0" smtClean="0">
                          <a:solidFill>
                            <a:schemeClr val="dk1"/>
                          </a:solidFill>
                          <a:latin typeface="+mn-lt"/>
                          <a:ea typeface="+mn-ea"/>
                          <a:cs typeface="+mn-cs"/>
                        </a:rPr>
                        <a:t>Used sampling method</a:t>
                      </a:r>
                    </a:p>
                    <a:p>
                      <a:pPr algn="ctr"/>
                      <a:r>
                        <a:rPr lang="en-US" sz="1350" b="0" i="0" u="none" strike="noStrike" kern="1200" baseline="0" dirty="0" smtClean="0">
                          <a:solidFill>
                            <a:schemeClr val="dk1"/>
                          </a:solidFill>
                          <a:latin typeface="+mn-lt"/>
                          <a:ea typeface="+mn-ea"/>
                          <a:cs typeface="+mn-cs"/>
                        </a:rPr>
                        <a:t>to discretize the</a:t>
                      </a:r>
                    </a:p>
                    <a:p>
                      <a:pPr algn="ctr"/>
                      <a:r>
                        <a:rPr lang="en-US" sz="1350" b="0" i="0" u="none" strike="noStrike" kern="1200" baseline="0" dirty="0" smtClean="0">
                          <a:solidFill>
                            <a:schemeClr val="dk1"/>
                          </a:solidFill>
                          <a:latin typeface="+mn-lt"/>
                          <a:ea typeface="+mn-ea"/>
                          <a:cs typeface="+mn-cs"/>
                        </a:rPr>
                        <a:t>continuous search space</a:t>
                      </a:r>
                    </a:p>
                    <a:p>
                      <a:pPr algn="ctr"/>
                      <a:r>
                        <a:rPr lang="en-US" sz="1350" b="0" i="0" u="none" strike="noStrike" kern="1200" baseline="0" dirty="0" smtClean="0">
                          <a:solidFill>
                            <a:schemeClr val="dk1"/>
                          </a:solidFill>
                          <a:latin typeface="+mn-lt"/>
                          <a:ea typeface="+mn-ea"/>
                          <a:cs typeface="+mn-cs"/>
                        </a:rPr>
                        <a:t>for traditional ACO</a:t>
                      </a:r>
                      <a:endParaRPr lang="en-US" dirty="0">
                        <a:solidFill>
                          <a:schemeClr val="tx1"/>
                        </a:solidFill>
                      </a:endParaRPr>
                    </a:p>
                  </a:txBody>
                  <a:tcPr/>
                </a:tc>
                <a:tc>
                  <a:txBody>
                    <a:bodyPr/>
                    <a:lstStyle/>
                    <a:p>
                      <a:pPr algn="ctr"/>
                      <a:r>
                        <a:rPr lang="en-US" sz="1350" b="0" i="0" u="none" strike="noStrike" kern="1200" baseline="0" dirty="0" smtClean="0">
                          <a:solidFill>
                            <a:schemeClr val="dk1"/>
                          </a:solidFill>
                          <a:latin typeface="+mn-lt"/>
                          <a:ea typeface="+mn-ea"/>
                          <a:cs typeface="+mn-cs"/>
                        </a:rPr>
                        <a:t>multi-modal and</a:t>
                      </a:r>
                    </a:p>
                    <a:p>
                      <a:pPr algn="ctr"/>
                      <a:r>
                        <a:rPr lang="en-US" sz="1350" b="0" i="0" u="none" strike="noStrike" kern="1200" baseline="0" dirty="0" smtClean="0">
                          <a:solidFill>
                            <a:schemeClr val="dk1"/>
                          </a:solidFill>
                          <a:latin typeface="+mn-lt"/>
                          <a:ea typeface="+mn-ea"/>
                          <a:cs typeface="+mn-cs"/>
                        </a:rPr>
                        <a:t>mixed-variable</a:t>
                      </a:r>
                    </a:p>
                    <a:p>
                      <a:pPr algn="ctr"/>
                      <a:r>
                        <a:rPr lang="en-US" sz="1350" b="0" i="0" u="none" strike="noStrike" kern="1200" baseline="0" dirty="0" smtClean="0">
                          <a:solidFill>
                            <a:schemeClr val="dk1"/>
                          </a:solidFill>
                          <a:latin typeface="+mn-lt"/>
                          <a:ea typeface="+mn-ea"/>
                          <a:cs typeface="+mn-cs"/>
                        </a:rPr>
                        <a:t>optimization</a:t>
                      </a:r>
                    </a:p>
                    <a:p>
                      <a:pPr algn="ctr"/>
                      <a:r>
                        <a:rPr lang="en-US" sz="1350" b="0" i="0" u="none" strike="noStrike" kern="1200" baseline="0" dirty="0" smtClean="0">
                          <a:solidFill>
                            <a:schemeClr val="dk1"/>
                          </a:solidFill>
                          <a:latin typeface="+mn-lt"/>
                          <a:ea typeface="+mn-ea"/>
                          <a:cs typeface="+mn-cs"/>
                        </a:rPr>
                        <a:t>problems not handled</a:t>
                      </a:r>
                      <a:endParaRPr lang="en-US" dirty="0">
                        <a:solidFill>
                          <a:schemeClr val="tx1"/>
                        </a:solidFill>
                      </a:endParaRPr>
                    </a:p>
                  </a:txBody>
                  <a:tcPr/>
                </a:tc>
              </a:tr>
              <a:tr h="471348">
                <a:tc>
                  <a:txBody>
                    <a:bodyPr/>
                    <a:lstStyle/>
                    <a:p>
                      <a:pPr algn="ctr"/>
                      <a:r>
                        <a:rPr lang="en-US" dirty="0" smtClean="0">
                          <a:solidFill>
                            <a:schemeClr val="tx1"/>
                          </a:solidFill>
                        </a:rPr>
                        <a:t>[14]</a:t>
                      </a:r>
                      <a:endParaRPr lang="en-US" dirty="0">
                        <a:solidFill>
                          <a:schemeClr val="tx1"/>
                        </a:solidFill>
                      </a:endParaRPr>
                    </a:p>
                  </a:txBody>
                  <a:tcPr/>
                </a:tc>
                <a:tc>
                  <a:txBody>
                    <a:bodyPr/>
                    <a:lstStyle/>
                    <a:p>
                      <a:pPr algn="ctr"/>
                      <a:r>
                        <a:rPr lang="en-US" sz="1350" b="0" i="0" u="none" strike="noStrike" kern="1200" baseline="0" dirty="0" smtClean="0">
                          <a:solidFill>
                            <a:schemeClr val="dk1"/>
                          </a:solidFill>
                          <a:latin typeface="+mn-lt"/>
                          <a:ea typeface="+mn-ea"/>
                          <a:cs typeface="+mn-cs"/>
                        </a:rPr>
                        <a:t>Solve continuous</a:t>
                      </a:r>
                    </a:p>
                    <a:p>
                      <a:pPr algn="ctr"/>
                      <a:r>
                        <a:rPr lang="en-US" sz="1350" b="0" i="0" u="none" strike="noStrike" kern="1200" baseline="0" dirty="0" smtClean="0">
                          <a:solidFill>
                            <a:schemeClr val="dk1"/>
                          </a:solidFill>
                          <a:latin typeface="+mn-lt"/>
                          <a:ea typeface="+mn-ea"/>
                          <a:cs typeface="+mn-cs"/>
                        </a:rPr>
                        <a:t>optimization</a:t>
                      </a:r>
                    </a:p>
                    <a:p>
                      <a:pPr algn="ctr"/>
                      <a:r>
                        <a:rPr lang="en-US" sz="1350" b="0" i="0" u="none" strike="noStrike" kern="1200" baseline="0" dirty="0" smtClean="0">
                          <a:solidFill>
                            <a:schemeClr val="dk1"/>
                          </a:solidFill>
                          <a:latin typeface="+mn-lt"/>
                          <a:ea typeface="+mn-ea"/>
                          <a:cs typeface="+mn-cs"/>
                        </a:rPr>
                        <a:t>problems using ACO</a:t>
                      </a:r>
                      <a:endParaRPr lang="en-US" dirty="0">
                        <a:solidFill>
                          <a:schemeClr val="tx1"/>
                        </a:solidFill>
                      </a:endParaRPr>
                    </a:p>
                  </a:txBody>
                  <a:tcPr/>
                </a:tc>
                <a:tc>
                  <a:txBody>
                    <a:bodyPr/>
                    <a:lstStyle/>
                    <a:p>
                      <a:pPr algn="ctr"/>
                      <a:r>
                        <a:rPr lang="en-US" sz="1350" b="0" i="0" u="none" strike="noStrike" kern="1200" baseline="0" dirty="0" smtClean="0">
                          <a:solidFill>
                            <a:schemeClr val="dk1"/>
                          </a:solidFill>
                          <a:latin typeface="+mn-lt"/>
                          <a:ea typeface="+mn-ea"/>
                          <a:cs typeface="+mn-cs"/>
                        </a:rPr>
                        <a:t>Proposed ACOR to</a:t>
                      </a:r>
                    </a:p>
                    <a:p>
                      <a:pPr algn="ctr"/>
                      <a:r>
                        <a:rPr lang="en-US" sz="1350" b="0" i="0" u="none" strike="noStrike" kern="1200" baseline="0" dirty="0" smtClean="0">
                          <a:solidFill>
                            <a:schemeClr val="dk1"/>
                          </a:solidFill>
                          <a:latin typeface="+mn-lt"/>
                          <a:ea typeface="+mn-ea"/>
                          <a:cs typeface="+mn-cs"/>
                        </a:rPr>
                        <a:t>solve continuous</a:t>
                      </a:r>
                    </a:p>
                    <a:p>
                      <a:pPr algn="ctr"/>
                      <a:r>
                        <a:rPr lang="en-US" sz="1350" b="0" i="0" u="none" strike="noStrike" kern="1200" baseline="0" dirty="0" smtClean="0">
                          <a:solidFill>
                            <a:schemeClr val="dk1"/>
                          </a:solidFill>
                          <a:latin typeface="+mn-lt"/>
                          <a:ea typeface="+mn-ea"/>
                          <a:cs typeface="+mn-cs"/>
                        </a:rPr>
                        <a:t>optimization problems</a:t>
                      </a:r>
                      <a:endParaRPr lang="en-US" dirty="0">
                        <a:solidFill>
                          <a:schemeClr val="tx1"/>
                        </a:solidFill>
                      </a:endParaRPr>
                    </a:p>
                  </a:txBody>
                  <a:tcPr/>
                </a:tc>
                <a:tc>
                  <a:txBody>
                    <a:bodyPr/>
                    <a:lstStyle/>
                    <a:p>
                      <a:pPr algn="ctr"/>
                      <a:r>
                        <a:rPr lang="en-US" sz="1350" b="0" i="0" u="none" strike="noStrike" kern="1200" baseline="0" dirty="0" smtClean="0">
                          <a:solidFill>
                            <a:schemeClr val="dk1"/>
                          </a:solidFill>
                          <a:latin typeface="+mn-lt"/>
                          <a:ea typeface="+mn-ea"/>
                          <a:cs typeface="+mn-cs"/>
                        </a:rPr>
                        <a:t>multi-modal and</a:t>
                      </a:r>
                    </a:p>
                    <a:p>
                      <a:pPr algn="ctr"/>
                      <a:r>
                        <a:rPr lang="en-US" sz="1350" b="0" i="0" u="none" strike="noStrike" kern="1200" baseline="0" dirty="0" smtClean="0">
                          <a:solidFill>
                            <a:schemeClr val="dk1"/>
                          </a:solidFill>
                          <a:latin typeface="+mn-lt"/>
                          <a:ea typeface="+mn-ea"/>
                          <a:cs typeface="+mn-cs"/>
                        </a:rPr>
                        <a:t>mixed-variable</a:t>
                      </a:r>
                    </a:p>
                    <a:p>
                      <a:pPr algn="ctr"/>
                      <a:r>
                        <a:rPr lang="en-US" sz="1350" b="0" i="0" u="none" strike="noStrike" kern="1200" baseline="0" dirty="0" smtClean="0">
                          <a:solidFill>
                            <a:schemeClr val="dk1"/>
                          </a:solidFill>
                          <a:latin typeface="+mn-lt"/>
                          <a:ea typeface="+mn-ea"/>
                          <a:cs typeface="+mn-cs"/>
                        </a:rPr>
                        <a:t>optimization</a:t>
                      </a:r>
                    </a:p>
                    <a:p>
                      <a:pPr algn="ctr"/>
                      <a:r>
                        <a:rPr lang="en-US" sz="1350" b="0" i="0" u="none" strike="noStrike" kern="1200" baseline="0" dirty="0" smtClean="0">
                          <a:solidFill>
                            <a:schemeClr val="dk1"/>
                          </a:solidFill>
                          <a:latin typeface="+mn-lt"/>
                          <a:ea typeface="+mn-ea"/>
                          <a:cs typeface="+mn-cs"/>
                        </a:rPr>
                        <a:t>problems not handled</a:t>
                      </a:r>
                      <a:endParaRPr lang="en-US" dirty="0">
                        <a:solidFill>
                          <a:schemeClr val="tx1"/>
                        </a:solidFill>
                      </a:endParaRPr>
                    </a:p>
                  </a:txBody>
                  <a:tcPr/>
                </a:tc>
              </a:tr>
              <a:tr h="471348">
                <a:tc>
                  <a:txBody>
                    <a:bodyPr/>
                    <a:lstStyle/>
                    <a:p>
                      <a:pPr algn="ctr"/>
                      <a:r>
                        <a:rPr lang="en-US" dirty="0" smtClean="0">
                          <a:solidFill>
                            <a:schemeClr val="tx1"/>
                          </a:solidFill>
                        </a:rPr>
                        <a:t>[15]</a:t>
                      </a:r>
                      <a:endParaRPr lang="en-US" dirty="0">
                        <a:solidFill>
                          <a:schemeClr val="tx1"/>
                        </a:solidFill>
                      </a:endParaRPr>
                    </a:p>
                  </a:txBody>
                  <a:tcPr/>
                </a:tc>
                <a:tc>
                  <a:txBody>
                    <a:bodyPr/>
                    <a:lstStyle/>
                    <a:p>
                      <a:pPr algn="ctr"/>
                      <a:r>
                        <a:rPr lang="en-US" sz="1350" b="0" i="0" u="none" strike="noStrike" kern="1200" baseline="0" dirty="0" smtClean="0">
                          <a:solidFill>
                            <a:schemeClr val="dk1"/>
                          </a:solidFill>
                          <a:latin typeface="+mn-lt"/>
                          <a:ea typeface="+mn-ea"/>
                          <a:cs typeface="+mn-cs"/>
                        </a:rPr>
                        <a:t>Solve continuous</a:t>
                      </a:r>
                    </a:p>
                    <a:p>
                      <a:pPr algn="ctr"/>
                      <a:r>
                        <a:rPr lang="en-US" sz="1350" b="0" i="0" u="none" strike="noStrike" kern="1200" baseline="0" dirty="0" smtClean="0">
                          <a:solidFill>
                            <a:schemeClr val="dk1"/>
                          </a:solidFill>
                          <a:latin typeface="+mn-lt"/>
                          <a:ea typeface="+mn-ea"/>
                          <a:cs typeface="+mn-cs"/>
                        </a:rPr>
                        <a:t>optimization using</a:t>
                      </a:r>
                    </a:p>
                    <a:p>
                      <a:pPr algn="ctr"/>
                      <a:r>
                        <a:rPr lang="en-US" sz="1350" b="0" i="0" u="none" strike="noStrike" kern="1200" baseline="0" dirty="0" smtClean="0">
                          <a:solidFill>
                            <a:schemeClr val="dk1"/>
                          </a:solidFill>
                          <a:latin typeface="+mn-lt"/>
                          <a:ea typeface="+mn-ea"/>
                          <a:cs typeface="+mn-cs"/>
                        </a:rPr>
                        <a:t>ACO</a:t>
                      </a:r>
                      <a:endParaRPr lang="en-US" dirty="0">
                        <a:solidFill>
                          <a:schemeClr val="tx1"/>
                        </a:solidFill>
                      </a:endParaRPr>
                    </a:p>
                  </a:txBody>
                  <a:tcPr/>
                </a:tc>
                <a:tc>
                  <a:txBody>
                    <a:bodyPr/>
                    <a:lstStyle/>
                    <a:p>
                      <a:pPr algn="ctr"/>
                      <a:r>
                        <a:rPr lang="en-US" sz="1350" b="0" i="0" u="none" strike="noStrike" kern="1200" baseline="0" dirty="0" smtClean="0">
                          <a:solidFill>
                            <a:schemeClr val="dk1"/>
                          </a:solidFill>
                          <a:latin typeface="+mn-lt"/>
                          <a:ea typeface="+mn-ea"/>
                          <a:cs typeface="+mn-cs"/>
                        </a:rPr>
                        <a:t>Robust ACO with</a:t>
                      </a:r>
                    </a:p>
                    <a:p>
                      <a:pPr algn="ctr"/>
                      <a:r>
                        <a:rPr lang="en-US" sz="1350" b="0" i="0" u="none" strike="noStrike" kern="1200" baseline="0" dirty="0" smtClean="0">
                          <a:solidFill>
                            <a:schemeClr val="dk1"/>
                          </a:solidFill>
                          <a:latin typeface="+mn-lt"/>
                          <a:ea typeface="+mn-ea"/>
                          <a:cs typeface="+mn-cs"/>
                        </a:rPr>
                        <a:t>adaptive parameter</a:t>
                      </a:r>
                    </a:p>
                    <a:p>
                      <a:pPr algn="ctr"/>
                      <a:r>
                        <a:rPr lang="en-US" sz="1350" b="0" i="0" u="none" strike="noStrike" kern="1200" baseline="0" dirty="0" smtClean="0">
                          <a:solidFill>
                            <a:schemeClr val="dk1"/>
                          </a:solidFill>
                          <a:latin typeface="+mn-lt"/>
                          <a:ea typeface="+mn-ea"/>
                          <a:cs typeface="+mn-cs"/>
                        </a:rPr>
                        <a:t>settings</a:t>
                      </a:r>
                      <a:endParaRPr lang="en-US" dirty="0">
                        <a:solidFill>
                          <a:schemeClr val="tx1"/>
                        </a:solidFill>
                      </a:endParaRPr>
                    </a:p>
                  </a:txBody>
                  <a:tcPr/>
                </a:tc>
                <a:tc>
                  <a:txBody>
                    <a:bodyPr/>
                    <a:lstStyle/>
                    <a:p>
                      <a:pPr algn="ctr"/>
                      <a:r>
                        <a:rPr lang="en-US" sz="1350" b="0" i="0" u="none" strike="noStrike" kern="1200" baseline="0" dirty="0" smtClean="0">
                          <a:solidFill>
                            <a:schemeClr val="dk1"/>
                          </a:solidFill>
                          <a:latin typeface="+mn-lt"/>
                          <a:ea typeface="+mn-ea"/>
                          <a:cs typeface="+mn-cs"/>
                        </a:rPr>
                        <a:t>Mixed variables and</a:t>
                      </a:r>
                    </a:p>
                    <a:p>
                      <a:pPr algn="ctr"/>
                      <a:r>
                        <a:rPr lang="en-US" sz="1350" b="0" i="0" u="none" strike="noStrike" kern="1200" baseline="0" dirty="0" smtClean="0">
                          <a:solidFill>
                            <a:schemeClr val="dk1"/>
                          </a:solidFill>
                          <a:latin typeface="+mn-lt"/>
                          <a:ea typeface="+mn-ea"/>
                          <a:cs typeface="+mn-cs"/>
                        </a:rPr>
                        <a:t>multi modal not</a:t>
                      </a:r>
                    </a:p>
                    <a:p>
                      <a:pPr algn="ctr"/>
                      <a:r>
                        <a:rPr lang="en-US" sz="1350" b="0" i="0" u="none" strike="noStrike" kern="1200" baseline="0" dirty="0" smtClean="0">
                          <a:solidFill>
                            <a:schemeClr val="dk1"/>
                          </a:solidFill>
                          <a:latin typeface="+mn-lt"/>
                          <a:ea typeface="+mn-ea"/>
                          <a:cs typeface="+mn-cs"/>
                        </a:rPr>
                        <a:t>handled.</a:t>
                      </a:r>
                      <a:endParaRPr lang="en-US" dirty="0">
                        <a:solidFill>
                          <a:schemeClr val="tx1"/>
                        </a:solidFill>
                      </a:endParaRPr>
                    </a:p>
                  </a:txBody>
                  <a:tcPr/>
                </a:tc>
              </a:tr>
              <a:tr h="608191">
                <a:tc>
                  <a:txBody>
                    <a:bodyPr/>
                    <a:lstStyle/>
                    <a:p>
                      <a:pPr algn="ctr"/>
                      <a:r>
                        <a:rPr lang="en-US" dirty="0" smtClean="0">
                          <a:solidFill>
                            <a:schemeClr val="tx1"/>
                          </a:solidFill>
                        </a:rPr>
                        <a:t>[16]</a:t>
                      </a:r>
                      <a:endParaRPr lang="en-US" dirty="0">
                        <a:solidFill>
                          <a:schemeClr val="tx1"/>
                        </a:solidFill>
                      </a:endParaRPr>
                    </a:p>
                  </a:txBody>
                  <a:tcPr/>
                </a:tc>
                <a:tc>
                  <a:txBody>
                    <a:bodyPr/>
                    <a:lstStyle/>
                    <a:p>
                      <a:pPr algn="ctr"/>
                      <a:r>
                        <a:rPr lang="en-US" sz="1350" b="0" i="0" u="none" strike="noStrike" kern="1200" baseline="0" dirty="0" smtClean="0">
                          <a:solidFill>
                            <a:schemeClr val="dk1"/>
                          </a:solidFill>
                          <a:latin typeface="+mn-lt"/>
                          <a:ea typeface="+mn-ea"/>
                          <a:cs typeface="+mn-cs"/>
                        </a:rPr>
                        <a:t>Solve MMO using</a:t>
                      </a:r>
                    </a:p>
                    <a:p>
                      <a:pPr algn="ctr"/>
                      <a:r>
                        <a:rPr lang="en-US" sz="1350" b="0" i="0" u="none" strike="noStrike" kern="1200" baseline="0" dirty="0" smtClean="0">
                          <a:solidFill>
                            <a:schemeClr val="dk1"/>
                          </a:solidFill>
                          <a:latin typeface="+mn-lt"/>
                          <a:ea typeface="+mn-ea"/>
                          <a:cs typeface="+mn-cs"/>
                        </a:rPr>
                        <a:t>Multi-objective</a:t>
                      </a:r>
                    </a:p>
                    <a:p>
                      <a:pPr algn="ctr"/>
                      <a:r>
                        <a:rPr lang="en-US" sz="1350" b="0" i="0" u="none" strike="noStrike" kern="1200" baseline="0" dirty="0" smtClean="0">
                          <a:solidFill>
                            <a:schemeClr val="dk1"/>
                          </a:solidFill>
                          <a:latin typeface="+mn-lt"/>
                          <a:ea typeface="+mn-ea"/>
                          <a:cs typeface="+mn-cs"/>
                        </a:rPr>
                        <a:t>optimization</a:t>
                      </a:r>
                      <a:endParaRPr lang="en-US" dirty="0">
                        <a:solidFill>
                          <a:schemeClr val="tx1"/>
                        </a:solidFill>
                      </a:endParaRPr>
                    </a:p>
                  </a:txBody>
                  <a:tcPr/>
                </a:tc>
                <a:tc>
                  <a:txBody>
                    <a:bodyPr/>
                    <a:lstStyle/>
                    <a:p>
                      <a:pPr algn="ctr"/>
                      <a:r>
                        <a:rPr lang="en-US" sz="1350" b="0" i="0" u="none" strike="noStrike" kern="1200" baseline="0" dirty="0" smtClean="0">
                          <a:solidFill>
                            <a:schemeClr val="dk1"/>
                          </a:solidFill>
                          <a:latin typeface="+mn-lt"/>
                          <a:ea typeface="+mn-ea"/>
                          <a:cs typeface="+mn-cs"/>
                        </a:rPr>
                        <a:t>Converted MMO to</a:t>
                      </a:r>
                    </a:p>
                    <a:p>
                      <a:pPr algn="ctr"/>
                      <a:r>
                        <a:rPr lang="en-US" sz="1350" b="0" i="0" u="none" strike="noStrike" kern="1200" baseline="0" dirty="0" smtClean="0">
                          <a:solidFill>
                            <a:schemeClr val="dk1"/>
                          </a:solidFill>
                          <a:latin typeface="+mn-lt"/>
                          <a:ea typeface="+mn-ea"/>
                          <a:cs typeface="+mn-cs"/>
                        </a:rPr>
                        <a:t>MOO with conflicting</a:t>
                      </a:r>
                    </a:p>
                    <a:p>
                      <a:pPr algn="ctr"/>
                      <a:r>
                        <a:rPr lang="en-US" sz="1350" b="0" i="0" u="none" strike="noStrike" kern="1200" baseline="0" dirty="0" smtClean="0">
                          <a:solidFill>
                            <a:schemeClr val="dk1"/>
                          </a:solidFill>
                          <a:latin typeface="+mn-lt"/>
                          <a:ea typeface="+mn-ea"/>
                          <a:cs typeface="+mn-cs"/>
                        </a:rPr>
                        <a:t>objectives</a:t>
                      </a:r>
                      <a:endParaRPr lang="en-US" dirty="0">
                        <a:solidFill>
                          <a:schemeClr val="tx1"/>
                        </a:solidFill>
                      </a:endParaRPr>
                    </a:p>
                  </a:txBody>
                  <a:tcPr/>
                </a:tc>
                <a:tc>
                  <a:txBody>
                    <a:bodyPr/>
                    <a:lstStyle/>
                    <a:p>
                      <a:pPr algn="ctr"/>
                      <a:r>
                        <a:rPr lang="en-US" sz="1350" b="0" i="0" u="none" strike="noStrike" kern="1200" baseline="0" dirty="0" smtClean="0">
                          <a:solidFill>
                            <a:schemeClr val="dk1"/>
                          </a:solidFill>
                          <a:latin typeface="+mn-lt"/>
                          <a:ea typeface="+mn-ea"/>
                          <a:cs typeface="+mn-cs"/>
                        </a:rPr>
                        <a:t>Mixed variables not</a:t>
                      </a:r>
                    </a:p>
                    <a:p>
                      <a:pPr algn="ctr"/>
                      <a:r>
                        <a:rPr lang="en-US" sz="1350" b="0" i="0" u="none" strike="noStrike" kern="1200" baseline="0" dirty="0" smtClean="0">
                          <a:solidFill>
                            <a:schemeClr val="dk1"/>
                          </a:solidFill>
                          <a:latin typeface="+mn-lt"/>
                          <a:ea typeface="+mn-ea"/>
                          <a:cs typeface="+mn-cs"/>
                        </a:rPr>
                        <a:t>handled. Dimension</a:t>
                      </a:r>
                    </a:p>
                    <a:p>
                      <a:pPr algn="ctr"/>
                      <a:r>
                        <a:rPr lang="en-US" sz="1350" b="0" i="0" u="none" strike="noStrike" kern="1200" baseline="0" dirty="0" smtClean="0">
                          <a:solidFill>
                            <a:schemeClr val="dk1"/>
                          </a:solidFill>
                          <a:latin typeface="+mn-lt"/>
                          <a:ea typeface="+mn-ea"/>
                          <a:cs typeface="+mn-cs"/>
                        </a:rPr>
                        <a:t>and parameter</a:t>
                      </a:r>
                    </a:p>
                    <a:p>
                      <a:pPr algn="ctr"/>
                      <a:r>
                        <a:rPr lang="en-US" sz="1350" b="0" i="0" u="none" strike="noStrike" kern="1200" baseline="0" dirty="0" smtClean="0">
                          <a:solidFill>
                            <a:schemeClr val="dk1"/>
                          </a:solidFill>
                          <a:latin typeface="+mn-lt"/>
                          <a:ea typeface="+mn-ea"/>
                          <a:cs typeface="+mn-cs"/>
                        </a:rPr>
                        <a:t>dependent</a:t>
                      </a:r>
                      <a:endParaRPr lang="en-US" dirty="0">
                        <a:solidFill>
                          <a:schemeClr val="tx1"/>
                        </a:solidFill>
                      </a:endParaRPr>
                    </a:p>
                  </a:txBody>
                  <a:tcPr/>
                </a:tc>
              </a:tr>
            </a:tbl>
          </a:graphicData>
        </a:graphic>
      </p:graphicFrame>
    </p:spTree>
    <p:extLst>
      <p:ext uri="{BB962C8B-B14F-4D97-AF65-F5344CB8AC3E}">
        <p14:creationId xmlns:p14="http://schemas.microsoft.com/office/powerpoint/2010/main" val="2673535790"/>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11699" y="135932"/>
            <a:ext cx="8520600" cy="572700"/>
          </a:xfrm>
        </p:spPr>
        <p:txBody>
          <a:bodyPr>
            <a:noAutofit/>
          </a:bodyPr>
          <a:lstStyle/>
          <a:p>
            <a:r>
              <a:rPr lang="en-US" sz="3200" b="1" dirty="0">
                <a:solidFill>
                  <a:schemeClr val="tx1"/>
                </a:solidFill>
                <a:latin typeface="Times New Roman" panose="02020603050405020304" pitchFamily="18" charset="0"/>
                <a:ea typeface="Calibri"/>
                <a:cs typeface="Times New Roman" panose="02020603050405020304" pitchFamily="18" charset="0"/>
              </a:rPr>
              <a:t>Comparative Analysis</a:t>
            </a:r>
          </a:p>
        </p:txBody>
      </p:sp>
      <p:sp>
        <p:nvSpPr>
          <p:cNvPr id="4" name="Slide Number Placeholder 3"/>
          <p:cNvSpPr>
            <a:spLocks noGrp="1"/>
          </p:cNvSpPr>
          <p:nvPr>
            <p:ph type="sldNum" idx="12"/>
          </p:nvPr>
        </p:nvSpPr>
        <p:spPr/>
        <p:txBody>
          <a:bodyPr/>
          <a:lstStyle/>
          <a:p>
            <a:fld id="{00000000-1234-1234-1234-123412341234}" type="slidenum">
              <a:rPr lang="en" smtClean="0"/>
              <a:pPr/>
              <a:t>25</a:t>
            </a:fld>
            <a:endParaRPr lang="en" dirty="0"/>
          </a:p>
        </p:txBody>
      </p:sp>
      <p:graphicFrame>
        <p:nvGraphicFramePr>
          <p:cNvPr id="5" name="Table 4"/>
          <p:cNvGraphicFramePr>
            <a:graphicFrameLocks noGrp="1"/>
          </p:cNvGraphicFramePr>
          <p:nvPr>
            <p:extLst>
              <p:ext uri="{D42A27DB-BD31-4B8C-83A1-F6EECF244321}">
                <p14:modId xmlns:p14="http://schemas.microsoft.com/office/powerpoint/2010/main" val="481146924"/>
              </p:ext>
            </p:extLst>
          </p:nvPr>
        </p:nvGraphicFramePr>
        <p:xfrm>
          <a:off x="313880" y="708633"/>
          <a:ext cx="8184119" cy="2834640"/>
        </p:xfrm>
        <a:graphic>
          <a:graphicData uri="http://schemas.openxmlformats.org/drawingml/2006/table">
            <a:tbl>
              <a:tblPr firstRow="1" bandRow="1">
                <a:tableStyleId>{5C22544A-7EE6-4342-B048-85BDC9FD1C3A}</a:tableStyleId>
              </a:tblPr>
              <a:tblGrid>
                <a:gridCol w="883435"/>
                <a:gridCol w="2532527"/>
                <a:gridCol w="2860662"/>
                <a:gridCol w="1907495"/>
              </a:tblGrid>
              <a:tr h="220334">
                <a:tc>
                  <a:txBody>
                    <a:bodyPr/>
                    <a:lstStyle/>
                    <a:p>
                      <a:pPr algn="ctr"/>
                      <a:r>
                        <a:rPr lang="en-US" dirty="0" err="1" smtClean="0">
                          <a:solidFill>
                            <a:schemeClr val="tx1"/>
                          </a:solidFill>
                        </a:rPr>
                        <a:t>Ref.No</a:t>
                      </a:r>
                      <a:endParaRPr lang="en-US" dirty="0">
                        <a:solidFill>
                          <a:schemeClr val="tx1"/>
                        </a:solidFill>
                      </a:endParaRPr>
                    </a:p>
                  </a:txBody>
                  <a:tcPr/>
                </a:tc>
                <a:tc>
                  <a:txBody>
                    <a:bodyPr/>
                    <a:lstStyle/>
                    <a:p>
                      <a:pPr algn="ctr"/>
                      <a:r>
                        <a:rPr lang="en-US" dirty="0" smtClean="0">
                          <a:solidFill>
                            <a:schemeClr val="tx1"/>
                          </a:solidFill>
                        </a:rPr>
                        <a:t>Objective</a:t>
                      </a:r>
                      <a:endParaRPr lang="en-US" dirty="0">
                        <a:solidFill>
                          <a:schemeClr val="tx1"/>
                        </a:solidFill>
                      </a:endParaRPr>
                    </a:p>
                  </a:txBody>
                  <a:tcPr/>
                </a:tc>
                <a:tc>
                  <a:txBody>
                    <a:bodyPr/>
                    <a:lstStyle/>
                    <a:p>
                      <a:pPr algn="ctr"/>
                      <a:r>
                        <a:rPr lang="en-US" dirty="0" smtClean="0">
                          <a:solidFill>
                            <a:schemeClr val="tx1"/>
                          </a:solidFill>
                        </a:rPr>
                        <a:t>Approach</a:t>
                      </a:r>
                      <a:endParaRPr lang="en-US" dirty="0">
                        <a:solidFill>
                          <a:schemeClr val="tx1"/>
                        </a:solidFill>
                      </a:endParaRPr>
                    </a:p>
                  </a:txBody>
                  <a:tcPr/>
                </a:tc>
                <a:tc>
                  <a:txBody>
                    <a:bodyPr/>
                    <a:lstStyle/>
                    <a:p>
                      <a:pPr algn="ctr"/>
                      <a:r>
                        <a:rPr lang="en-US" dirty="0" smtClean="0">
                          <a:solidFill>
                            <a:schemeClr val="tx1"/>
                          </a:solidFill>
                        </a:rPr>
                        <a:t>Limitations</a:t>
                      </a:r>
                      <a:endParaRPr lang="en-US" dirty="0">
                        <a:solidFill>
                          <a:schemeClr val="tx1"/>
                        </a:solidFill>
                      </a:endParaRPr>
                    </a:p>
                  </a:txBody>
                  <a:tcPr/>
                </a:tc>
              </a:tr>
              <a:tr h="471348">
                <a:tc>
                  <a:txBody>
                    <a:bodyPr/>
                    <a:lstStyle/>
                    <a:p>
                      <a:pPr algn="ctr"/>
                      <a:r>
                        <a:rPr lang="en-US" dirty="0" smtClean="0">
                          <a:solidFill>
                            <a:schemeClr val="tx1"/>
                          </a:solidFill>
                        </a:rPr>
                        <a:t>[17]</a:t>
                      </a:r>
                      <a:endParaRPr lang="en-US" dirty="0">
                        <a:solidFill>
                          <a:schemeClr val="tx1"/>
                        </a:solidFill>
                      </a:endParaRPr>
                    </a:p>
                  </a:txBody>
                  <a:tcPr/>
                </a:tc>
                <a:tc>
                  <a:txBody>
                    <a:bodyPr/>
                    <a:lstStyle/>
                    <a:p>
                      <a:pPr algn="ctr"/>
                      <a:r>
                        <a:rPr lang="en-US" sz="1350" b="0" i="0" u="none" strike="noStrike" kern="1200" baseline="0" dirty="0" smtClean="0">
                          <a:solidFill>
                            <a:schemeClr val="dk1"/>
                          </a:solidFill>
                          <a:latin typeface="+mn-lt"/>
                          <a:ea typeface="+mn-ea"/>
                          <a:cs typeface="+mn-cs"/>
                        </a:rPr>
                        <a:t>Integrate GA</a:t>
                      </a:r>
                    </a:p>
                    <a:p>
                      <a:pPr algn="ctr"/>
                      <a:r>
                        <a:rPr lang="en-US" sz="1350" b="0" i="0" u="none" strike="noStrike" kern="1200" baseline="0" dirty="0" smtClean="0">
                          <a:solidFill>
                            <a:schemeClr val="dk1"/>
                          </a:solidFill>
                          <a:latin typeface="+mn-lt"/>
                          <a:ea typeface="+mn-ea"/>
                          <a:cs typeface="+mn-cs"/>
                        </a:rPr>
                        <a:t>crossover operator in</a:t>
                      </a:r>
                    </a:p>
                    <a:p>
                      <a:pPr algn="ctr"/>
                      <a:r>
                        <a:rPr lang="en-US" sz="1350" b="0" i="0" u="none" strike="noStrike" kern="1200" baseline="0" dirty="0" smtClean="0">
                          <a:solidFill>
                            <a:schemeClr val="dk1"/>
                          </a:solidFill>
                          <a:latin typeface="+mn-lt"/>
                          <a:ea typeface="+mn-ea"/>
                          <a:cs typeface="+mn-cs"/>
                        </a:rPr>
                        <a:t>ACOR</a:t>
                      </a:r>
                      <a:endParaRPr lang="en-US" dirty="0">
                        <a:solidFill>
                          <a:schemeClr val="tx1"/>
                        </a:solidFill>
                      </a:endParaRPr>
                    </a:p>
                  </a:txBody>
                  <a:tcPr/>
                </a:tc>
                <a:tc>
                  <a:txBody>
                    <a:bodyPr/>
                    <a:lstStyle/>
                    <a:p>
                      <a:pPr algn="ctr"/>
                      <a:r>
                        <a:rPr lang="en-US" sz="1350" b="0" i="0" u="none" strike="noStrike" kern="1200" baseline="0" dirty="0" smtClean="0">
                          <a:solidFill>
                            <a:schemeClr val="dk1"/>
                          </a:solidFill>
                          <a:latin typeface="+mn-lt"/>
                          <a:ea typeface="+mn-ea"/>
                          <a:cs typeface="+mn-cs"/>
                        </a:rPr>
                        <a:t>Integrated </a:t>
                      </a:r>
                      <a:r>
                        <a:rPr lang="en-US" sz="1350" b="0" i="0" u="none" strike="noStrike" kern="1200" baseline="0" dirty="0" smtClean="0">
                          <a:solidFill>
                            <a:schemeClr val="dk1"/>
                          </a:solidFill>
                          <a:latin typeface="+mn-lt"/>
                          <a:ea typeface="+mn-ea"/>
                          <a:cs typeface="+mn-cs"/>
                        </a:rPr>
                        <a:t>BLX,</a:t>
                      </a:r>
                      <a:endParaRPr lang="en-US" sz="1350" b="0" i="0" u="none" strike="noStrike" kern="1200" baseline="0" dirty="0" smtClean="0">
                        <a:solidFill>
                          <a:schemeClr val="dk1"/>
                        </a:solidFill>
                        <a:latin typeface="+mn-lt"/>
                        <a:ea typeface="+mn-ea"/>
                        <a:cs typeface="+mn-cs"/>
                      </a:endParaRPr>
                    </a:p>
                    <a:p>
                      <a:pPr algn="ctr"/>
                      <a:r>
                        <a:rPr lang="en-US" sz="1350" b="0" i="0" u="none" strike="noStrike" kern="1200" baseline="0" dirty="0" smtClean="0">
                          <a:solidFill>
                            <a:schemeClr val="dk1"/>
                          </a:solidFill>
                          <a:latin typeface="+mn-lt"/>
                          <a:ea typeface="+mn-ea"/>
                          <a:cs typeface="+mn-cs"/>
                        </a:rPr>
                        <a:t>UNDX and PNX in</a:t>
                      </a:r>
                    </a:p>
                    <a:p>
                      <a:pPr algn="ctr"/>
                      <a:r>
                        <a:rPr lang="en-US" sz="1350" b="0" i="0" u="none" strike="noStrike" kern="1200" baseline="0" dirty="0" smtClean="0">
                          <a:solidFill>
                            <a:schemeClr val="dk1"/>
                          </a:solidFill>
                          <a:latin typeface="+mn-lt"/>
                          <a:ea typeface="+mn-ea"/>
                          <a:cs typeface="+mn-cs"/>
                        </a:rPr>
                        <a:t>ACOR</a:t>
                      </a:r>
                      <a:endParaRPr lang="en-US" dirty="0">
                        <a:solidFill>
                          <a:schemeClr val="tx1"/>
                        </a:solidFill>
                      </a:endParaRPr>
                    </a:p>
                  </a:txBody>
                  <a:tcPr/>
                </a:tc>
                <a:tc>
                  <a:txBody>
                    <a:bodyPr/>
                    <a:lstStyle/>
                    <a:p>
                      <a:pPr algn="ctr"/>
                      <a:r>
                        <a:rPr lang="en-US" sz="1350" b="0" i="0" u="none" strike="noStrike" kern="1200" baseline="0" dirty="0" smtClean="0">
                          <a:solidFill>
                            <a:schemeClr val="dk1"/>
                          </a:solidFill>
                          <a:latin typeface="+mn-lt"/>
                          <a:ea typeface="+mn-ea"/>
                          <a:cs typeface="+mn-cs"/>
                        </a:rPr>
                        <a:t>Mixed variables and</a:t>
                      </a:r>
                    </a:p>
                    <a:p>
                      <a:pPr algn="ctr"/>
                      <a:r>
                        <a:rPr lang="en-US" sz="1350" b="0" i="0" u="none" strike="noStrike" kern="1200" baseline="0" dirty="0" smtClean="0">
                          <a:solidFill>
                            <a:schemeClr val="dk1"/>
                          </a:solidFill>
                          <a:latin typeface="+mn-lt"/>
                          <a:ea typeface="+mn-ea"/>
                          <a:cs typeface="+mn-cs"/>
                        </a:rPr>
                        <a:t>multi modal not</a:t>
                      </a:r>
                    </a:p>
                    <a:p>
                      <a:pPr algn="ctr"/>
                      <a:r>
                        <a:rPr lang="en-US" sz="1350" b="0" i="0" u="none" strike="noStrike" kern="1200" baseline="0" dirty="0" smtClean="0">
                          <a:solidFill>
                            <a:schemeClr val="dk1"/>
                          </a:solidFill>
                          <a:latin typeface="+mn-lt"/>
                          <a:ea typeface="+mn-ea"/>
                          <a:cs typeface="+mn-cs"/>
                        </a:rPr>
                        <a:t>handled</a:t>
                      </a:r>
                      <a:endParaRPr lang="en-US" dirty="0">
                        <a:solidFill>
                          <a:schemeClr val="tx1"/>
                        </a:solidFill>
                      </a:endParaRPr>
                    </a:p>
                  </a:txBody>
                  <a:tcPr/>
                </a:tc>
              </a:tr>
              <a:tr h="471348">
                <a:tc>
                  <a:txBody>
                    <a:bodyPr/>
                    <a:lstStyle/>
                    <a:p>
                      <a:pPr algn="ctr"/>
                      <a:r>
                        <a:rPr lang="en-US" dirty="0" smtClean="0">
                          <a:solidFill>
                            <a:schemeClr val="tx1"/>
                          </a:solidFill>
                        </a:rPr>
                        <a:t>[18]</a:t>
                      </a:r>
                      <a:endParaRPr lang="en-US" dirty="0">
                        <a:solidFill>
                          <a:schemeClr val="tx1"/>
                        </a:solidFill>
                      </a:endParaRPr>
                    </a:p>
                  </a:txBody>
                  <a:tcPr/>
                </a:tc>
                <a:tc>
                  <a:txBody>
                    <a:bodyPr/>
                    <a:lstStyle/>
                    <a:p>
                      <a:pPr algn="ctr"/>
                      <a:r>
                        <a:rPr lang="en-US" sz="1350" b="0" i="0" u="none" strike="noStrike" kern="1200" baseline="0" dirty="0" smtClean="0">
                          <a:solidFill>
                            <a:schemeClr val="dk1"/>
                          </a:solidFill>
                          <a:latin typeface="+mn-lt"/>
                          <a:ea typeface="+mn-ea"/>
                          <a:cs typeface="+mn-cs"/>
                        </a:rPr>
                        <a:t>Solve continuous</a:t>
                      </a:r>
                    </a:p>
                    <a:p>
                      <a:pPr algn="ctr"/>
                      <a:r>
                        <a:rPr lang="en-US" sz="1350" b="0" i="0" u="none" strike="noStrike" kern="1200" baseline="0" dirty="0" smtClean="0">
                          <a:solidFill>
                            <a:schemeClr val="dk1"/>
                          </a:solidFill>
                          <a:latin typeface="+mn-lt"/>
                          <a:ea typeface="+mn-ea"/>
                          <a:cs typeface="+mn-cs"/>
                        </a:rPr>
                        <a:t>optimization</a:t>
                      </a:r>
                    </a:p>
                    <a:p>
                      <a:pPr algn="ctr"/>
                      <a:r>
                        <a:rPr lang="en-US" sz="1350" b="0" i="0" u="none" strike="noStrike" kern="1200" baseline="0" dirty="0" smtClean="0">
                          <a:solidFill>
                            <a:schemeClr val="dk1"/>
                          </a:solidFill>
                          <a:latin typeface="+mn-lt"/>
                          <a:ea typeface="+mn-ea"/>
                          <a:cs typeface="+mn-cs"/>
                        </a:rPr>
                        <a:t>problems using</a:t>
                      </a:r>
                    </a:p>
                    <a:p>
                      <a:pPr algn="ctr"/>
                      <a:r>
                        <a:rPr lang="en-US" sz="1350" b="0" i="0" u="none" strike="noStrike" kern="1200" baseline="0" dirty="0" smtClean="0">
                          <a:solidFill>
                            <a:schemeClr val="dk1"/>
                          </a:solidFill>
                          <a:latin typeface="+mn-lt"/>
                          <a:ea typeface="+mn-ea"/>
                          <a:cs typeface="+mn-cs"/>
                        </a:rPr>
                        <a:t>hybrid ACO</a:t>
                      </a:r>
                      <a:endParaRPr lang="en-US" dirty="0">
                        <a:solidFill>
                          <a:schemeClr val="tx1"/>
                        </a:solidFill>
                      </a:endParaRPr>
                    </a:p>
                  </a:txBody>
                  <a:tcPr/>
                </a:tc>
                <a:tc>
                  <a:txBody>
                    <a:bodyPr/>
                    <a:lstStyle/>
                    <a:p>
                      <a:pPr algn="ctr"/>
                      <a:r>
                        <a:rPr lang="en-US" sz="1350" b="0" i="0" u="none" strike="noStrike" kern="1200" baseline="0" dirty="0" smtClean="0">
                          <a:solidFill>
                            <a:schemeClr val="dk1"/>
                          </a:solidFill>
                          <a:latin typeface="+mn-lt"/>
                          <a:ea typeface="+mn-ea"/>
                          <a:cs typeface="+mn-cs"/>
                        </a:rPr>
                        <a:t>Incorporated differential</a:t>
                      </a:r>
                    </a:p>
                    <a:p>
                      <a:pPr algn="ctr"/>
                      <a:r>
                        <a:rPr lang="en-US" sz="1350" b="0" i="0" u="none" strike="noStrike" kern="1200" baseline="0" dirty="0" smtClean="0">
                          <a:solidFill>
                            <a:schemeClr val="dk1"/>
                          </a:solidFill>
                          <a:latin typeface="+mn-lt"/>
                          <a:ea typeface="+mn-ea"/>
                          <a:cs typeface="+mn-cs"/>
                        </a:rPr>
                        <a:t>evolution to generate</a:t>
                      </a:r>
                    </a:p>
                    <a:p>
                      <a:pPr algn="ctr"/>
                      <a:r>
                        <a:rPr lang="en-US" sz="1350" b="0" i="0" u="none" strike="noStrike" kern="1200" baseline="0" dirty="0" smtClean="0">
                          <a:solidFill>
                            <a:schemeClr val="dk1"/>
                          </a:solidFill>
                          <a:latin typeface="+mn-lt"/>
                          <a:ea typeface="+mn-ea"/>
                          <a:cs typeface="+mn-cs"/>
                        </a:rPr>
                        <a:t>Gaussian mean values</a:t>
                      </a:r>
                    </a:p>
                    <a:p>
                      <a:pPr algn="ctr"/>
                      <a:r>
                        <a:rPr lang="en-US" sz="1350" b="0" i="0" u="none" strike="noStrike" kern="1200" baseline="0" dirty="0" smtClean="0">
                          <a:solidFill>
                            <a:schemeClr val="dk1"/>
                          </a:solidFill>
                          <a:latin typeface="+mn-lt"/>
                          <a:ea typeface="+mn-ea"/>
                          <a:cs typeface="+mn-cs"/>
                        </a:rPr>
                        <a:t>for new population</a:t>
                      </a:r>
                      <a:endParaRPr lang="en-US" dirty="0">
                        <a:solidFill>
                          <a:schemeClr val="tx1"/>
                        </a:solidFill>
                      </a:endParaRPr>
                    </a:p>
                  </a:txBody>
                  <a:tcPr/>
                </a:tc>
                <a:tc>
                  <a:txBody>
                    <a:bodyPr/>
                    <a:lstStyle/>
                    <a:p>
                      <a:pPr algn="ctr"/>
                      <a:r>
                        <a:rPr lang="en-US" sz="1350" b="0" i="0" u="none" strike="noStrike" kern="1200" baseline="0" dirty="0" smtClean="0">
                          <a:solidFill>
                            <a:schemeClr val="dk1"/>
                          </a:solidFill>
                          <a:latin typeface="+mn-lt"/>
                          <a:ea typeface="+mn-ea"/>
                          <a:cs typeface="+mn-cs"/>
                        </a:rPr>
                        <a:t>Mixed variables and</a:t>
                      </a:r>
                    </a:p>
                    <a:p>
                      <a:pPr algn="ctr"/>
                      <a:r>
                        <a:rPr lang="en-US" sz="1350" b="0" i="0" u="none" strike="noStrike" kern="1200" baseline="0" dirty="0" smtClean="0">
                          <a:solidFill>
                            <a:schemeClr val="dk1"/>
                          </a:solidFill>
                          <a:latin typeface="+mn-lt"/>
                          <a:ea typeface="+mn-ea"/>
                          <a:cs typeface="+mn-cs"/>
                        </a:rPr>
                        <a:t>multi modal</a:t>
                      </a:r>
                    </a:p>
                    <a:p>
                      <a:pPr algn="ctr"/>
                      <a:r>
                        <a:rPr lang="en-US" sz="1350" b="0" i="0" u="none" strike="noStrike" kern="1200" baseline="0" dirty="0" smtClean="0">
                          <a:solidFill>
                            <a:schemeClr val="dk1"/>
                          </a:solidFill>
                          <a:latin typeface="+mn-lt"/>
                          <a:ea typeface="+mn-ea"/>
                          <a:cs typeface="+mn-cs"/>
                        </a:rPr>
                        <a:t>optimization</a:t>
                      </a:r>
                    </a:p>
                    <a:p>
                      <a:pPr algn="ctr"/>
                      <a:r>
                        <a:rPr lang="en-US" sz="1350" b="0" i="0" u="none" strike="noStrike" kern="1200" baseline="0" dirty="0" smtClean="0">
                          <a:solidFill>
                            <a:schemeClr val="dk1"/>
                          </a:solidFill>
                          <a:latin typeface="+mn-lt"/>
                          <a:ea typeface="+mn-ea"/>
                          <a:cs typeface="+mn-cs"/>
                        </a:rPr>
                        <a:t>problems not handled</a:t>
                      </a:r>
                      <a:endParaRPr lang="en-US" dirty="0">
                        <a:solidFill>
                          <a:schemeClr val="tx1"/>
                        </a:solidFill>
                      </a:endParaRPr>
                    </a:p>
                  </a:txBody>
                  <a:tcPr/>
                </a:tc>
              </a:tr>
              <a:tr h="471348">
                <a:tc>
                  <a:txBody>
                    <a:bodyPr/>
                    <a:lstStyle/>
                    <a:p>
                      <a:pPr algn="ctr"/>
                      <a:r>
                        <a:rPr lang="en-US" dirty="0" smtClean="0">
                          <a:solidFill>
                            <a:schemeClr val="tx1"/>
                          </a:solidFill>
                        </a:rPr>
                        <a:t>[19]</a:t>
                      </a:r>
                      <a:endParaRPr lang="en-US" dirty="0">
                        <a:solidFill>
                          <a:schemeClr val="tx1"/>
                        </a:solidFill>
                      </a:endParaRPr>
                    </a:p>
                  </a:txBody>
                  <a:tcPr/>
                </a:tc>
                <a:tc>
                  <a:txBody>
                    <a:bodyPr/>
                    <a:lstStyle/>
                    <a:p>
                      <a:pPr algn="ctr"/>
                      <a:r>
                        <a:rPr lang="en-US" sz="1350" b="0" i="0" u="none" strike="noStrike" kern="1200" baseline="0" dirty="0" smtClean="0">
                          <a:solidFill>
                            <a:schemeClr val="dk1"/>
                          </a:solidFill>
                          <a:latin typeface="+mn-lt"/>
                          <a:ea typeface="+mn-ea"/>
                          <a:cs typeface="+mn-cs"/>
                        </a:rPr>
                        <a:t>Solve continuous</a:t>
                      </a:r>
                    </a:p>
                    <a:p>
                      <a:pPr algn="ctr"/>
                      <a:r>
                        <a:rPr lang="en-US" sz="1350" b="0" i="0" u="none" strike="noStrike" kern="1200" baseline="0" dirty="0" smtClean="0">
                          <a:solidFill>
                            <a:schemeClr val="dk1"/>
                          </a:solidFill>
                          <a:latin typeface="+mn-lt"/>
                          <a:ea typeface="+mn-ea"/>
                          <a:cs typeface="+mn-cs"/>
                        </a:rPr>
                        <a:t>optimization</a:t>
                      </a:r>
                    </a:p>
                    <a:p>
                      <a:pPr algn="ctr"/>
                      <a:r>
                        <a:rPr lang="en-US" sz="1350" b="0" i="0" u="none" strike="noStrike" kern="1200" baseline="0" dirty="0" smtClean="0">
                          <a:solidFill>
                            <a:schemeClr val="dk1"/>
                          </a:solidFill>
                          <a:latin typeface="+mn-lt"/>
                          <a:ea typeface="+mn-ea"/>
                          <a:cs typeface="+mn-cs"/>
                        </a:rPr>
                        <a:t>problem</a:t>
                      </a:r>
                      <a:endParaRPr lang="en-US" dirty="0">
                        <a:solidFill>
                          <a:schemeClr val="tx1"/>
                        </a:solidFill>
                      </a:endParaRPr>
                    </a:p>
                  </a:txBody>
                  <a:tcPr/>
                </a:tc>
                <a:tc>
                  <a:txBody>
                    <a:bodyPr/>
                    <a:lstStyle/>
                    <a:p>
                      <a:pPr algn="ctr"/>
                      <a:r>
                        <a:rPr lang="en-US" sz="1350" b="0" i="0" u="none" strike="noStrike" kern="1200" baseline="0" dirty="0" smtClean="0">
                          <a:solidFill>
                            <a:schemeClr val="dk1"/>
                          </a:solidFill>
                          <a:latin typeface="+mn-lt"/>
                          <a:ea typeface="+mn-ea"/>
                          <a:cs typeface="+mn-cs"/>
                        </a:rPr>
                        <a:t>Hybrid approach based</a:t>
                      </a:r>
                    </a:p>
                    <a:p>
                      <a:pPr algn="ctr"/>
                      <a:r>
                        <a:rPr lang="en-US" sz="1350" b="0" i="0" u="none" strike="noStrike" kern="1200" baseline="0" dirty="0" smtClean="0">
                          <a:solidFill>
                            <a:schemeClr val="dk1"/>
                          </a:solidFill>
                          <a:latin typeface="+mn-lt"/>
                          <a:ea typeface="+mn-ea"/>
                          <a:cs typeface="+mn-cs"/>
                        </a:rPr>
                        <a:t>on ACO and GA</a:t>
                      </a:r>
                      <a:endParaRPr lang="en-US" dirty="0">
                        <a:solidFill>
                          <a:schemeClr val="tx1"/>
                        </a:solidFill>
                      </a:endParaRPr>
                    </a:p>
                  </a:txBody>
                  <a:tcPr/>
                </a:tc>
                <a:tc>
                  <a:txBody>
                    <a:bodyPr/>
                    <a:lstStyle/>
                    <a:p>
                      <a:pPr algn="ctr"/>
                      <a:r>
                        <a:rPr lang="en-US" sz="1350" b="0" i="0" u="none" strike="noStrike" kern="1200" baseline="0" dirty="0" smtClean="0">
                          <a:solidFill>
                            <a:schemeClr val="dk1"/>
                          </a:solidFill>
                          <a:latin typeface="+mn-lt"/>
                          <a:ea typeface="+mn-ea"/>
                          <a:cs typeface="+mn-cs"/>
                        </a:rPr>
                        <a:t>Mixed variables not</a:t>
                      </a:r>
                    </a:p>
                    <a:p>
                      <a:pPr algn="ctr"/>
                      <a:r>
                        <a:rPr lang="en-US" sz="1350" b="0" i="0" u="none" strike="noStrike" kern="1200" baseline="0" dirty="0" smtClean="0">
                          <a:solidFill>
                            <a:schemeClr val="dk1"/>
                          </a:solidFill>
                          <a:latin typeface="+mn-lt"/>
                          <a:ea typeface="+mn-ea"/>
                          <a:cs typeface="+mn-cs"/>
                        </a:rPr>
                        <a:t>handled. Dimension</a:t>
                      </a:r>
                    </a:p>
                    <a:p>
                      <a:pPr algn="ctr"/>
                      <a:r>
                        <a:rPr lang="en-US" sz="1350" b="0" i="0" u="none" strike="noStrike" kern="1200" baseline="0" dirty="0" smtClean="0">
                          <a:solidFill>
                            <a:schemeClr val="dk1"/>
                          </a:solidFill>
                          <a:latin typeface="+mn-lt"/>
                          <a:ea typeface="+mn-ea"/>
                          <a:cs typeface="+mn-cs"/>
                        </a:rPr>
                        <a:t>and parameter</a:t>
                      </a:r>
                    </a:p>
                    <a:p>
                      <a:pPr algn="ctr"/>
                      <a:r>
                        <a:rPr lang="en-US" sz="1350" b="0" i="0" u="none" strike="noStrike" kern="1200" baseline="0" dirty="0" smtClean="0">
                          <a:solidFill>
                            <a:schemeClr val="dk1"/>
                          </a:solidFill>
                          <a:latin typeface="+mn-lt"/>
                          <a:ea typeface="+mn-ea"/>
                          <a:cs typeface="+mn-cs"/>
                        </a:rPr>
                        <a:t>dependent</a:t>
                      </a:r>
                      <a:endParaRPr lang="en-US" dirty="0">
                        <a:solidFill>
                          <a:schemeClr val="tx1"/>
                        </a:solidFill>
                      </a:endParaRPr>
                    </a:p>
                  </a:txBody>
                  <a:tcPr/>
                </a:tc>
              </a:tr>
            </a:tbl>
          </a:graphicData>
        </a:graphic>
      </p:graphicFrame>
    </p:spTree>
    <p:extLst>
      <p:ext uri="{BB962C8B-B14F-4D97-AF65-F5344CB8AC3E}">
        <p14:creationId xmlns:p14="http://schemas.microsoft.com/office/powerpoint/2010/main" val="2441740018"/>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200" b="1" dirty="0">
                <a:solidFill>
                  <a:schemeClr val="tx1"/>
                </a:solidFill>
                <a:latin typeface="Times New Roman" panose="02020603050405020304" pitchFamily="18" charset="0"/>
                <a:ea typeface="Calibri"/>
                <a:cs typeface="Times New Roman" panose="02020603050405020304" pitchFamily="18" charset="0"/>
              </a:rPr>
              <a:t>Comparative </a:t>
            </a:r>
            <a:r>
              <a:rPr lang="en-US" sz="3200" b="1" dirty="0" smtClean="0">
                <a:solidFill>
                  <a:schemeClr val="tx1"/>
                </a:solidFill>
                <a:latin typeface="Times New Roman" panose="02020603050405020304" pitchFamily="18" charset="0"/>
                <a:ea typeface="Calibri"/>
                <a:cs typeface="Times New Roman" panose="02020603050405020304" pitchFamily="18" charset="0"/>
              </a:rPr>
              <a:t>Analysis Results</a:t>
            </a:r>
            <a:endParaRPr lang="en-US" sz="3200" b="1" dirty="0">
              <a:solidFill>
                <a:schemeClr val="tx1"/>
              </a:solidFill>
              <a:latin typeface="Times New Roman" panose="02020603050405020304" pitchFamily="18" charset="0"/>
              <a:ea typeface="Calibri"/>
              <a:cs typeface="Times New Roman" panose="02020603050405020304" pitchFamily="18" charset="0"/>
            </a:endParaRPr>
          </a:p>
        </p:txBody>
      </p:sp>
      <p:sp>
        <p:nvSpPr>
          <p:cNvPr id="3" name="Content Placeholder 2"/>
          <p:cNvSpPr>
            <a:spLocks noGrp="1"/>
          </p:cNvSpPr>
          <p:nvPr>
            <p:ph idx="1"/>
          </p:nvPr>
        </p:nvSpPr>
        <p:spPr>
          <a:xfrm>
            <a:off x="822959" y="1384301"/>
            <a:ext cx="8127857" cy="3015171"/>
          </a:xfrm>
        </p:spPr>
        <p:txBody>
          <a:bodyPr>
            <a:normAutofit fontScale="92500" lnSpcReduction="10000"/>
          </a:bodyPr>
          <a:lstStyle/>
          <a:p>
            <a:pPr algn="just">
              <a:spcBef>
                <a:spcPts val="0"/>
              </a:spcBef>
              <a:buFont typeface="Wingdings" panose="05000000000000000000" pitchFamily="2" charset="2"/>
              <a:buChar char="§"/>
            </a:pPr>
            <a:r>
              <a:rPr lang="en-US" sz="2000" dirty="0" smtClean="0">
                <a:solidFill>
                  <a:schemeClr val="tx1"/>
                </a:solidFill>
                <a:latin typeface="Times New Roman" panose="02020603050405020304" pitchFamily="18" charset="0"/>
                <a:cs typeface="Times New Roman" panose="02020603050405020304" pitchFamily="18" charset="0"/>
              </a:rPr>
              <a:t> For </a:t>
            </a:r>
            <a:r>
              <a:rPr lang="en-US" sz="2000" dirty="0">
                <a:solidFill>
                  <a:schemeClr val="tx1"/>
                </a:solidFill>
                <a:latin typeface="Times New Roman" panose="02020603050405020304" pitchFamily="18" charset="0"/>
                <a:cs typeface="Times New Roman" panose="02020603050405020304" pitchFamily="18" charset="0"/>
              </a:rPr>
              <a:t>multimodal optimization new niching strategies were adopted in </a:t>
            </a:r>
            <a:r>
              <a:rPr lang="en-US" sz="2000" dirty="0" smtClean="0">
                <a:solidFill>
                  <a:schemeClr val="tx1"/>
                </a:solidFill>
                <a:latin typeface="Times New Roman" panose="02020603050405020304" pitchFamily="18" charset="0"/>
                <a:cs typeface="Times New Roman" panose="02020603050405020304" pitchFamily="18" charset="0"/>
              </a:rPr>
              <a:t>the</a:t>
            </a:r>
          </a:p>
          <a:p>
            <a:pPr marL="0" indent="0" algn="just">
              <a:spcBef>
                <a:spcPts val="0"/>
              </a:spcBef>
              <a:buNone/>
            </a:pPr>
            <a:r>
              <a:rPr lang="en-US" sz="2000" dirty="0" smtClean="0">
                <a:solidFill>
                  <a:schemeClr val="tx1"/>
                </a:solidFill>
                <a:latin typeface="Times New Roman" panose="02020603050405020304" pitchFamily="18" charset="0"/>
                <a:cs typeface="Times New Roman" panose="02020603050405020304" pitchFamily="18" charset="0"/>
              </a:rPr>
              <a:t>   existing </a:t>
            </a:r>
            <a:r>
              <a:rPr lang="en-US" sz="2000" dirty="0">
                <a:solidFill>
                  <a:schemeClr val="tx1"/>
                </a:solidFill>
                <a:latin typeface="Times New Roman" panose="02020603050405020304" pitchFamily="18" charset="0"/>
                <a:cs typeface="Times New Roman" panose="02020603050405020304" pitchFamily="18" charset="0"/>
              </a:rPr>
              <a:t>evolutionary </a:t>
            </a:r>
            <a:r>
              <a:rPr lang="en-US" sz="2000" dirty="0" smtClean="0">
                <a:solidFill>
                  <a:schemeClr val="tx1"/>
                </a:solidFill>
                <a:latin typeface="Times New Roman" panose="02020603050405020304" pitchFamily="18" charset="0"/>
                <a:cs typeface="Times New Roman" panose="02020603050405020304" pitchFamily="18" charset="0"/>
              </a:rPr>
              <a:t>algorithms</a:t>
            </a:r>
            <a:endParaRPr lang="en-US" sz="2000" dirty="0">
              <a:solidFill>
                <a:schemeClr val="tx1"/>
              </a:solidFill>
              <a:latin typeface="Times New Roman" panose="02020603050405020304" pitchFamily="18" charset="0"/>
              <a:cs typeface="Times New Roman" panose="02020603050405020304" pitchFamily="18" charset="0"/>
            </a:endParaRPr>
          </a:p>
          <a:p>
            <a:pPr algn="just">
              <a:spcBef>
                <a:spcPts val="0"/>
              </a:spcBef>
              <a:buFont typeface="Wingdings" panose="05000000000000000000" pitchFamily="2" charset="2"/>
              <a:buChar char="§"/>
            </a:pPr>
            <a:r>
              <a:rPr lang="en-US" sz="2000" dirty="0" smtClean="0">
                <a:solidFill>
                  <a:schemeClr val="tx1"/>
                </a:solidFill>
                <a:latin typeface="Times New Roman" panose="02020603050405020304" pitchFamily="18" charset="0"/>
                <a:cs typeface="Times New Roman" panose="02020603050405020304" pitchFamily="18" charset="0"/>
              </a:rPr>
              <a:t> Most </a:t>
            </a:r>
            <a:r>
              <a:rPr lang="en-US" sz="2000" dirty="0">
                <a:solidFill>
                  <a:schemeClr val="tx1"/>
                </a:solidFill>
                <a:latin typeface="Times New Roman" panose="02020603050405020304" pitchFamily="18" charset="0"/>
                <a:cs typeface="Times New Roman" panose="02020603050405020304" pitchFamily="18" charset="0"/>
              </a:rPr>
              <a:t>of the proposed algorithms are sensitive to parameter settings</a:t>
            </a:r>
          </a:p>
          <a:p>
            <a:pPr algn="just">
              <a:spcBef>
                <a:spcPts val="0"/>
              </a:spcBef>
              <a:buFont typeface="Wingdings" panose="05000000000000000000" pitchFamily="2" charset="2"/>
              <a:buChar char="§"/>
            </a:pPr>
            <a:r>
              <a:rPr lang="en-US" sz="2000" dirty="0">
                <a:solidFill>
                  <a:schemeClr val="tx1"/>
                </a:solidFill>
                <a:latin typeface="Times New Roman" panose="02020603050405020304" pitchFamily="18" charset="0"/>
                <a:cs typeface="Times New Roman" panose="02020603050405020304" pitchFamily="18" charset="0"/>
              </a:rPr>
              <a:t> </a:t>
            </a:r>
            <a:r>
              <a:rPr lang="en-US" sz="2000" dirty="0" smtClean="0">
                <a:solidFill>
                  <a:schemeClr val="tx1"/>
                </a:solidFill>
                <a:latin typeface="Times New Roman" panose="02020603050405020304" pitchFamily="18" charset="0"/>
                <a:cs typeface="Times New Roman" panose="02020603050405020304" pitchFamily="18" charset="0"/>
              </a:rPr>
              <a:t>Performance decreases as </a:t>
            </a:r>
            <a:r>
              <a:rPr lang="en-US" sz="2000" dirty="0">
                <a:solidFill>
                  <a:schemeClr val="tx1"/>
                </a:solidFill>
                <a:latin typeface="Times New Roman" panose="02020603050405020304" pitchFamily="18" charset="0"/>
                <a:cs typeface="Times New Roman" panose="02020603050405020304" pitchFamily="18" charset="0"/>
              </a:rPr>
              <a:t>the dimensions and </a:t>
            </a:r>
            <a:r>
              <a:rPr lang="en-US" sz="2000" dirty="0" smtClean="0">
                <a:solidFill>
                  <a:schemeClr val="tx1"/>
                </a:solidFill>
                <a:latin typeface="Times New Roman" panose="02020603050405020304" pitchFamily="18" charset="0"/>
                <a:cs typeface="Times New Roman" panose="02020603050405020304" pitchFamily="18" charset="0"/>
              </a:rPr>
              <a:t>complexity </a:t>
            </a:r>
            <a:r>
              <a:rPr lang="en-US" sz="2000" dirty="0">
                <a:solidFill>
                  <a:schemeClr val="tx1"/>
                </a:solidFill>
                <a:latin typeface="Times New Roman" panose="02020603050405020304" pitchFamily="18" charset="0"/>
                <a:cs typeface="Times New Roman" panose="02020603050405020304" pitchFamily="18" charset="0"/>
              </a:rPr>
              <a:t>of </a:t>
            </a:r>
            <a:r>
              <a:rPr lang="en-US" sz="2000" dirty="0" smtClean="0">
                <a:solidFill>
                  <a:schemeClr val="tx1"/>
                </a:solidFill>
                <a:latin typeface="Times New Roman" panose="02020603050405020304" pitchFamily="18" charset="0"/>
                <a:cs typeface="Times New Roman" panose="02020603050405020304" pitchFamily="18" charset="0"/>
              </a:rPr>
              <a:t>the problem</a:t>
            </a:r>
          </a:p>
          <a:p>
            <a:pPr marL="0" indent="0" algn="just">
              <a:spcBef>
                <a:spcPts val="0"/>
              </a:spcBef>
              <a:buNone/>
            </a:pPr>
            <a:r>
              <a:rPr lang="en-US" sz="2000" dirty="0">
                <a:solidFill>
                  <a:schemeClr val="tx1"/>
                </a:solidFill>
                <a:latin typeface="Times New Roman" panose="02020603050405020304" pitchFamily="18" charset="0"/>
                <a:cs typeface="Times New Roman" panose="02020603050405020304" pitchFamily="18" charset="0"/>
              </a:rPr>
              <a:t> </a:t>
            </a:r>
            <a:r>
              <a:rPr lang="en-US" sz="2000" dirty="0" smtClean="0">
                <a:solidFill>
                  <a:schemeClr val="tx1"/>
                </a:solidFill>
                <a:latin typeface="Times New Roman" panose="02020603050405020304" pitchFamily="18" charset="0"/>
                <a:cs typeface="Times New Roman" panose="02020603050405020304" pitchFamily="18" charset="0"/>
              </a:rPr>
              <a:t>  increases</a:t>
            </a:r>
          </a:p>
          <a:p>
            <a:pPr algn="just">
              <a:spcBef>
                <a:spcPts val="0"/>
              </a:spcBef>
              <a:buFont typeface="Wingdings" panose="05000000000000000000" pitchFamily="2" charset="2"/>
              <a:buChar char="§"/>
            </a:pPr>
            <a:r>
              <a:rPr lang="en-US" sz="2000" dirty="0" smtClean="0">
                <a:solidFill>
                  <a:schemeClr val="tx1"/>
                </a:solidFill>
                <a:latin typeface="Times New Roman" panose="02020603050405020304" pitchFamily="18" charset="0"/>
                <a:cs typeface="Times New Roman" panose="02020603050405020304" pitchFamily="18" charset="0"/>
              </a:rPr>
              <a:t> These </a:t>
            </a:r>
            <a:r>
              <a:rPr lang="en-US" sz="2000" dirty="0">
                <a:solidFill>
                  <a:schemeClr val="tx1"/>
                </a:solidFill>
                <a:latin typeface="Times New Roman" panose="02020603050405020304" pitchFamily="18" charset="0"/>
                <a:cs typeface="Times New Roman" panose="02020603050405020304" pitchFamily="18" charset="0"/>
              </a:rPr>
              <a:t>techniques are either at the sacrifice of </a:t>
            </a:r>
            <a:r>
              <a:rPr lang="en-US" sz="2000" dirty="0">
                <a:solidFill>
                  <a:schemeClr val="tx1"/>
                </a:solidFill>
                <a:latin typeface="Times New Roman" panose="02020603050405020304" pitchFamily="18" charset="0"/>
                <a:cs typeface="Times New Roman" panose="02020603050405020304" pitchFamily="18" charset="0"/>
              </a:rPr>
              <a:t>fitness evaluations </a:t>
            </a:r>
            <a:r>
              <a:rPr lang="en-US" sz="2000" dirty="0">
                <a:solidFill>
                  <a:schemeClr val="tx1"/>
                </a:solidFill>
                <a:latin typeface="Times New Roman" panose="02020603050405020304" pitchFamily="18" charset="0"/>
                <a:cs typeface="Times New Roman" panose="02020603050405020304" pitchFamily="18" charset="0"/>
              </a:rPr>
              <a:t>or consume </a:t>
            </a:r>
            <a:endParaRPr lang="en-US" sz="2000" dirty="0" smtClean="0">
              <a:solidFill>
                <a:schemeClr val="tx1"/>
              </a:solidFill>
              <a:latin typeface="Times New Roman" panose="02020603050405020304" pitchFamily="18" charset="0"/>
              <a:cs typeface="Times New Roman" panose="02020603050405020304" pitchFamily="18" charset="0"/>
            </a:endParaRPr>
          </a:p>
          <a:p>
            <a:pPr marL="0" indent="0" algn="just">
              <a:spcBef>
                <a:spcPts val="0"/>
              </a:spcBef>
              <a:buNone/>
            </a:pPr>
            <a:r>
              <a:rPr lang="en-US" sz="2000" dirty="0" smtClean="0">
                <a:solidFill>
                  <a:schemeClr val="tx1"/>
                </a:solidFill>
                <a:latin typeface="Times New Roman" panose="02020603050405020304" pitchFamily="18" charset="0"/>
                <a:cs typeface="Times New Roman" panose="02020603050405020304" pitchFamily="18" charset="0"/>
              </a:rPr>
              <a:t>   much </a:t>
            </a:r>
            <a:r>
              <a:rPr lang="en-US" sz="2000" dirty="0">
                <a:solidFill>
                  <a:schemeClr val="tx1"/>
                </a:solidFill>
                <a:latin typeface="Times New Roman" panose="02020603050405020304" pitchFamily="18" charset="0"/>
                <a:cs typeface="Times New Roman" panose="02020603050405020304" pitchFamily="18" charset="0"/>
              </a:rPr>
              <a:t>of memory </a:t>
            </a:r>
            <a:r>
              <a:rPr lang="en-US" sz="2000" dirty="0" smtClean="0">
                <a:solidFill>
                  <a:schemeClr val="tx1"/>
                </a:solidFill>
                <a:latin typeface="Times New Roman" panose="02020603050405020304" pitchFamily="18" charset="0"/>
                <a:cs typeface="Times New Roman" panose="02020603050405020304" pitchFamily="18" charset="0"/>
              </a:rPr>
              <a:t>space</a:t>
            </a:r>
          </a:p>
          <a:p>
            <a:pPr algn="just">
              <a:spcBef>
                <a:spcPts val="0"/>
              </a:spcBef>
              <a:buFont typeface="Wingdings" panose="05000000000000000000" pitchFamily="2" charset="2"/>
              <a:buChar char="§"/>
            </a:pPr>
            <a:r>
              <a:rPr lang="en-US" sz="2000" dirty="0" smtClean="0">
                <a:solidFill>
                  <a:schemeClr val="tx1"/>
                </a:solidFill>
                <a:latin typeface="Times New Roman" panose="02020603050405020304" pitchFamily="18" charset="0"/>
                <a:cs typeface="Times New Roman" panose="02020603050405020304" pitchFamily="18" charset="0"/>
              </a:rPr>
              <a:t> Their </a:t>
            </a:r>
            <a:r>
              <a:rPr lang="en-US" sz="2000" dirty="0">
                <a:solidFill>
                  <a:schemeClr val="tx1"/>
                </a:solidFill>
                <a:latin typeface="Times New Roman" panose="02020603050405020304" pitchFamily="18" charset="0"/>
                <a:cs typeface="Times New Roman" panose="02020603050405020304" pitchFamily="18" charset="0"/>
              </a:rPr>
              <a:t>performance </a:t>
            </a:r>
            <a:r>
              <a:rPr lang="en-US" sz="2000" dirty="0" smtClean="0">
                <a:solidFill>
                  <a:schemeClr val="tx1"/>
                </a:solidFill>
                <a:latin typeface="Times New Roman" panose="02020603050405020304" pitchFamily="18" charset="0"/>
                <a:cs typeface="Times New Roman" panose="02020603050405020304" pitchFamily="18" charset="0"/>
              </a:rPr>
              <a:t>deteriorates if </a:t>
            </a:r>
            <a:r>
              <a:rPr lang="en-US" sz="2000" dirty="0">
                <a:solidFill>
                  <a:schemeClr val="tx1"/>
                </a:solidFill>
                <a:latin typeface="Times New Roman" panose="02020603050405020304" pitchFamily="18" charset="0"/>
                <a:cs typeface="Times New Roman" panose="02020603050405020304" pitchFamily="18" charset="0"/>
              </a:rPr>
              <a:t>niches have imbalanced number of </a:t>
            </a:r>
            <a:endParaRPr lang="en-US" sz="2000" dirty="0" smtClean="0">
              <a:solidFill>
                <a:schemeClr val="tx1"/>
              </a:solidFill>
              <a:latin typeface="Times New Roman" panose="02020603050405020304" pitchFamily="18" charset="0"/>
              <a:cs typeface="Times New Roman" panose="02020603050405020304" pitchFamily="18" charset="0"/>
            </a:endParaRPr>
          </a:p>
          <a:p>
            <a:pPr marL="0" indent="0" algn="just">
              <a:spcBef>
                <a:spcPts val="0"/>
              </a:spcBef>
              <a:buNone/>
            </a:pPr>
            <a:r>
              <a:rPr lang="en-US" sz="2000" dirty="0">
                <a:solidFill>
                  <a:schemeClr val="tx1"/>
                </a:solidFill>
                <a:latin typeface="Times New Roman" panose="02020603050405020304" pitchFamily="18" charset="0"/>
                <a:cs typeface="Times New Roman" panose="02020603050405020304" pitchFamily="18" charset="0"/>
              </a:rPr>
              <a:t> </a:t>
            </a:r>
            <a:r>
              <a:rPr lang="en-US" sz="2000" dirty="0" smtClean="0">
                <a:solidFill>
                  <a:schemeClr val="tx1"/>
                </a:solidFill>
                <a:latin typeface="Times New Roman" panose="02020603050405020304" pitchFamily="18" charset="0"/>
                <a:cs typeface="Times New Roman" panose="02020603050405020304" pitchFamily="18" charset="0"/>
              </a:rPr>
              <a:t>  individuals</a:t>
            </a:r>
          </a:p>
          <a:p>
            <a:pPr algn="just">
              <a:spcBef>
                <a:spcPts val="0"/>
              </a:spcBef>
              <a:buFont typeface="Wingdings" panose="05000000000000000000" pitchFamily="2" charset="2"/>
              <a:buChar char="§"/>
            </a:pPr>
            <a:r>
              <a:rPr lang="en-US" sz="2000" dirty="0" smtClean="0">
                <a:solidFill>
                  <a:schemeClr val="tx1"/>
                </a:solidFill>
                <a:latin typeface="Times New Roman" panose="02020603050405020304" pitchFamily="18" charset="0"/>
                <a:cs typeface="Times New Roman" panose="02020603050405020304" pitchFamily="18" charset="0"/>
              </a:rPr>
              <a:t> Developed </a:t>
            </a:r>
            <a:r>
              <a:rPr lang="en-US" sz="2000" dirty="0">
                <a:solidFill>
                  <a:schemeClr val="tx1"/>
                </a:solidFill>
                <a:latin typeface="Times New Roman" panose="02020603050405020304" pitchFamily="18" charset="0"/>
                <a:cs typeface="Times New Roman" panose="02020603050405020304" pitchFamily="18" charset="0"/>
              </a:rPr>
              <a:t>to tackle either discrete or continuous optimization </a:t>
            </a:r>
            <a:r>
              <a:rPr lang="en-US" sz="2000" dirty="0" smtClean="0">
                <a:solidFill>
                  <a:schemeClr val="tx1"/>
                </a:solidFill>
                <a:latin typeface="Times New Roman" panose="02020603050405020304" pitchFamily="18" charset="0"/>
                <a:cs typeface="Times New Roman" panose="02020603050405020304" pitchFamily="18" charset="0"/>
              </a:rPr>
              <a:t>problems only</a:t>
            </a:r>
          </a:p>
          <a:p>
            <a:pPr algn="just">
              <a:spcBef>
                <a:spcPts val="0"/>
              </a:spcBef>
              <a:buFont typeface="Wingdings" panose="05000000000000000000" pitchFamily="2" charset="2"/>
              <a:buChar char="§"/>
            </a:pPr>
            <a:r>
              <a:rPr lang="en-US" sz="2000" dirty="0" smtClean="0">
                <a:solidFill>
                  <a:schemeClr val="tx1"/>
                </a:solidFill>
                <a:latin typeface="Times New Roman" panose="02020603050405020304" pitchFamily="18" charset="0"/>
                <a:cs typeface="Times New Roman" panose="02020603050405020304" pitchFamily="18" charset="0"/>
              </a:rPr>
              <a:t> They </a:t>
            </a:r>
            <a:r>
              <a:rPr lang="en-US" sz="2000" dirty="0">
                <a:solidFill>
                  <a:schemeClr val="tx1"/>
                </a:solidFill>
                <a:latin typeface="Times New Roman" panose="02020603050405020304" pitchFamily="18" charset="0"/>
                <a:cs typeface="Times New Roman" panose="02020603050405020304" pitchFamily="18" charset="0"/>
              </a:rPr>
              <a:t>fail to handle mixed-variable multi-modal optimization problems</a:t>
            </a:r>
            <a:endParaRPr lang="en-US" sz="2000" dirty="0">
              <a:solidFill>
                <a:schemeClr val="tx1"/>
              </a:solidFill>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00000000-1234-1234-1234-123412341234}" type="slidenum">
              <a:rPr lang="en" smtClean="0"/>
              <a:pPr/>
              <a:t>26</a:t>
            </a:fld>
            <a:endParaRPr lang="en" dirty="0"/>
          </a:p>
        </p:txBody>
      </p:sp>
    </p:spTree>
    <p:extLst>
      <p:ext uri="{BB962C8B-B14F-4D97-AF65-F5344CB8AC3E}">
        <p14:creationId xmlns:p14="http://schemas.microsoft.com/office/powerpoint/2010/main" val="2032192945"/>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0250" y="292625"/>
            <a:ext cx="8520600" cy="572700"/>
          </a:xfrm>
        </p:spPr>
        <p:txBody>
          <a:bodyPr>
            <a:noAutofit/>
          </a:bodyPr>
          <a:lstStyle/>
          <a:p>
            <a:r>
              <a:rPr lang="en-US" sz="3200" b="1" dirty="0" smtClean="0">
                <a:solidFill>
                  <a:schemeClr val="tx1"/>
                </a:solidFill>
                <a:latin typeface="Times New Roman" panose="02020603050405020304" pitchFamily="18" charset="0"/>
                <a:ea typeface="Calibri"/>
                <a:cs typeface="Times New Roman" panose="02020603050405020304" pitchFamily="18" charset="0"/>
              </a:rPr>
              <a:t>Proposed </a:t>
            </a:r>
            <a:r>
              <a:rPr lang="en-US" sz="3200" b="1" dirty="0">
                <a:solidFill>
                  <a:schemeClr val="tx1"/>
                </a:solidFill>
                <a:latin typeface="Times New Roman" panose="02020603050405020304" pitchFamily="18" charset="0"/>
                <a:ea typeface="Calibri"/>
                <a:cs typeface="Times New Roman" panose="02020603050405020304" pitchFamily="18" charset="0"/>
              </a:rPr>
              <a:t>Methodology  </a:t>
            </a:r>
            <a:r>
              <a:rPr lang="en-US" sz="3200" b="1" dirty="0" smtClean="0">
                <a:solidFill>
                  <a:schemeClr val="tx1"/>
                </a:solidFill>
                <a:latin typeface="Times New Roman" panose="02020603050405020304" pitchFamily="18" charset="0"/>
                <a:ea typeface="Calibri"/>
                <a:cs typeface="Times New Roman" panose="02020603050405020304" pitchFamily="18" charset="0"/>
              </a:rPr>
              <a:t>(MV-MACO)</a:t>
            </a:r>
            <a:endParaRPr lang="en-US" sz="3200" b="1" dirty="0">
              <a:solidFill>
                <a:schemeClr val="tx1"/>
              </a:solidFill>
              <a:latin typeface="Times New Roman" panose="02020603050405020304" pitchFamily="18" charset="0"/>
              <a:ea typeface="Calibri"/>
              <a:cs typeface="Times New Roman" panose="02020603050405020304" pitchFamily="18" charset="0"/>
            </a:endParaRPr>
          </a:p>
        </p:txBody>
      </p:sp>
      <p:sp>
        <p:nvSpPr>
          <p:cNvPr id="4" name="Slide Number Placeholder 3"/>
          <p:cNvSpPr>
            <a:spLocks noGrp="1"/>
          </p:cNvSpPr>
          <p:nvPr>
            <p:ph type="sldNum" idx="12"/>
          </p:nvPr>
        </p:nvSpPr>
        <p:spPr/>
        <p:txBody>
          <a:bodyPr/>
          <a:lstStyle/>
          <a:p>
            <a:fld id="{00000000-1234-1234-1234-123412341234}" type="slidenum">
              <a:rPr lang="en" smtClean="0"/>
              <a:pPr/>
              <a:t>27</a:t>
            </a:fld>
            <a:endParaRPr lang="en" dirty="0"/>
          </a:p>
        </p:txBody>
      </p:sp>
      <p:sp>
        <p:nvSpPr>
          <p:cNvPr id="7" name="TextBox 6"/>
          <p:cNvSpPr txBox="1"/>
          <p:nvPr/>
        </p:nvSpPr>
        <p:spPr>
          <a:xfrm>
            <a:off x="904875" y="4352888"/>
            <a:ext cx="7258050" cy="307777"/>
          </a:xfrm>
          <a:prstGeom prst="rect">
            <a:avLst/>
          </a:prstGeom>
          <a:noFill/>
        </p:spPr>
        <p:txBody>
          <a:bodyPr wrap="square" rtlCol="0">
            <a:spAutoFit/>
          </a:bodyPr>
          <a:lstStyle/>
          <a:p>
            <a:pPr algn="ctr"/>
            <a:r>
              <a:rPr lang="en-US" dirty="0" smtClean="0"/>
              <a:t>Fig 1: Flow chart of the proposed methodology</a:t>
            </a:r>
            <a:endParaRPr lang="en-US" dirty="0"/>
          </a:p>
        </p:txBody>
      </p:sp>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04875" y="911406"/>
            <a:ext cx="7458075" cy="3395400"/>
          </a:xfrm>
          <a:prstGeom prst="rect">
            <a:avLst/>
          </a:prstGeom>
        </p:spPr>
      </p:pic>
    </p:spTree>
    <p:extLst>
      <p:ext uri="{BB962C8B-B14F-4D97-AF65-F5344CB8AC3E}">
        <p14:creationId xmlns:p14="http://schemas.microsoft.com/office/powerpoint/2010/main" val="3416974681"/>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07000" y="718329"/>
            <a:ext cx="8520600" cy="572700"/>
          </a:xfrm>
        </p:spPr>
        <p:txBody>
          <a:bodyPr>
            <a:noAutofit/>
          </a:bodyPr>
          <a:lstStyle/>
          <a:p>
            <a:r>
              <a:rPr lang="en-US" sz="3200" b="1" dirty="0" smtClean="0">
                <a:solidFill>
                  <a:schemeClr val="tx1"/>
                </a:solidFill>
                <a:latin typeface="Times New Roman" panose="02020603050405020304" pitchFamily="18" charset="0"/>
                <a:ea typeface="Calibri"/>
                <a:cs typeface="Times New Roman" panose="02020603050405020304" pitchFamily="18" charset="0"/>
              </a:rPr>
              <a:t>MV-MACO</a:t>
            </a:r>
            <a:endParaRPr lang="en-US" sz="3200" b="1" dirty="0">
              <a:solidFill>
                <a:schemeClr val="tx1"/>
              </a:solidFill>
              <a:latin typeface="Times New Roman" panose="02020603050405020304" pitchFamily="18" charset="0"/>
              <a:ea typeface="Calibri"/>
              <a:cs typeface="Times New Roman" panose="02020603050405020304" pitchFamily="18" charset="0"/>
            </a:endParaRPr>
          </a:p>
        </p:txBody>
      </p:sp>
      <p:sp>
        <p:nvSpPr>
          <p:cNvPr id="3" name="Text Placeholder 2"/>
          <p:cNvSpPr>
            <a:spLocks noGrp="1"/>
          </p:cNvSpPr>
          <p:nvPr>
            <p:ph type="body" idx="1"/>
          </p:nvPr>
        </p:nvSpPr>
        <p:spPr>
          <a:xfrm>
            <a:off x="311700" y="1291029"/>
            <a:ext cx="8520600" cy="356796"/>
          </a:xfrm>
        </p:spPr>
        <p:txBody>
          <a:bodyPr>
            <a:noAutofit/>
          </a:bodyPr>
          <a:lstStyle/>
          <a:p>
            <a:r>
              <a:rPr lang="en-US" sz="1600" dirty="0" smtClean="0"/>
              <a:t>         For </a:t>
            </a:r>
            <a:r>
              <a:rPr lang="en-US" sz="1600" dirty="0"/>
              <a:t>solving mixed </a:t>
            </a:r>
            <a:r>
              <a:rPr lang="en-US" sz="1600" dirty="0" smtClean="0"/>
              <a:t>variable </a:t>
            </a:r>
            <a:r>
              <a:rPr lang="en-US" sz="1600" dirty="0"/>
              <a:t>optimization problem the solution archive </a:t>
            </a:r>
            <a:r>
              <a:rPr lang="en-US" sz="1600" dirty="0" smtClean="0"/>
              <a:t>is divided </a:t>
            </a:r>
            <a:r>
              <a:rPr lang="en-US" sz="1600" dirty="0"/>
              <a:t>in to two </a:t>
            </a:r>
            <a:r>
              <a:rPr lang="en-US" sz="1600" dirty="0" smtClean="0"/>
              <a:t>parts</a:t>
            </a:r>
          </a:p>
          <a:p>
            <a:endParaRPr lang="en-US" sz="1600" dirty="0" smtClean="0"/>
          </a:p>
          <a:p>
            <a:endParaRPr lang="en-US" sz="1800" dirty="0" smtClean="0"/>
          </a:p>
          <a:p>
            <a:pPr marL="150876" lvl="1" indent="0">
              <a:buNone/>
            </a:pPr>
            <a:r>
              <a:rPr lang="en-US" sz="1400" dirty="0"/>
              <a:t>	</a:t>
            </a:r>
            <a:r>
              <a:rPr lang="en-US" sz="1400" dirty="0" smtClean="0"/>
              <a:t> </a:t>
            </a:r>
          </a:p>
          <a:p>
            <a:pPr marL="150876" lvl="1" indent="0">
              <a:buNone/>
            </a:pPr>
            <a:endParaRPr lang="en-US" sz="1400" dirty="0"/>
          </a:p>
        </p:txBody>
      </p:sp>
      <p:sp>
        <p:nvSpPr>
          <p:cNvPr id="4" name="Slide Number Placeholder 3"/>
          <p:cNvSpPr>
            <a:spLocks noGrp="1"/>
          </p:cNvSpPr>
          <p:nvPr>
            <p:ph type="sldNum" idx="12"/>
          </p:nvPr>
        </p:nvSpPr>
        <p:spPr/>
        <p:txBody>
          <a:bodyPr/>
          <a:lstStyle/>
          <a:p>
            <a:fld id="{00000000-1234-1234-1234-123412341234}" type="slidenum">
              <a:rPr lang="en" smtClean="0"/>
              <a:pPr/>
              <a:t>28</a:t>
            </a:fld>
            <a:endParaRPr lang="en" dirty="0"/>
          </a:p>
        </p:txBody>
      </p:sp>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1647825"/>
            <a:ext cx="9144000" cy="3085728"/>
          </a:xfrm>
          <a:prstGeom prst="rect">
            <a:avLst/>
          </a:prstGeom>
        </p:spPr>
      </p:pic>
      <p:sp>
        <p:nvSpPr>
          <p:cNvPr id="6" name="TextBox 5"/>
          <p:cNvSpPr txBox="1"/>
          <p:nvPr/>
        </p:nvSpPr>
        <p:spPr>
          <a:xfrm>
            <a:off x="1143000" y="4446290"/>
            <a:ext cx="7048500" cy="307777"/>
          </a:xfrm>
          <a:prstGeom prst="rect">
            <a:avLst/>
          </a:prstGeom>
          <a:noFill/>
        </p:spPr>
        <p:txBody>
          <a:bodyPr wrap="square" rtlCol="0">
            <a:spAutoFit/>
          </a:bodyPr>
          <a:lstStyle/>
          <a:p>
            <a:pPr algn="ctr"/>
            <a:r>
              <a:rPr lang="en-US" dirty="0" smtClean="0"/>
              <a:t>Fig 2: Structure of the solution archive</a:t>
            </a:r>
            <a:endParaRPr lang="en-US" dirty="0"/>
          </a:p>
        </p:txBody>
      </p:sp>
    </p:spTree>
    <p:extLst>
      <p:ext uri="{BB962C8B-B14F-4D97-AF65-F5344CB8AC3E}">
        <p14:creationId xmlns:p14="http://schemas.microsoft.com/office/powerpoint/2010/main" val="341193241"/>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07000" y="718329"/>
            <a:ext cx="8520600" cy="572700"/>
          </a:xfrm>
        </p:spPr>
        <p:txBody>
          <a:bodyPr>
            <a:noAutofit/>
          </a:bodyPr>
          <a:lstStyle/>
          <a:p>
            <a:r>
              <a:rPr lang="en-US" sz="3200" b="1" dirty="0" smtClean="0">
                <a:solidFill>
                  <a:schemeClr val="tx1"/>
                </a:solidFill>
                <a:latin typeface="Times New Roman" panose="02020603050405020304" pitchFamily="18" charset="0"/>
                <a:ea typeface="Calibri"/>
                <a:cs typeface="Times New Roman" panose="02020603050405020304" pitchFamily="18" charset="0"/>
              </a:rPr>
              <a:t>MV-MACO</a:t>
            </a:r>
            <a:endParaRPr lang="en-US" sz="3200" b="1" dirty="0">
              <a:solidFill>
                <a:schemeClr val="tx1"/>
              </a:solidFill>
              <a:latin typeface="Times New Roman" panose="02020603050405020304" pitchFamily="18" charset="0"/>
              <a:ea typeface="Calibri"/>
              <a:cs typeface="Times New Roman" panose="02020603050405020304" pitchFamily="18" charset="0"/>
            </a:endParaRPr>
          </a:p>
        </p:txBody>
      </p:sp>
      <p:sp>
        <p:nvSpPr>
          <p:cNvPr id="3" name="Text Placeholder 2"/>
          <p:cNvSpPr>
            <a:spLocks noGrp="1"/>
          </p:cNvSpPr>
          <p:nvPr>
            <p:ph type="body" idx="1"/>
          </p:nvPr>
        </p:nvSpPr>
        <p:spPr>
          <a:xfrm>
            <a:off x="807000" y="1291029"/>
            <a:ext cx="8025300" cy="1010211"/>
          </a:xfrm>
        </p:spPr>
        <p:txBody>
          <a:bodyPr>
            <a:noAutofit/>
          </a:bodyPr>
          <a:lstStyle/>
          <a:p>
            <a:pPr marL="342900" lvl="1" indent="-342900" algn="just">
              <a:spcAft>
                <a:spcPts val="150"/>
              </a:spcAft>
              <a:buSzPct val="100000"/>
              <a:buFont typeface="Wingdings" panose="05000000000000000000" pitchFamily="2" charset="2"/>
              <a:buChar char="§"/>
            </a:pPr>
            <a:r>
              <a:rPr lang="en-US" sz="2000" dirty="0" smtClean="0">
                <a:solidFill>
                  <a:schemeClr val="tx1"/>
                </a:solidFill>
                <a:latin typeface="Times New Roman" panose="02020603050405020304" pitchFamily="18" charset="0"/>
                <a:cs typeface="Times New Roman" panose="02020603050405020304" pitchFamily="18" charset="0"/>
              </a:rPr>
              <a:t>Weight </a:t>
            </a:r>
            <a:r>
              <a:rPr lang="en-US" sz="2000" dirty="0">
                <a:solidFill>
                  <a:schemeClr val="tx1"/>
                </a:solidFill>
                <a:latin typeface="Times New Roman" panose="02020603050405020304" pitchFamily="18" charset="0"/>
                <a:cs typeface="Times New Roman" panose="02020603050405020304" pitchFamily="18" charset="0"/>
              </a:rPr>
              <a:t>effects the selection probability of the </a:t>
            </a:r>
            <a:r>
              <a:rPr lang="en-US" sz="2000" dirty="0" smtClean="0">
                <a:solidFill>
                  <a:schemeClr val="tx1"/>
                </a:solidFill>
                <a:latin typeface="Times New Roman" panose="02020603050405020304" pitchFamily="18" charset="0"/>
                <a:cs typeface="Times New Roman" panose="02020603050405020304" pitchFamily="18" charset="0"/>
              </a:rPr>
              <a:t>solution</a:t>
            </a:r>
          </a:p>
          <a:p>
            <a:pPr marL="342900" lvl="1" indent="-342900" algn="just">
              <a:spcAft>
                <a:spcPts val="150"/>
              </a:spcAft>
              <a:buSzPct val="100000"/>
              <a:buFont typeface="Wingdings" panose="05000000000000000000" pitchFamily="2" charset="2"/>
              <a:buChar char="§"/>
            </a:pPr>
            <a:endParaRPr lang="en-US" sz="2000" dirty="0">
              <a:solidFill>
                <a:schemeClr val="tx1"/>
              </a:solidFill>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idx="12"/>
          </p:nvPr>
        </p:nvSpPr>
        <p:spPr/>
        <p:txBody>
          <a:bodyPr/>
          <a:lstStyle/>
          <a:p>
            <a:fld id="{00000000-1234-1234-1234-123412341234}" type="slidenum">
              <a:rPr lang="en" smtClean="0"/>
              <a:pPr/>
              <a:t>29</a:t>
            </a:fld>
            <a:endParaRPr lang="en" dirty="0"/>
          </a:p>
        </p:txBody>
      </p:sp>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809424" y="1678836"/>
            <a:ext cx="3219899" cy="1036776"/>
          </a:xfrm>
          <a:prstGeom prst="rect">
            <a:avLst/>
          </a:prstGeom>
        </p:spPr>
      </p:pic>
      <p:sp>
        <p:nvSpPr>
          <p:cNvPr id="6" name="Text Placeholder 2"/>
          <p:cNvSpPr txBox="1">
            <a:spLocks/>
          </p:cNvSpPr>
          <p:nvPr/>
        </p:nvSpPr>
        <p:spPr>
          <a:xfrm>
            <a:off x="807000" y="2526007"/>
            <a:ext cx="8025300" cy="2556352"/>
          </a:xfrm>
          <a:prstGeom prst="rect">
            <a:avLst/>
          </a:prstGeom>
        </p:spPr>
        <p:txBody>
          <a:bodyPr vert="horz" wrap="square" lIns="91425" tIns="91425" rIns="91425" bIns="91425" rtlCol="0" anchor="t" anchorCtr="0">
            <a:noAutofit/>
          </a:bodyPr>
          <a:lstStyle>
            <a:lvl1pPr marL="68580" lvl="0" indent="-68580" algn="l" defTabSz="685800" rtl="0" eaLnBrk="1" latinLnBrk="0" hangingPunct="1">
              <a:lnSpc>
                <a:spcPct val="90000"/>
              </a:lnSpc>
              <a:spcBef>
                <a:spcPts val="0"/>
              </a:spcBef>
              <a:spcAft>
                <a:spcPts val="150"/>
              </a:spcAft>
              <a:buClr>
                <a:schemeClr val="accent1"/>
              </a:buClr>
              <a:buSzPct val="100000"/>
              <a:buFont typeface="Calibri" panose="020F0502020204030204" pitchFamily="34" charset="0"/>
              <a:buChar char=" "/>
              <a:defRPr sz="1500" kern="1200">
                <a:solidFill>
                  <a:schemeClr val="tx1">
                    <a:lumMod val="75000"/>
                    <a:lumOff val="25000"/>
                  </a:schemeClr>
                </a:solidFill>
                <a:latin typeface="+mn-lt"/>
                <a:ea typeface="+mn-ea"/>
                <a:cs typeface="+mn-cs"/>
              </a:defRPr>
            </a:lvl1pPr>
            <a:lvl2pPr marL="288036" lvl="1" indent="-137160" algn="l" defTabSz="685800" rtl="0" eaLnBrk="1" latinLnBrk="0" hangingPunct="1">
              <a:lnSpc>
                <a:spcPct val="90000"/>
              </a:lnSpc>
              <a:spcBef>
                <a:spcPts val="0"/>
              </a:spcBef>
              <a:spcAft>
                <a:spcPts val="300"/>
              </a:spcAft>
              <a:buClr>
                <a:schemeClr val="accent1"/>
              </a:buClr>
              <a:buFont typeface="Calibri" pitchFamily="34" charset="0"/>
              <a:buChar char="◦"/>
              <a:defRPr sz="1350" kern="1200">
                <a:solidFill>
                  <a:schemeClr val="tx1">
                    <a:lumMod val="75000"/>
                    <a:lumOff val="25000"/>
                  </a:schemeClr>
                </a:solidFill>
                <a:latin typeface="+mn-lt"/>
                <a:ea typeface="+mn-ea"/>
                <a:cs typeface="+mn-cs"/>
              </a:defRPr>
            </a:lvl2pPr>
            <a:lvl3pPr marL="425196" lvl="2" indent="-137160" algn="l" defTabSz="685800" rtl="0" eaLnBrk="1" latinLnBrk="0" hangingPunct="1">
              <a:lnSpc>
                <a:spcPct val="90000"/>
              </a:lnSpc>
              <a:spcBef>
                <a:spcPts val="0"/>
              </a:spcBef>
              <a:spcAft>
                <a:spcPts val="300"/>
              </a:spcAft>
              <a:buClr>
                <a:schemeClr val="accent1"/>
              </a:buClr>
              <a:buFont typeface="Calibri" pitchFamily="34" charset="0"/>
              <a:buChar char="◦"/>
              <a:defRPr sz="1050" kern="1200">
                <a:solidFill>
                  <a:schemeClr val="tx1">
                    <a:lumMod val="75000"/>
                    <a:lumOff val="25000"/>
                  </a:schemeClr>
                </a:solidFill>
                <a:latin typeface="+mn-lt"/>
                <a:ea typeface="+mn-ea"/>
                <a:cs typeface="+mn-cs"/>
              </a:defRPr>
            </a:lvl3pPr>
            <a:lvl4pPr marL="562356" lvl="3" indent="-137160" algn="l" defTabSz="685800" rtl="0" eaLnBrk="1" latinLnBrk="0" hangingPunct="1">
              <a:lnSpc>
                <a:spcPct val="90000"/>
              </a:lnSpc>
              <a:spcBef>
                <a:spcPts val="0"/>
              </a:spcBef>
              <a:spcAft>
                <a:spcPts val="300"/>
              </a:spcAft>
              <a:buClr>
                <a:schemeClr val="accent1"/>
              </a:buClr>
              <a:buFont typeface="Calibri" pitchFamily="34" charset="0"/>
              <a:buChar char="◦"/>
              <a:defRPr sz="1050" kern="1200">
                <a:solidFill>
                  <a:schemeClr val="tx1">
                    <a:lumMod val="75000"/>
                    <a:lumOff val="25000"/>
                  </a:schemeClr>
                </a:solidFill>
                <a:latin typeface="+mn-lt"/>
                <a:ea typeface="+mn-ea"/>
                <a:cs typeface="+mn-cs"/>
              </a:defRPr>
            </a:lvl4pPr>
            <a:lvl5pPr marL="699516" lvl="4" indent="-137160" algn="l" defTabSz="685800" rtl="0" eaLnBrk="1" latinLnBrk="0" hangingPunct="1">
              <a:lnSpc>
                <a:spcPct val="90000"/>
              </a:lnSpc>
              <a:spcBef>
                <a:spcPts val="0"/>
              </a:spcBef>
              <a:spcAft>
                <a:spcPts val="300"/>
              </a:spcAft>
              <a:buClr>
                <a:schemeClr val="accent1"/>
              </a:buClr>
              <a:buFont typeface="Calibri" pitchFamily="34" charset="0"/>
              <a:buChar char="◦"/>
              <a:defRPr sz="1050" kern="1200">
                <a:solidFill>
                  <a:schemeClr val="tx1">
                    <a:lumMod val="75000"/>
                    <a:lumOff val="25000"/>
                  </a:schemeClr>
                </a:solidFill>
                <a:latin typeface="+mn-lt"/>
                <a:ea typeface="+mn-ea"/>
                <a:cs typeface="+mn-cs"/>
              </a:defRPr>
            </a:lvl5pPr>
            <a:lvl6pPr marL="825000" lvl="5" indent="-171450" algn="l" defTabSz="685800" rtl="0" eaLnBrk="1" latinLnBrk="0" hangingPunct="1">
              <a:lnSpc>
                <a:spcPct val="90000"/>
              </a:lnSpc>
              <a:spcBef>
                <a:spcPts val="0"/>
              </a:spcBef>
              <a:spcAft>
                <a:spcPts val="300"/>
              </a:spcAft>
              <a:buClr>
                <a:schemeClr val="accent1"/>
              </a:buClr>
              <a:buFont typeface="Calibri" pitchFamily="34" charset="0"/>
              <a:buChar char="◦"/>
              <a:defRPr sz="1050" kern="1200">
                <a:solidFill>
                  <a:schemeClr val="tx1">
                    <a:lumMod val="75000"/>
                    <a:lumOff val="25000"/>
                  </a:schemeClr>
                </a:solidFill>
                <a:latin typeface="+mn-lt"/>
                <a:ea typeface="+mn-ea"/>
                <a:cs typeface="+mn-cs"/>
              </a:defRPr>
            </a:lvl6pPr>
            <a:lvl7pPr marL="975000" lvl="6" indent="-171450" algn="l" defTabSz="685800" rtl="0" eaLnBrk="1" latinLnBrk="0" hangingPunct="1">
              <a:lnSpc>
                <a:spcPct val="90000"/>
              </a:lnSpc>
              <a:spcBef>
                <a:spcPts val="0"/>
              </a:spcBef>
              <a:spcAft>
                <a:spcPts val="300"/>
              </a:spcAft>
              <a:buClr>
                <a:schemeClr val="accent1"/>
              </a:buClr>
              <a:buFont typeface="Calibri" pitchFamily="34" charset="0"/>
              <a:buChar char="◦"/>
              <a:defRPr sz="1050" kern="1200">
                <a:solidFill>
                  <a:schemeClr val="tx1">
                    <a:lumMod val="75000"/>
                    <a:lumOff val="25000"/>
                  </a:schemeClr>
                </a:solidFill>
                <a:latin typeface="+mn-lt"/>
                <a:ea typeface="+mn-ea"/>
                <a:cs typeface="+mn-cs"/>
              </a:defRPr>
            </a:lvl7pPr>
            <a:lvl8pPr marL="1125000" lvl="7" indent="-171450" algn="l" defTabSz="685800" rtl="0" eaLnBrk="1" latinLnBrk="0" hangingPunct="1">
              <a:lnSpc>
                <a:spcPct val="90000"/>
              </a:lnSpc>
              <a:spcBef>
                <a:spcPts val="0"/>
              </a:spcBef>
              <a:spcAft>
                <a:spcPts val="300"/>
              </a:spcAft>
              <a:buClr>
                <a:schemeClr val="accent1"/>
              </a:buClr>
              <a:buFont typeface="Calibri" pitchFamily="34" charset="0"/>
              <a:buChar char="◦"/>
              <a:defRPr sz="1050" kern="1200">
                <a:solidFill>
                  <a:schemeClr val="tx1">
                    <a:lumMod val="75000"/>
                    <a:lumOff val="25000"/>
                  </a:schemeClr>
                </a:solidFill>
                <a:latin typeface="+mn-lt"/>
                <a:ea typeface="+mn-ea"/>
                <a:cs typeface="+mn-cs"/>
              </a:defRPr>
            </a:lvl8pPr>
            <a:lvl9pPr marL="1275000" lvl="8" indent="-171450" algn="l" defTabSz="685800" rtl="0" eaLnBrk="1" latinLnBrk="0" hangingPunct="1">
              <a:lnSpc>
                <a:spcPct val="90000"/>
              </a:lnSpc>
              <a:spcBef>
                <a:spcPts val="0"/>
              </a:spcBef>
              <a:spcAft>
                <a:spcPts val="300"/>
              </a:spcAft>
              <a:buClr>
                <a:schemeClr val="accent1"/>
              </a:buClr>
              <a:buFont typeface="Calibri" pitchFamily="34" charset="0"/>
              <a:buChar char="◦"/>
              <a:defRPr sz="1050" kern="1200">
                <a:solidFill>
                  <a:schemeClr val="tx1">
                    <a:lumMod val="75000"/>
                    <a:lumOff val="25000"/>
                  </a:schemeClr>
                </a:solidFill>
                <a:latin typeface="+mn-lt"/>
                <a:ea typeface="+mn-ea"/>
                <a:cs typeface="+mn-cs"/>
              </a:defRPr>
            </a:lvl9pPr>
          </a:lstStyle>
          <a:p>
            <a:pPr marL="342900" lvl="1" indent="-342900" algn="just">
              <a:spcAft>
                <a:spcPts val="150"/>
              </a:spcAft>
              <a:buSzPct val="100000"/>
              <a:buFont typeface="Wingdings" panose="05000000000000000000" pitchFamily="2" charset="2"/>
              <a:buChar char="§"/>
            </a:pPr>
            <a:r>
              <a:rPr lang="en-US" sz="2000" dirty="0" smtClean="0">
                <a:solidFill>
                  <a:schemeClr val="tx1"/>
                </a:solidFill>
                <a:latin typeface="Times New Roman" panose="02020603050405020304" pitchFamily="18" charset="0"/>
                <a:cs typeface="Times New Roman" panose="02020603050405020304" pitchFamily="18" charset="0"/>
              </a:rPr>
              <a:t>Rank(j) return the rank of the j</a:t>
            </a:r>
            <a:r>
              <a:rPr lang="en-US" sz="2000" baseline="30000" dirty="0" smtClean="0">
                <a:solidFill>
                  <a:schemeClr val="tx1"/>
                </a:solidFill>
                <a:latin typeface="Times New Roman" panose="02020603050405020304" pitchFamily="18" charset="0"/>
                <a:cs typeface="Times New Roman" panose="02020603050405020304" pitchFamily="18" charset="0"/>
              </a:rPr>
              <a:t>th</a:t>
            </a:r>
            <a:r>
              <a:rPr lang="en-US" sz="2000" dirty="0" smtClean="0">
                <a:solidFill>
                  <a:schemeClr val="tx1"/>
                </a:solidFill>
                <a:latin typeface="Times New Roman" panose="02020603050405020304" pitchFamily="18" charset="0"/>
                <a:cs typeface="Times New Roman" panose="02020603050405020304" pitchFamily="18" charset="0"/>
              </a:rPr>
              <a:t> solution according to it’s fitness value</a:t>
            </a:r>
          </a:p>
          <a:p>
            <a:pPr marL="342900" lvl="1" indent="-342900" algn="just">
              <a:spcAft>
                <a:spcPts val="150"/>
              </a:spcAft>
              <a:buSzPct val="100000"/>
              <a:buFont typeface="Wingdings" panose="05000000000000000000" pitchFamily="2" charset="2"/>
              <a:buChar char="§"/>
            </a:pPr>
            <a:r>
              <a:rPr lang="en-US" sz="2000" dirty="0" smtClean="0">
                <a:solidFill>
                  <a:schemeClr val="tx1"/>
                </a:solidFill>
                <a:latin typeface="Times New Roman" panose="02020603050405020304" pitchFamily="18" charset="0"/>
                <a:cs typeface="Times New Roman" panose="02020603050405020304" pitchFamily="18" charset="0"/>
              </a:rPr>
              <a:t>The parameter q has a special effect</a:t>
            </a:r>
          </a:p>
          <a:p>
            <a:pPr marL="342900" lvl="1" indent="-342900" algn="just">
              <a:spcAft>
                <a:spcPts val="150"/>
              </a:spcAft>
              <a:buSzPct val="100000"/>
              <a:buFont typeface="Wingdings" panose="05000000000000000000" pitchFamily="2" charset="2"/>
              <a:buChar char="§"/>
            </a:pPr>
            <a:endParaRPr lang="en-US" sz="2000" dirty="0">
              <a:solidFill>
                <a:schemeClr val="tx1"/>
              </a:solidFill>
              <a:latin typeface="Times New Roman" panose="02020603050405020304" pitchFamily="18" charset="0"/>
              <a:cs typeface="Times New Roman" panose="02020603050405020304" pitchFamily="18" charset="0"/>
            </a:endParaRPr>
          </a:p>
          <a:p>
            <a:pPr marL="342900" lvl="1" indent="-342900" algn="just">
              <a:spcAft>
                <a:spcPts val="150"/>
              </a:spcAft>
              <a:buSzPct val="100000"/>
              <a:buFont typeface="Wingdings" panose="05000000000000000000" pitchFamily="2" charset="2"/>
              <a:buChar char="§"/>
            </a:pPr>
            <a:r>
              <a:rPr lang="en-US" sz="2000" dirty="0" smtClean="0">
                <a:solidFill>
                  <a:schemeClr val="tx1"/>
                </a:solidFill>
                <a:latin typeface="Times New Roman" panose="02020603050405020304" pitchFamily="18" charset="0"/>
                <a:cs typeface="Times New Roman" panose="02020603050405020304" pitchFamily="18" charset="0"/>
              </a:rPr>
              <a:t>Ant probabilistically chooses one of the solution</a:t>
            </a:r>
            <a:endParaRPr lang="en-US" sz="2000" dirty="0">
              <a:solidFill>
                <a:schemeClr val="tx1"/>
              </a:solidFill>
              <a:latin typeface="Times New Roman" panose="02020603050405020304" pitchFamily="18" charset="0"/>
              <a:cs typeface="Times New Roman" panose="02020603050405020304" pitchFamily="18" charset="0"/>
            </a:endParaRPr>
          </a:p>
        </p:txBody>
      </p:sp>
      <p:sp>
        <p:nvSpPr>
          <p:cNvPr id="7" name="TextBox 6"/>
          <p:cNvSpPr txBox="1"/>
          <p:nvPr/>
        </p:nvSpPr>
        <p:spPr>
          <a:xfrm>
            <a:off x="7173798" y="1955435"/>
            <a:ext cx="669303" cy="307777"/>
          </a:xfrm>
          <a:prstGeom prst="rect">
            <a:avLst/>
          </a:prstGeom>
          <a:noFill/>
        </p:spPr>
        <p:txBody>
          <a:bodyPr wrap="square" rtlCol="0">
            <a:spAutoFit/>
          </a:bodyPr>
          <a:lstStyle/>
          <a:p>
            <a:r>
              <a:rPr lang="en-US" dirty="0" smtClean="0"/>
              <a:t>(1)</a:t>
            </a:r>
            <a:endParaRPr lang="en-US" dirty="0"/>
          </a:p>
        </p:txBody>
      </p:sp>
      <p:pic>
        <p:nvPicPr>
          <p:cNvPr id="9" name="Picture 8"/>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381174" y="3936997"/>
            <a:ext cx="1438476" cy="638264"/>
          </a:xfrm>
          <a:prstGeom prst="rect">
            <a:avLst/>
          </a:prstGeom>
        </p:spPr>
      </p:pic>
      <p:sp>
        <p:nvSpPr>
          <p:cNvPr id="10" name="TextBox 9"/>
          <p:cNvSpPr txBox="1"/>
          <p:nvPr/>
        </p:nvSpPr>
        <p:spPr>
          <a:xfrm>
            <a:off x="7177007" y="4102240"/>
            <a:ext cx="433633" cy="307777"/>
          </a:xfrm>
          <a:prstGeom prst="rect">
            <a:avLst/>
          </a:prstGeom>
          <a:noFill/>
        </p:spPr>
        <p:txBody>
          <a:bodyPr wrap="square" rtlCol="0">
            <a:spAutoFit/>
          </a:bodyPr>
          <a:lstStyle/>
          <a:p>
            <a:r>
              <a:rPr lang="en-US" dirty="0" smtClean="0"/>
              <a:t>(2)</a:t>
            </a:r>
            <a:endParaRPr lang="en-US" dirty="0"/>
          </a:p>
        </p:txBody>
      </p:sp>
    </p:spTree>
    <p:extLst>
      <p:ext uri="{BB962C8B-B14F-4D97-AF65-F5344CB8AC3E}">
        <p14:creationId xmlns:p14="http://schemas.microsoft.com/office/powerpoint/2010/main" val="2308378018"/>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07000" y="718329"/>
            <a:ext cx="8520600" cy="572700"/>
          </a:xfrm>
        </p:spPr>
        <p:txBody>
          <a:bodyPr>
            <a:noAutofit/>
          </a:bodyPr>
          <a:lstStyle/>
          <a:p>
            <a:r>
              <a:rPr lang="en-US" sz="3200" b="1" dirty="0" smtClean="0">
                <a:solidFill>
                  <a:schemeClr val="tx1"/>
                </a:solidFill>
                <a:latin typeface="Times New Roman" panose="02020603050405020304" pitchFamily="18" charset="0"/>
                <a:ea typeface="Calibri"/>
                <a:cs typeface="Times New Roman" panose="02020603050405020304" pitchFamily="18" charset="0"/>
              </a:rPr>
              <a:t>MV-MACO</a:t>
            </a:r>
            <a:endParaRPr lang="en-US" sz="3200" b="1" dirty="0">
              <a:solidFill>
                <a:schemeClr val="tx1"/>
              </a:solidFill>
              <a:latin typeface="Times New Roman" panose="02020603050405020304" pitchFamily="18" charset="0"/>
              <a:ea typeface="Calibri"/>
              <a:cs typeface="Times New Roman" panose="02020603050405020304" pitchFamily="18" charset="0"/>
            </a:endParaRPr>
          </a:p>
        </p:txBody>
      </p:sp>
      <p:sp>
        <p:nvSpPr>
          <p:cNvPr id="3" name="Text Placeholder 2"/>
          <p:cNvSpPr>
            <a:spLocks noGrp="1"/>
          </p:cNvSpPr>
          <p:nvPr>
            <p:ph type="body" idx="1"/>
          </p:nvPr>
        </p:nvSpPr>
        <p:spPr>
          <a:xfrm>
            <a:off x="807000" y="1291029"/>
            <a:ext cx="8025300" cy="1572941"/>
          </a:xfrm>
        </p:spPr>
        <p:txBody>
          <a:bodyPr>
            <a:noAutofit/>
          </a:bodyPr>
          <a:lstStyle/>
          <a:p>
            <a:pPr marL="342900" lvl="1" indent="-342900">
              <a:spcAft>
                <a:spcPts val="150"/>
              </a:spcAft>
              <a:buSzPct val="100000"/>
              <a:buFont typeface="Wingdings" panose="05000000000000000000" pitchFamily="2" charset="2"/>
              <a:buChar char="§"/>
            </a:pPr>
            <a:r>
              <a:rPr lang="en-US" sz="2000" dirty="0" smtClean="0">
                <a:solidFill>
                  <a:schemeClr val="tx1"/>
                </a:solidFill>
                <a:latin typeface="Times New Roman" panose="02020603050405020304" pitchFamily="18" charset="0"/>
                <a:cs typeface="Times New Roman" panose="02020603050405020304" pitchFamily="18" charset="0"/>
              </a:rPr>
              <a:t>Ant then iteratively constructs the solution for the mixed variables</a:t>
            </a:r>
          </a:p>
          <a:p>
            <a:pPr marL="342900" lvl="1" indent="-342900">
              <a:spcAft>
                <a:spcPts val="150"/>
              </a:spcAft>
              <a:buSzPct val="100000"/>
              <a:buFont typeface="Wingdings" panose="05000000000000000000" pitchFamily="2" charset="2"/>
              <a:buChar char="§"/>
            </a:pPr>
            <a:r>
              <a:rPr lang="en-US" sz="2000" dirty="0" smtClean="0">
                <a:solidFill>
                  <a:schemeClr val="tx1"/>
                </a:solidFill>
                <a:latin typeface="Times New Roman" panose="02020603050405020304" pitchFamily="18" charset="0"/>
                <a:cs typeface="Times New Roman" panose="02020603050405020304" pitchFamily="18" charset="0"/>
              </a:rPr>
              <a:t>An ant samples new values for continuous variables using Gaussian Distribution</a:t>
            </a:r>
          </a:p>
          <a:p>
            <a:pPr marL="342900" lvl="1" indent="-342900">
              <a:spcAft>
                <a:spcPts val="150"/>
              </a:spcAft>
              <a:buSzPct val="100000"/>
              <a:buFont typeface="Wingdings" panose="05000000000000000000" pitchFamily="2" charset="2"/>
              <a:buChar char="§"/>
            </a:pPr>
            <a:endParaRPr lang="en-US" sz="2000" dirty="0" smtClean="0">
              <a:solidFill>
                <a:schemeClr val="tx1"/>
              </a:solidFill>
              <a:latin typeface="Times New Roman" panose="02020603050405020304" pitchFamily="18" charset="0"/>
              <a:cs typeface="Times New Roman" panose="02020603050405020304" pitchFamily="18" charset="0"/>
            </a:endParaRPr>
          </a:p>
          <a:p>
            <a:pPr marL="0" lvl="1" indent="0">
              <a:spcAft>
                <a:spcPts val="150"/>
              </a:spcAft>
              <a:buSzPct val="100000"/>
              <a:buNone/>
            </a:pPr>
            <a:r>
              <a:rPr lang="en-US" sz="2000" dirty="0" smtClean="0">
                <a:solidFill>
                  <a:schemeClr val="tx1"/>
                </a:solidFill>
                <a:latin typeface="Times New Roman" panose="02020603050405020304" pitchFamily="18" charset="0"/>
                <a:cs typeface="Times New Roman" panose="02020603050405020304" pitchFamily="18" charset="0"/>
              </a:rPr>
              <a:t> </a:t>
            </a:r>
            <a:endParaRPr lang="en-US" sz="2000" dirty="0">
              <a:solidFill>
                <a:schemeClr val="tx1"/>
              </a:solidFill>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idx="12"/>
          </p:nvPr>
        </p:nvSpPr>
        <p:spPr/>
        <p:txBody>
          <a:bodyPr/>
          <a:lstStyle/>
          <a:p>
            <a:fld id="{00000000-1234-1234-1234-123412341234}" type="slidenum">
              <a:rPr lang="en" smtClean="0"/>
              <a:pPr/>
              <a:t>30</a:t>
            </a:fld>
            <a:endParaRPr lang="en" dirty="0"/>
          </a:p>
        </p:txBody>
      </p:sp>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721125" y="2056821"/>
            <a:ext cx="4239217" cy="865576"/>
          </a:xfrm>
          <a:prstGeom prst="rect">
            <a:avLst/>
          </a:prstGeom>
        </p:spPr>
      </p:pic>
      <p:sp>
        <p:nvSpPr>
          <p:cNvPr id="7" name="Text Placeholder 2"/>
          <p:cNvSpPr txBox="1">
            <a:spLocks/>
          </p:cNvSpPr>
          <p:nvPr/>
        </p:nvSpPr>
        <p:spPr>
          <a:xfrm>
            <a:off x="828083" y="2974844"/>
            <a:ext cx="8025300" cy="1572941"/>
          </a:xfrm>
          <a:prstGeom prst="rect">
            <a:avLst/>
          </a:prstGeom>
        </p:spPr>
        <p:txBody>
          <a:bodyPr vert="horz" wrap="square" lIns="91425" tIns="91425" rIns="91425" bIns="91425" rtlCol="0" anchor="t" anchorCtr="0">
            <a:noAutofit/>
          </a:bodyPr>
          <a:lstStyle>
            <a:lvl1pPr marL="68580" lvl="0" indent="-68580" algn="l" defTabSz="685800" rtl="0" eaLnBrk="1" latinLnBrk="0" hangingPunct="1">
              <a:lnSpc>
                <a:spcPct val="90000"/>
              </a:lnSpc>
              <a:spcBef>
                <a:spcPts val="0"/>
              </a:spcBef>
              <a:spcAft>
                <a:spcPts val="150"/>
              </a:spcAft>
              <a:buClr>
                <a:schemeClr val="accent1"/>
              </a:buClr>
              <a:buSzPct val="100000"/>
              <a:buFont typeface="Calibri" panose="020F0502020204030204" pitchFamily="34" charset="0"/>
              <a:buChar char=" "/>
              <a:defRPr sz="1500" kern="1200">
                <a:solidFill>
                  <a:schemeClr val="tx1">
                    <a:lumMod val="75000"/>
                    <a:lumOff val="25000"/>
                  </a:schemeClr>
                </a:solidFill>
                <a:latin typeface="+mn-lt"/>
                <a:ea typeface="+mn-ea"/>
                <a:cs typeface="+mn-cs"/>
              </a:defRPr>
            </a:lvl1pPr>
            <a:lvl2pPr marL="288036" lvl="1" indent="-137160" algn="l" defTabSz="685800" rtl="0" eaLnBrk="1" latinLnBrk="0" hangingPunct="1">
              <a:lnSpc>
                <a:spcPct val="90000"/>
              </a:lnSpc>
              <a:spcBef>
                <a:spcPts val="0"/>
              </a:spcBef>
              <a:spcAft>
                <a:spcPts val="300"/>
              </a:spcAft>
              <a:buClr>
                <a:schemeClr val="accent1"/>
              </a:buClr>
              <a:buFont typeface="Calibri" pitchFamily="34" charset="0"/>
              <a:buChar char="◦"/>
              <a:defRPr sz="1350" kern="1200">
                <a:solidFill>
                  <a:schemeClr val="tx1">
                    <a:lumMod val="75000"/>
                    <a:lumOff val="25000"/>
                  </a:schemeClr>
                </a:solidFill>
                <a:latin typeface="+mn-lt"/>
                <a:ea typeface="+mn-ea"/>
                <a:cs typeface="+mn-cs"/>
              </a:defRPr>
            </a:lvl2pPr>
            <a:lvl3pPr marL="425196" lvl="2" indent="-137160" algn="l" defTabSz="685800" rtl="0" eaLnBrk="1" latinLnBrk="0" hangingPunct="1">
              <a:lnSpc>
                <a:spcPct val="90000"/>
              </a:lnSpc>
              <a:spcBef>
                <a:spcPts val="0"/>
              </a:spcBef>
              <a:spcAft>
                <a:spcPts val="300"/>
              </a:spcAft>
              <a:buClr>
                <a:schemeClr val="accent1"/>
              </a:buClr>
              <a:buFont typeface="Calibri" pitchFamily="34" charset="0"/>
              <a:buChar char="◦"/>
              <a:defRPr sz="1050" kern="1200">
                <a:solidFill>
                  <a:schemeClr val="tx1">
                    <a:lumMod val="75000"/>
                    <a:lumOff val="25000"/>
                  </a:schemeClr>
                </a:solidFill>
                <a:latin typeface="+mn-lt"/>
                <a:ea typeface="+mn-ea"/>
                <a:cs typeface="+mn-cs"/>
              </a:defRPr>
            </a:lvl3pPr>
            <a:lvl4pPr marL="562356" lvl="3" indent="-137160" algn="l" defTabSz="685800" rtl="0" eaLnBrk="1" latinLnBrk="0" hangingPunct="1">
              <a:lnSpc>
                <a:spcPct val="90000"/>
              </a:lnSpc>
              <a:spcBef>
                <a:spcPts val="0"/>
              </a:spcBef>
              <a:spcAft>
                <a:spcPts val="300"/>
              </a:spcAft>
              <a:buClr>
                <a:schemeClr val="accent1"/>
              </a:buClr>
              <a:buFont typeface="Calibri" pitchFamily="34" charset="0"/>
              <a:buChar char="◦"/>
              <a:defRPr sz="1050" kern="1200">
                <a:solidFill>
                  <a:schemeClr val="tx1">
                    <a:lumMod val="75000"/>
                    <a:lumOff val="25000"/>
                  </a:schemeClr>
                </a:solidFill>
                <a:latin typeface="+mn-lt"/>
                <a:ea typeface="+mn-ea"/>
                <a:cs typeface="+mn-cs"/>
              </a:defRPr>
            </a:lvl4pPr>
            <a:lvl5pPr marL="699516" lvl="4" indent="-137160" algn="l" defTabSz="685800" rtl="0" eaLnBrk="1" latinLnBrk="0" hangingPunct="1">
              <a:lnSpc>
                <a:spcPct val="90000"/>
              </a:lnSpc>
              <a:spcBef>
                <a:spcPts val="0"/>
              </a:spcBef>
              <a:spcAft>
                <a:spcPts val="300"/>
              </a:spcAft>
              <a:buClr>
                <a:schemeClr val="accent1"/>
              </a:buClr>
              <a:buFont typeface="Calibri" pitchFamily="34" charset="0"/>
              <a:buChar char="◦"/>
              <a:defRPr sz="1050" kern="1200">
                <a:solidFill>
                  <a:schemeClr val="tx1">
                    <a:lumMod val="75000"/>
                    <a:lumOff val="25000"/>
                  </a:schemeClr>
                </a:solidFill>
                <a:latin typeface="+mn-lt"/>
                <a:ea typeface="+mn-ea"/>
                <a:cs typeface="+mn-cs"/>
              </a:defRPr>
            </a:lvl5pPr>
            <a:lvl6pPr marL="825000" lvl="5" indent="-171450" algn="l" defTabSz="685800" rtl="0" eaLnBrk="1" latinLnBrk="0" hangingPunct="1">
              <a:lnSpc>
                <a:spcPct val="90000"/>
              </a:lnSpc>
              <a:spcBef>
                <a:spcPts val="0"/>
              </a:spcBef>
              <a:spcAft>
                <a:spcPts val="300"/>
              </a:spcAft>
              <a:buClr>
                <a:schemeClr val="accent1"/>
              </a:buClr>
              <a:buFont typeface="Calibri" pitchFamily="34" charset="0"/>
              <a:buChar char="◦"/>
              <a:defRPr sz="1050" kern="1200">
                <a:solidFill>
                  <a:schemeClr val="tx1">
                    <a:lumMod val="75000"/>
                    <a:lumOff val="25000"/>
                  </a:schemeClr>
                </a:solidFill>
                <a:latin typeface="+mn-lt"/>
                <a:ea typeface="+mn-ea"/>
                <a:cs typeface="+mn-cs"/>
              </a:defRPr>
            </a:lvl6pPr>
            <a:lvl7pPr marL="975000" lvl="6" indent="-171450" algn="l" defTabSz="685800" rtl="0" eaLnBrk="1" latinLnBrk="0" hangingPunct="1">
              <a:lnSpc>
                <a:spcPct val="90000"/>
              </a:lnSpc>
              <a:spcBef>
                <a:spcPts val="0"/>
              </a:spcBef>
              <a:spcAft>
                <a:spcPts val="300"/>
              </a:spcAft>
              <a:buClr>
                <a:schemeClr val="accent1"/>
              </a:buClr>
              <a:buFont typeface="Calibri" pitchFamily="34" charset="0"/>
              <a:buChar char="◦"/>
              <a:defRPr sz="1050" kern="1200">
                <a:solidFill>
                  <a:schemeClr val="tx1">
                    <a:lumMod val="75000"/>
                    <a:lumOff val="25000"/>
                  </a:schemeClr>
                </a:solidFill>
                <a:latin typeface="+mn-lt"/>
                <a:ea typeface="+mn-ea"/>
                <a:cs typeface="+mn-cs"/>
              </a:defRPr>
            </a:lvl7pPr>
            <a:lvl8pPr marL="1125000" lvl="7" indent="-171450" algn="l" defTabSz="685800" rtl="0" eaLnBrk="1" latinLnBrk="0" hangingPunct="1">
              <a:lnSpc>
                <a:spcPct val="90000"/>
              </a:lnSpc>
              <a:spcBef>
                <a:spcPts val="0"/>
              </a:spcBef>
              <a:spcAft>
                <a:spcPts val="300"/>
              </a:spcAft>
              <a:buClr>
                <a:schemeClr val="accent1"/>
              </a:buClr>
              <a:buFont typeface="Calibri" pitchFamily="34" charset="0"/>
              <a:buChar char="◦"/>
              <a:defRPr sz="1050" kern="1200">
                <a:solidFill>
                  <a:schemeClr val="tx1">
                    <a:lumMod val="75000"/>
                    <a:lumOff val="25000"/>
                  </a:schemeClr>
                </a:solidFill>
                <a:latin typeface="+mn-lt"/>
                <a:ea typeface="+mn-ea"/>
                <a:cs typeface="+mn-cs"/>
              </a:defRPr>
            </a:lvl8pPr>
            <a:lvl9pPr marL="1275000" lvl="8" indent="-171450" algn="l" defTabSz="685800" rtl="0" eaLnBrk="1" latinLnBrk="0" hangingPunct="1">
              <a:lnSpc>
                <a:spcPct val="90000"/>
              </a:lnSpc>
              <a:spcBef>
                <a:spcPts val="0"/>
              </a:spcBef>
              <a:spcAft>
                <a:spcPts val="300"/>
              </a:spcAft>
              <a:buClr>
                <a:schemeClr val="accent1"/>
              </a:buClr>
              <a:buFont typeface="Calibri" pitchFamily="34" charset="0"/>
              <a:buChar char="◦"/>
              <a:defRPr sz="1050" kern="1200">
                <a:solidFill>
                  <a:schemeClr val="tx1">
                    <a:lumMod val="75000"/>
                    <a:lumOff val="25000"/>
                  </a:schemeClr>
                </a:solidFill>
                <a:latin typeface="+mn-lt"/>
                <a:ea typeface="+mn-ea"/>
                <a:cs typeface="+mn-cs"/>
              </a:defRPr>
            </a:lvl9pPr>
          </a:lstStyle>
          <a:p>
            <a:pPr marL="342900" lvl="1" indent="-342900">
              <a:spcAft>
                <a:spcPts val="150"/>
              </a:spcAft>
              <a:buSzPct val="100000"/>
              <a:buFont typeface="Wingdings" panose="05000000000000000000" pitchFamily="2" charset="2"/>
              <a:buChar char="§"/>
            </a:pPr>
            <a:r>
              <a:rPr lang="en-US" sz="2000" dirty="0" smtClean="0">
                <a:solidFill>
                  <a:schemeClr val="tx1"/>
                </a:solidFill>
                <a:latin typeface="Times New Roman" panose="02020603050405020304" pitchFamily="18" charset="0"/>
                <a:cs typeface="Times New Roman" panose="02020603050405020304" pitchFamily="18" charset="0"/>
              </a:rPr>
              <a:t>Where µ </a:t>
            </a:r>
            <a:r>
              <a:rPr lang="en-US" sz="2000" dirty="0">
                <a:solidFill>
                  <a:schemeClr val="tx1"/>
                </a:solidFill>
                <a:latin typeface="Times New Roman" panose="02020603050405020304" pitchFamily="18" charset="0"/>
                <a:cs typeface="Times New Roman" panose="02020603050405020304" pitchFamily="18" charset="0"/>
              </a:rPr>
              <a:t>is defined as the mean of the </a:t>
            </a:r>
            <a:r>
              <a:rPr lang="en-US" sz="2000" dirty="0" smtClean="0">
                <a:solidFill>
                  <a:schemeClr val="tx1"/>
                </a:solidFill>
                <a:latin typeface="Times New Roman" panose="02020603050405020304" pitchFamily="18" charset="0"/>
                <a:cs typeface="Times New Roman" panose="02020603050405020304" pitchFamily="18" charset="0"/>
              </a:rPr>
              <a:t>dimension d</a:t>
            </a:r>
          </a:p>
          <a:p>
            <a:pPr marL="342900" lvl="1" indent="-342900">
              <a:spcAft>
                <a:spcPts val="150"/>
              </a:spcAft>
              <a:buSzPct val="100000"/>
              <a:buFont typeface="Wingdings" panose="05000000000000000000" pitchFamily="2" charset="2"/>
              <a:buChar char="§"/>
            </a:pPr>
            <a:r>
              <a:rPr lang="en-US" sz="2000" dirty="0" smtClean="0">
                <a:solidFill>
                  <a:schemeClr val="tx1"/>
                </a:solidFill>
                <a:latin typeface="Times New Roman" panose="02020603050405020304" pitchFamily="18" charset="0"/>
                <a:cs typeface="Times New Roman" panose="02020603050405020304" pitchFamily="18" charset="0"/>
              </a:rPr>
              <a:t>Standard deviation is </a:t>
            </a:r>
            <a:r>
              <a:rPr lang="en-US" sz="2000" dirty="0">
                <a:solidFill>
                  <a:schemeClr val="tx1"/>
                </a:solidFill>
                <a:latin typeface="Times New Roman" panose="02020603050405020304" pitchFamily="18" charset="0"/>
                <a:cs typeface="Times New Roman" panose="02020603050405020304" pitchFamily="18" charset="0"/>
              </a:rPr>
              <a:t>calculated as follows</a:t>
            </a:r>
          </a:p>
        </p:txBody>
      </p:sp>
      <p:pic>
        <p:nvPicPr>
          <p:cNvPr id="8" name="Picture 7"/>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263770" y="3644014"/>
            <a:ext cx="2276793" cy="588830"/>
          </a:xfrm>
          <a:prstGeom prst="rect">
            <a:avLst/>
          </a:prstGeom>
        </p:spPr>
      </p:pic>
      <p:sp>
        <p:nvSpPr>
          <p:cNvPr id="5" name="TextBox 4"/>
          <p:cNvSpPr txBox="1"/>
          <p:nvPr/>
        </p:nvSpPr>
        <p:spPr>
          <a:xfrm>
            <a:off x="7624894" y="2335720"/>
            <a:ext cx="463304" cy="307777"/>
          </a:xfrm>
          <a:prstGeom prst="rect">
            <a:avLst/>
          </a:prstGeom>
          <a:noFill/>
        </p:spPr>
        <p:txBody>
          <a:bodyPr wrap="square" rtlCol="0">
            <a:spAutoFit/>
          </a:bodyPr>
          <a:lstStyle/>
          <a:p>
            <a:r>
              <a:rPr lang="en-US" dirty="0" smtClean="0"/>
              <a:t>(3)</a:t>
            </a:r>
            <a:endParaRPr lang="en-US" dirty="0"/>
          </a:p>
        </p:txBody>
      </p:sp>
      <p:sp>
        <p:nvSpPr>
          <p:cNvPr id="9" name="TextBox 8"/>
          <p:cNvSpPr txBox="1"/>
          <p:nvPr/>
        </p:nvSpPr>
        <p:spPr>
          <a:xfrm>
            <a:off x="7660452" y="3688188"/>
            <a:ext cx="631596" cy="307777"/>
          </a:xfrm>
          <a:prstGeom prst="rect">
            <a:avLst/>
          </a:prstGeom>
          <a:noFill/>
        </p:spPr>
        <p:txBody>
          <a:bodyPr wrap="square" rtlCol="0">
            <a:spAutoFit/>
          </a:bodyPr>
          <a:lstStyle/>
          <a:p>
            <a:r>
              <a:rPr lang="en-US" dirty="0" smtClean="0"/>
              <a:t>(4)</a:t>
            </a:r>
            <a:endParaRPr lang="en-US" dirty="0"/>
          </a:p>
        </p:txBody>
      </p:sp>
    </p:spTree>
    <p:extLst>
      <p:ext uri="{BB962C8B-B14F-4D97-AF65-F5344CB8AC3E}">
        <p14:creationId xmlns:p14="http://schemas.microsoft.com/office/powerpoint/2010/main" val="3438850297"/>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07000" y="718329"/>
            <a:ext cx="8520600" cy="572700"/>
          </a:xfrm>
        </p:spPr>
        <p:txBody>
          <a:bodyPr>
            <a:noAutofit/>
          </a:bodyPr>
          <a:lstStyle/>
          <a:p>
            <a:r>
              <a:rPr lang="en-US" sz="3200" b="1" dirty="0" smtClean="0">
                <a:solidFill>
                  <a:schemeClr val="tx1"/>
                </a:solidFill>
                <a:latin typeface="Times New Roman" panose="02020603050405020304" pitchFamily="18" charset="0"/>
                <a:ea typeface="Calibri"/>
                <a:cs typeface="Times New Roman" panose="02020603050405020304" pitchFamily="18" charset="0"/>
              </a:rPr>
              <a:t>MV-MACO</a:t>
            </a:r>
            <a:endParaRPr lang="en-US" sz="3200" b="1" dirty="0">
              <a:solidFill>
                <a:schemeClr val="tx1"/>
              </a:solidFill>
              <a:latin typeface="Times New Roman" panose="02020603050405020304" pitchFamily="18" charset="0"/>
              <a:ea typeface="Calibri"/>
              <a:cs typeface="Times New Roman" panose="02020603050405020304" pitchFamily="18" charset="0"/>
            </a:endParaRPr>
          </a:p>
        </p:txBody>
      </p:sp>
      <p:sp>
        <p:nvSpPr>
          <p:cNvPr id="3" name="Text Placeholder 2"/>
          <p:cNvSpPr>
            <a:spLocks noGrp="1"/>
          </p:cNvSpPr>
          <p:nvPr>
            <p:ph type="body" idx="1"/>
          </p:nvPr>
        </p:nvSpPr>
        <p:spPr>
          <a:xfrm>
            <a:off x="807000" y="1291029"/>
            <a:ext cx="8025300" cy="720651"/>
          </a:xfrm>
        </p:spPr>
        <p:txBody>
          <a:bodyPr>
            <a:noAutofit/>
          </a:bodyPr>
          <a:lstStyle/>
          <a:p>
            <a:pPr marL="342900" lvl="1" indent="-342900">
              <a:spcAft>
                <a:spcPts val="150"/>
              </a:spcAft>
              <a:buSzPct val="100000"/>
              <a:buFont typeface="Wingdings" panose="05000000000000000000" pitchFamily="2" charset="2"/>
              <a:buChar char="§"/>
            </a:pPr>
            <a:r>
              <a:rPr lang="en-US" sz="2000" dirty="0" smtClean="0">
                <a:solidFill>
                  <a:schemeClr val="tx1"/>
                </a:solidFill>
                <a:latin typeface="Times New Roman" panose="02020603050405020304" pitchFamily="18" charset="0"/>
                <a:cs typeface="Times New Roman" panose="02020603050405020304" pitchFamily="18" charset="0"/>
              </a:rPr>
              <a:t>For </a:t>
            </a:r>
            <a:r>
              <a:rPr lang="en-US" sz="2000" dirty="0">
                <a:solidFill>
                  <a:schemeClr val="tx1"/>
                </a:solidFill>
                <a:latin typeface="Times New Roman" panose="02020603050405020304" pitchFamily="18" charset="0"/>
                <a:cs typeface="Times New Roman" panose="02020603050405020304" pitchFamily="18" charset="0"/>
              </a:rPr>
              <a:t>each categorical attribute ant chooses one </a:t>
            </a:r>
            <a:r>
              <a:rPr lang="en-US" sz="2000" dirty="0" smtClean="0">
                <a:solidFill>
                  <a:schemeClr val="tx1"/>
                </a:solidFill>
                <a:latin typeface="Times New Roman" panose="02020603050405020304" pitchFamily="18" charset="0"/>
                <a:cs typeface="Times New Roman" panose="02020603050405020304" pitchFamily="18" charset="0"/>
              </a:rPr>
              <a:t>of the </a:t>
            </a:r>
            <a:r>
              <a:rPr lang="en-US" sz="2000" dirty="0">
                <a:solidFill>
                  <a:schemeClr val="tx1"/>
                </a:solidFill>
                <a:latin typeface="Times New Roman" panose="02020603050405020304" pitchFamily="18" charset="0"/>
                <a:cs typeface="Times New Roman" panose="02020603050405020304" pitchFamily="18" charset="0"/>
              </a:rPr>
              <a:t>available values </a:t>
            </a:r>
            <a:r>
              <a:rPr lang="en-US" sz="2000" dirty="0" smtClean="0">
                <a:solidFill>
                  <a:schemeClr val="tx1"/>
                </a:solidFill>
                <a:latin typeface="Times New Roman" panose="02020603050405020304" pitchFamily="18" charset="0"/>
                <a:cs typeface="Times New Roman" panose="02020603050405020304" pitchFamily="18" charset="0"/>
              </a:rPr>
              <a:t>probabilistically using </a:t>
            </a:r>
          </a:p>
          <a:p>
            <a:pPr marL="342900" lvl="1" indent="-342900">
              <a:spcAft>
                <a:spcPts val="150"/>
              </a:spcAft>
              <a:buSzPct val="100000"/>
              <a:buFont typeface="Wingdings" panose="05000000000000000000" pitchFamily="2" charset="2"/>
              <a:buChar char="§"/>
            </a:pPr>
            <a:endParaRPr lang="en-US" sz="2000" dirty="0">
              <a:solidFill>
                <a:schemeClr val="tx1"/>
              </a:solidFill>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idx="12"/>
          </p:nvPr>
        </p:nvSpPr>
        <p:spPr/>
        <p:txBody>
          <a:bodyPr/>
          <a:lstStyle/>
          <a:p>
            <a:fld id="{00000000-1234-1234-1234-123412341234}" type="slidenum">
              <a:rPr lang="en" smtClean="0"/>
              <a:pPr/>
              <a:t>31</a:t>
            </a:fld>
            <a:endParaRPr lang="en" dirty="0"/>
          </a:p>
        </p:txBody>
      </p:sp>
      <p:sp>
        <p:nvSpPr>
          <p:cNvPr id="7" name="Text Placeholder 2"/>
          <p:cNvSpPr txBox="1">
            <a:spLocks/>
          </p:cNvSpPr>
          <p:nvPr/>
        </p:nvSpPr>
        <p:spPr>
          <a:xfrm>
            <a:off x="839423" y="3392564"/>
            <a:ext cx="8025300" cy="1572941"/>
          </a:xfrm>
          <a:prstGeom prst="rect">
            <a:avLst/>
          </a:prstGeom>
        </p:spPr>
        <p:txBody>
          <a:bodyPr vert="horz" wrap="square" lIns="91425" tIns="91425" rIns="91425" bIns="91425" rtlCol="0" anchor="t" anchorCtr="0">
            <a:noAutofit/>
          </a:bodyPr>
          <a:lstStyle>
            <a:lvl1pPr marL="68580" lvl="0" indent="-68580" algn="l" defTabSz="685800" rtl="0" eaLnBrk="1" latinLnBrk="0" hangingPunct="1">
              <a:lnSpc>
                <a:spcPct val="90000"/>
              </a:lnSpc>
              <a:spcBef>
                <a:spcPts val="0"/>
              </a:spcBef>
              <a:spcAft>
                <a:spcPts val="150"/>
              </a:spcAft>
              <a:buClr>
                <a:schemeClr val="accent1"/>
              </a:buClr>
              <a:buSzPct val="100000"/>
              <a:buFont typeface="Calibri" panose="020F0502020204030204" pitchFamily="34" charset="0"/>
              <a:buChar char=" "/>
              <a:defRPr sz="1500" kern="1200">
                <a:solidFill>
                  <a:schemeClr val="tx1">
                    <a:lumMod val="75000"/>
                    <a:lumOff val="25000"/>
                  </a:schemeClr>
                </a:solidFill>
                <a:latin typeface="+mn-lt"/>
                <a:ea typeface="+mn-ea"/>
                <a:cs typeface="+mn-cs"/>
              </a:defRPr>
            </a:lvl1pPr>
            <a:lvl2pPr marL="288036" lvl="1" indent="-137160" algn="l" defTabSz="685800" rtl="0" eaLnBrk="1" latinLnBrk="0" hangingPunct="1">
              <a:lnSpc>
                <a:spcPct val="90000"/>
              </a:lnSpc>
              <a:spcBef>
                <a:spcPts val="0"/>
              </a:spcBef>
              <a:spcAft>
                <a:spcPts val="300"/>
              </a:spcAft>
              <a:buClr>
                <a:schemeClr val="accent1"/>
              </a:buClr>
              <a:buFont typeface="Calibri" pitchFamily="34" charset="0"/>
              <a:buChar char="◦"/>
              <a:defRPr sz="1350" kern="1200">
                <a:solidFill>
                  <a:schemeClr val="tx1">
                    <a:lumMod val="75000"/>
                    <a:lumOff val="25000"/>
                  </a:schemeClr>
                </a:solidFill>
                <a:latin typeface="+mn-lt"/>
                <a:ea typeface="+mn-ea"/>
                <a:cs typeface="+mn-cs"/>
              </a:defRPr>
            </a:lvl2pPr>
            <a:lvl3pPr marL="425196" lvl="2" indent="-137160" algn="l" defTabSz="685800" rtl="0" eaLnBrk="1" latinLnBrk="0" hangingPunct="1">
              <a:lnSpc>
                <a:spcPct val="90000"/>
              </a:lnSpc>
              <a:spcBef>
                <a:spcPts val="0"/>
              </a:spcBef>
              <a:spcAft>
                <a:spcPts val="300"/>
              </a:spcAft>
              <a:buClr>
                <a:schemeClr val="accent1"/>
              </a:buClr>
              <a:buFont typeface="Calibri" pitchFamily="34" charset="0"/>
              <a:buChar char="◦"/>
              <a:defRPr sz="1050" kern="1200">
                <a:solidFill>
                  <a:schemeClr val="tx1">
                    <a:lumMod val="75000"/>
                    <a:lumOff val="25000"/>
                  </a:schemeClr>
                </a:solidFill>
                <a:latin typeface="+mn-lt"/>
                <a:ea typeface="+mn-ea"/>
                <a:cs typeface="+mn-cs"/>
              </a:defRPr>
            </a:lvl3pPr>
            <a:lvl4pPr marL="562356" lvl="3" indent="-137160" algn="l" defTabSz="685800" rtl="0" eaLnBrk="1" latinLnBrk="0" hangingPunct="1">
              <a:lnSpc>
                <a:spcPct val="90000"/>
              </a:lnSpc>
              <a:spcBef>
                <a:spcPts val="0"/>
              </a:spcBef>
              <a:spcAft>
                <a:spcPts val="300"/>
              </a:spcAft>
              <a:buClr>
                <a:schemeClr val="accent1"/>
              </a:buClr>
              <a:buFont typeface="Calibri" pitchFamily="34" charset="0"/>
              <a:buChar char="◦"/>
              <a:defRPr sz="1050" kern="1200">
                <a:solidFill>
                  <a:schemeClr val="tx1">
                    <a:lumMod val="75000"/>
                    <a:lumOff val="25000"/>
                  </a:schemeClr>
                </a:solidFill>
                <a:latin typeface="+mn-lt"/>
                <a:ea typeface="+mn-ea"/>
                <a:cs typeface="+mn-cs"/>
              </a:defRPr>
            </a:lvl4pPr>
            <a:lvl5pPr marL="699516" lvl="4" indent="-137160" algn="l" defTabSz="685800" rtl="0" eaLnBrk="1" latinLnBrk="0" hangingPunct="1">
              <a:lnSpc>
                <a:spcPct val="90000"/>
              </a:lnSpc>
              <a:spcBef>
                <a:spcPts val="0"/>
              </a:spcBef>
              <a:spcAft>
                <a:spcPts val="300"/>
              </a:spcAft>
              <a:buClr>
                <a:schemeClr val="accent1"/>
              </a:buClr>
              <a:buFont typeface="Calibri" pitchFamily="34" charset="0"/>
              <a:buChar char="◦"/>
              <a:defRPr sz="1050" kern="1200">
                <a:solidFill>
                  <a:schemeClr val="tx1">
                    <a:lumMod val="75000"/>
                    <a:lumOff val="25000"/>
                  </a:schemeClr>
                </a:solidFill>
                <a:latin typeface="+mn-lt"/>
                <a:ea typeface="+mn-ea"/>
                <a:cs typeface="+mn-cs"/>
              </a:defRPr>
            </a:lvl5pPr>
            <a:lvl6pPr marL="825000" lvl="5" indent="-171450" algn="l" defTabSz="685800" rtl="0" eaLnBrk="1" latinLnBrk="0" hangingPunct="1">
              <a:lnSpc>
                <a:spcPct val="90000"/>
              </a:lnSpc>
              <a:spcBef>
                <a:spcPts val="0"/>
              </a:spcBef>
              <a:spcAft>
                <a:spcPts val="300"/>
              </a:spcAft>
              <a:buClr>
                <a:schemeClr val="accent1"/>
              </a:buClr>
              <a:buFont typeface="Calibri" pitchFamily="34" charset="0"/>
              <a:buChar char="◦"/>
              <a:defRPr sz="1050" kern="1200">
                <a:solidFill>
                  <a:schemeClr val="tx1">
                    <a:lumMod val="75000"/>
                    <a:lumOff val="25000"/>
                  </a:schemeClr>
                </a:solidFill>
                <a:latin typeface="+mn-lt"/>
                <a:ea typeface="+mn-ea"/>
                <a:cs typeface="+mn-cs"/>
              </a:defRPr>
            </a:lvl6pPr>
            <a:lvl7pPr marL="975000" lvl="6" indent="-171450" algn="l" defTabSz="685800" rtl="0" eaLnBrk="1" latinLnBrk="0" hangingPunct="1">
              <a:lnSpc>
                <a:spcPct val="90000"/>
              </a:lnSpc>
              <a:spcBef>
                <a:spcPts val="0"/>
              </a:spcBef>
              <a:spcAft>
                <a:spcPts val="300"/>
              </a:spcAft>
              <a:buClr>
                <a:schemeClr val="accent1"/>
              </a:buClr>
              <a:buFont typeface="Calibri" pitchFamily="34" charset="0"/>
              <a:buChar char="◦"/>
              <a:defRPr sz="1050" kern="1200">
                <a:solidFill>
                  <a:schemeClr val="tx1">
                    <a:lumMod val="75000"/>
                    <a:lumOff val="25000"/>
                  </a:schemeClr>
                </a:solidFill>
                <a:latin typeface="+mn-lt"/>
                <a:ea typeface="+mn-ea"/>
                <a:cs typeface="+mn-cs"/>
              </a:defRPr>
            </a:lvl7pPr>
            <a:lvl8pPr marL="1125000" lvl="7" indent="-171450" algn="l" defTabSz="685800" rtl="0" eaLnBrk="1" latinLnBrk="0" hangingPunct="1">
              <a:lnSpc>
                <a:spcPct val="90000"/>
              </a:lnSpc>
              <a:spcBef>
                <a:spcPts val="0"/>
              </a:spcBef>
              <a:spcAft>
                <a:spcPts val="300"/>
              </a:spcAft>
              <a:buClr>
                <a:schemeClr val="accent1"/>
              </a:buClr>
              <a:buFont typeface="Calibri" pitchFamily="34" charset="0"/>
              <a:buChar char="◦"/>
              <a:defRPr sz="1050" kern="1200">
                <a:solidFill>
                  <a:schemeClr val="tx1">
                    <a:lumMod val="75000"/>
                    <a:lumOff val="25000"/>
                  </a:schemeClr>
                </a:solidFill>
                <a:latin typeface="+mn-lt"/>
                <a:ea typeface="+mn-ea"/>
                <a:cs typeface="+mn-cs"/>
              </a:defRPr>
            </a:lvl8pPr>
            <a:lvl9pPr marL="1275000" lvl="8" indent="-171450" algn="l" defTabSz="685800" rtl="0" eaLnBrk="1" latinLnBrk="0" hangingPunct="1">
              <a:lnSpc>
                <a:spcPct val="90000"/>
              </a:lnSpc>
              <a:spcBef>
                <a:spcPts val="0"/>
              </a:spcBef>
              <a:spcAft>
                <a:spcPts val="300"/>
              </a:spcAft>
              <a:buClr>
                <a:schemeClr val="accent1"/>
              </a:buClr>
              <a:buFont typeface="Calibri" pitchFamily="34" charset="0"/>
              <a:buChar char="◦"/>
              <a:defRPr sz="1050" kern="1200">
                <a:solidFill>
                  <a:schemeClr val="tx1">
                    <a:lumMod val="75000"/>
                    <a:lumOff val="25000"/>
                  </a:schemeClr>
                </a:solidFill>
                <a:latin typeface="+mn-lt"/>
                <a:ea typeface="+mn-ea"/>
                <a:cs typeface="+mn-cs"/>
              </a:defRPr>
            </a:lvl9pPr>
          </a:lstStyle>
          <a:p>
            <a:pPr marL="342900" lvl="1" indent="-342900">
              <a:spcAft>
                <a:spcPts val="150"/>
              </a:spcAft>
              <a:buSzPct val="100000"/>
              <a:buFont typeface="Wingdings" panose="05000000000000000000" pitchFamily="2" charset="2"/>
              <a:buChar char="§"/>
            </a:pPr>
            <a:endParaRPr lang="en-US" sz="2000" dirty="0">
              <a:solidFill>
                <a:schemeClr val="tx1"/>
              </a:solidFill>
              <a:latin typeface="Times New Roman" panose="02020603050405020304" pitchFamily="18" charset="0"/>
              <a:cs typeface="Times New Roman" panose="02020603050405020304" pitchFamily="18" charset="0"/>
            </a:endParaRPr>
          </a:p>
        </p:txBody>
      </p:sp>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724157" y="1891949"/>
            <a:ext cx="1320284" cy="576931"/>
          </a:xfrm>
          <a:prstGeom prst="rect">
            <a:avLst/>
          </a:prstGeom>
        </p:spPr>
      </p:pic>
      <p:sp>
        <p:nvSpPr>
          <p:cNvPr id="9" name="Text Placeholder 2"/>
          <p:cNvSpPr txBox="1">
            <a:spLocks/>
          </p:cNvSpPr>
          <p:nvPr/>
        </p:nvSpPr>
        <p:spPr>
          <a:xfrm>
            <a:off x="839423" y="2468881"/>
            <a:ext cx="8025300" cy="466484"/>
          </a:xfrm>
          <a:prstGeom prst="rect">
            <a:avLst/>
          </a:prstGeom>
        </p:spPr>
        <p:txBody>
          <a:bodyPr vert="horz" wrap="square" lIns="91425" tIns="91425" rIns="91425" bIns="91425" rtlCol="0" anchor="t" anchorCtr="0">
            <a:noAutofit/>
          </a:bodyPr>
          <a:lstStyle>
            <a:lvl1pPr marL="68580" lvl="0" indent="-68580" algn="l" defTabSz="685800" rtl="0" eaLnBrk="1" latinLnBrk="0" hangingPunct="1">
              <a:lnSpc>
                <a:spcPct val="90000"/>
              </a:lnSpc>
              <a:spcBef>
                <a:spcPts val="0"/>
              </a:spcBef>
              <a:spcAft>
                <a:spcPts val="150"/>
              </a:spcAft>
              <a:buClr>
                <a:schemeClr val="accent1"/>
              </a:buClr>
              <a:buSzPct val="100000"/>
              <a:buFont typeface="Calibri" panose="020F0502020204030204" pitchFamily="34" charset="0"/>
              <a:buChar char=" "/>
              <a:defRPr sz="1500" kern="1200">
                <a:solidFill>
                  <a:schemeClr val="tx1">
                    <a:lumMod val="75000"/>
                    <a:lumOff val="25000"/>
                  </a:schemeClr>
                </a:solidFill>
                <a:latin typeface="+mn-lt"/>
                <a:ea typeface="+mn-ea"/>
                <a:cs typeface="+mn-cs"/>
              </a:defRPr>
            </a:lvl1pPr>
            <a:lvl2pPr marL="288036" lvl="1" indent="-137160" algn="l" defTabSz="685800" rtl="0" eaLnBrk="1" latinLnBrk="0" hangingPunct="1">
              <a:lnSpc>
                <a:spcPct val="90000"/>
              </a:lnSpc>
              <a:spcBef>
                <a:spcPts val="0"/>
              </a:spcBef>
              <a:spcAft>
                <a:spcPts val="300"/>
              </a:spcAft>
              <a:buClr>
                <a:schemeClr val="accent1"/>
              </a:buClr>
              <a:buFont typeface="Calibri" pitchFamily="34" charset="0"/>
              <a:buChar char="◦"/>
              <a:defRPr sz="1350" kern="1200">
                <a:solidFill>
                  <a:schemeClr val="tx1">
                    <a:lumMod val="75000"/>
                    <a:lumOff val="25000"/>
                  </a:schemeClr>
                </a:solidFill>
                <a:latin typeface="+mn-lt"/>
                <a:ea typeface="+mn-ea"/>
                <a:cs typeface="+mn-cs"/>
              </a:defRPr>
            </a:lvl2pPr>
            <a:lvl3pPr marL="425196" lvl="2" indent="-137160" algn="l" defTabSz="685800" rtl="0" eaLnBrk="1" latinLnBrk="0" hangingPunct="1">
              <a:lnSpc>
                <a:spcPct val="90000"/>
              </a:lnSpc>
              <a:spcBef>
                <a:spcPts val="0"/>
              </a:spcBef>
              <a:spcAft>
                <a:spcPts val="300"/>
              </a:spcAft>
              <a:buClr>
                <a:schemeClr val="accent1"/>
              </a:buClr>
              <a:buFont typeface="Calibri" pitchFamily="34" charset="0"/>
              <a:buChar char="◦"/>
              <a:defRPr sz="1050" kern="1200">
                <a:solidFill>
                  <a:schemeClr val="tx1">
                    <a:lumMod val="75000"/>
                    <a:lumOff val="25000"/>
                  </a:schemeClr>
                </a:solidFill>
                <a:latin typeface="+mn-lt"/>
                <a:ea typeface="+mn-ea"/>
                <a:cs typeface="+mn-cs"/>
              </a:defRPr>
            </a:lvl3pPr>
            <a:lvl4pPr marL="562356" lvl="3" indent="-137160" algn="l" defTabSz="685800" rtl="0" eaLnBrk="1" latinLnBrk="0" hangingPunct="1">
              <a:lnSpc>
                <a:spcPct val="90000"/>
              </a:lnSpc>
              <a:spcBef>
                <a:spcPts val="0"/>
              </a:spcBef>
              <a:spcAft>
                <a:spcPts val="300"/>
              </a:spcAft>
              <a:buClr>
                <a:schemeClr val="accent1"/>
              </a:buClr>
              <a:buFont typeface="Calibri" pitchFamily="34" charset="0"/>
              <a:buChar char="◦"/>
              <a:defRPr sz="1050" kern="1200">
                <a:solidFill>
                  <a:schemeClr val="tx1">
                    <a:lumMod val="75000"/>
                    <a:lumOff val="25000"/>
                  </a:schemeClr>
                </a:solidFill>
                <a:latin typeface="+mn-lt"/>
                <a:ea typeface="+mn-ea"/>
                <a:cs typeface="+mn-cs"/>
              </a:defRPr>
            </a:lvl4pPr>
            <a:lvl5pPr marL="699516" lvl="4" indent="-137160" algn="l" defTabSz="685800" rtl="0" eaLnBrk="1" latinLnBrk="0" hangingPunct="1">
              <a:lnSpc>
                <a:spcPct val="90000"/>
              </a:lnSpc>
              <a:spcBef>
                <a:spcPts val="0"/>
              </a:spcBef>
              <a:spcAft>
                <a:spcPts val="300"/>
              </a:spcAft>
              <a:buClr>
                <a:schemeClr val="accent1"/>
              </a:buClr>
              <a:buFont typeface="Calibri" pitchFamily="34" charset="0"/>
              <a:buChar char="◦"/>
              <a:defRPr sz="1050" kern="1200">
                <a:solidFill>
                  <a:schemeClr val="tx1">
                    <a:lumMod val="75000"/>
                    <a:lumOff val="25000"/>
                  </a:schemeClr>
                </a:solidFill>
                <a:latin typeface="+mn-lt"/>
                <a:ea typeface="+mn-ea"/>
                <a:cs typeface="+mn-cs"/>
              </a:defRPr>
            </a:lvl5pPr>
            <a:lvl6pPr marL="825000" lvl="5" indent="-171450" algn="l" defTabSz="685800" rtl="0" eaLnBrk="1" latinLnBrk="0" hangingPunct="1">
              <a:lnSpc>
                <a:spcPct val="90000"/>
              </a:lnSpc>
              <a:spcBef>
                <a:spcPts val="0"/>
              </a:spcBef>
              <a:spcAft>
                <a:spcPts val="300"/>
              </a:spcAft>
              <a:buClr>
                <a:schemeClr val="accent1"/>
              </a:buClr>
              <a:buFont typeface="Calibri" pitchFamily="34" charset="0"/>
              <a:buChar char="◦"/>
              <a:defRPr sz="1050" kern="1200">
                <a:solidFill>
                  <a:schemeClr val="tx1">
                    <a:lumMod val="75000"/>
                    <a:lumOff val="25000"/>
                  </a:schemeClr>
                </a:solidFill>
                <a:latin typeface="+mn-lt"/>
                <a:ea typeface="+mn-ea"/>
                <a:cs typeface="+mn-cs"/>
              </a:defRPr>
            </a:lvl6pPr>
            <a:lvl7pPr marL="975000" lvl="6" indent="-171450" algn="l" defTabSz="685800" rtl="0" eaLnBrk="1" latinLnBrk="0" hangingPunct="1">
              <a:lnSpc>
                <a:spcPct val="90000"/>
              </a:lnSpc>
              <a:spcBef>
                <a:spcPts val="0"/>
              </a:spcBef>
              <a:spcAft>
                <a:spcPts val="300"/>
              </a:spcAft>
              <a:buClr>
                <a:schemeClr val="accent1"/>
              </a:buClr>
              <a:buFont typeface="Calibri" pitchFamily="34" charset="0"/>
              <a:buChar char="◦"/>
              <a:defRPr sz="1050" kern="1200">
                <a:solidFill>
                  <a:schemeClr val="tx1">
                    <a:lumMod val="75000"/>
                    <a:lumOff val="25000"/>
                  </a:schemeClr>
                </a:solidFill>
                <a:latin typeface="+mn-lt"/>
                <a:ea typeface="+mn-ea"/>
                <a:cs typeface="+mn-cs"/>
              </a:defRPr>
            </a:lvl7pPr>
            <a:lvl8pPr marL="1125000" lvl="7" indent="-171450" algn="l" defTabSz="685800" rtl="0" eaLnBrk="1" latinLnBrk="0" hangingPunct="1">
              <a:lnSpc>
                <a:spcPct val="90000"/>
              </a:lnSpc>
              <a:spcBef>
                <a:spcPts val="0"/>
              </a:spcBef>
              <a:spcAft>
                <a:spcPts val="300"/>
              </a:spcAft>
              <a:buClr>
                <a:schemeClr val="accent1"/>
              </a:buClr>
              <a:buFont typeface="Calibri" pitchFamily="34" charset="0"/>
              <a:buChar char="◦"/>
              <a:defRPr sz="1050" kern="1200">
                <a:solidFill>
                  <a:schemeClr val="tx1">
                    <a:lumMod val="75000"/>
                    <a:lumOff val="25000"/>
                  </a:schemeClr>
                </a:solidFill>
                <a:latin typeface="+mn-lt"/>
                <a:ea typeface="+mn-ea"/>
                <a:cs typeface="+mn-cs"/>
              </a:defRPr>
            </a:lvl8pPr>
            <a:lvl9pPr marL="1275000" lvl="8" indent="-171450" algn="l" defTabSz="685800" rtl="0" eaLnBrk="1" latinLnBrk="0" hangingPunct="1">
              <a:lnSpc>
                <a:spcPct val="90000"/>
              </a:lnSpc>
              <a:spcBef>
                <a:spcPts val="0"/>
              </a:spcBef>
              <a:spcAft>
                <a:spcPts val="300"/>
              </a:spcAft>
              <a:buClr>
                <a:schemeClr val="accent1"/>
              </a:buClr>
              <a:buFont typeface="Calibri" pitchFamily="34" charset="0"/>
              <a:buChar char="◦"/>
              <a:defRPr sz="1050" kern="1200">
                <a:solidFill>
                  <a:schemeClr val="tx1">
                    <a:lumMod val="75000"/>
                    <a:lumOff val="25000"/>
                  </a:schemeClr>
                </a:solidFill>
                <a:latin typeface="+mn-lt"/>
                <a:ea typeface="+mn-ea"/>
                <a:cs typeface="+mn-cs"/>
              </a:defRPr>
            </a:lvl9pPr>
          </a:lstStyle>
          <a:p>
            <a:pPr marL="342900" lvl="1" indent="-342900">
              <a:spcAft>
                <a:spcPts val="150"/>
              </a:spcAft>
              <a:buSzPct val="100000"/>
              <a:buFont typeface="Wingdings" panose="05000000000000000000" pitchFamily="2" charset="2"/>
              <a:buChar char="§"/>
            </a:pPr>
            <a:r>
              <a:rPr lang="en-US" sz="2000" dirty="0">
                <a:solidFill>
                  <a:schemeClr val="tx1"/>
                </a:solidFill>
                <a:latin typeface="Times New Roman" panose="02020603050405020304" pitchFamily="18" charset="0"/>
                <a:cs typeface="Times New Roman" panose="02020603050405020304" pitchFamily="18" charset="0"/>
              </a:rPr>
              <a:t>w</a:t>
            </a:r>
            <a:r>
              <a:rPr lang="en-US" sz="2000" dirty="0" smtClean="0">
                <a:solidFill>
                  <a:schemeClr val="tx1"/>
                </a:solidFill>
                <a:latin typeface="Times New Roman" panose="02020603050405020304" pitchFamily="18" charset="0"/>
                <a:cs typeface="Times New Roman" panose="02020603050405020304" pitchFamily="18" charset="0"/>
              </a:rPr>
              <a:t>here </a:t>
            </a:r>
            <a:r>
              <a:rPr lang="en-US" sz="2000" dirty="0" err="1" smtClean="0">
                <a:solidFill>
                  <a:schemeClr val="tx1"/>
                </a:solidFill>
                <a:latin typeface="Times New Roman" panose="02020603050405020304" pitchFamily="18" charset="0"/>
                <a:cs typeface="Times New Roman" panose="02020603050405020304" pitchFamily="18" charset="0"/>
              </a:rPr>
              <a:t>w</a:t>
            </a:r>
            <a:r>
              <a:rPr lang="en-US" sz="2000" baseline="-25000" dirty="0" err="1" smtClean="0">
                <a:solidFill>
                  <a:schemeClr val="tx1"/>
                </a:solidFill>
                <a:latin typeface="Times New Roman" panose="02020603050405020304" pitchFamily="18" charset="0"/>
                <a:cs typeface="Times New Roman" panose="02020603050405020304" pitchFamily="18" charset="0"/>
              </a:rPr>
              <a:t>T</a:t>
            </a:r>
            <a:r>
              <a:rPr lang="en-US" sz="2000" dirty="0" smtClean="0">
                <a:solidFill>
                  <a:schemeClr val="tx1"/>
                </a:solidFill>
                <a:latin typeface="Times New Roman" panose="02020603050405020304" pitchFamily="18" charset="0"/>
                <a:cs typeface="Times New Roman" panose="02020603050405020304" pitchFamily="18" charset="0"/>
              </a:rPr>
              <a:t> is the weight associated with </a:t>
            </a:r>
            <a:r>
              <a:rPr lang="en-US" sz="2000" dirty="0" err="1" smtClean="0">
                <a:solidFill>
                  <a:schemeClr val="tx1"/>
                </a:solidFill>
                <a:latin typeface="Times New Roman" panose="02020603050405020304" pitchFamily="18" charset="0"/>
                <a:cs typeface="Times New Roman" panose="02020603050405020304" pitchFamily="18" charset="0"/>
              </a:rPr>
              <a:t>T</a:t>
            </a:r>
            <a:r>
              <a:rPr lang="en-US" sz="2000" baseline="30000" dirty="0" err="1" smtClean="0">
                <a:solidFill>
                  <a:schemeClr val="tx1"/>
                </a:solidFill>
                <a:latin typeface="Times New Roman" panose="02020603050405020304" pitchFamily="18" charset="0"/>
                <a:cs typeface="Times New Roman" panose="02020603050405020304" pitchFamily="18" charset="0"/>
              </a:rPr>
              <a:t>th</a:t>
            </a:r>
            <a:r>
              <a:rPr lang="en-US" sz="2000" dirty="0" smtClean="0">
                <a:solidFill>
                  <a:schemeClr val="tx1"/>
                </a:solidFill>
                <a:latin typeface="Times New Roman" panose="02020603050405020304" pitchFamily="18" charset="0"/>
                <a:cs typeface="Times New Roman" panose="02020603050405020304" pitchFamily="18" charset="0"/>
              </a:rPr>
              <a:t> value</a:t>
            </a:r>
          </a:p>
          <a:p>
            <a:pPr marL="342900" lvl="1" indent="-342900">
              <a:spcAft>
                <a:spcPts val="150"/>
              </a:spcAft>
              <a:buSzPct val="100000"/>
              <a:buFont typeface="Wingdings" panose="05000000000000000000" pitchFamily="2" charset="2"/>
              <a:buChar char="§"/>
            </a:pPr>
            <a:r>
              <a:rPr lang="en-US" sz="2000" dirty="0" err="1" smtClean="0">
                <a:solidFill>
                  <a:schemeClr val="tx1"/>
                </a:solidFill>
                <a:latin typeface="Times New Roman" panose="02020603050405020304" pitchFamily="18" charset="0"/>
                <a:cs typeface="Times New Roman" panose="02020603050405020304" pitchFamily="18" charset="0"/>
              </a:rPr>
              <a:t>w</a:t>
            </a:r>
            <a:r>
              <a:rPr lang="en-US" sz="2000" baseline="-25000" dirty="0" err="1" smtClean="0">
                <a:solidFill>
                  <a:schemeClr val="tx1"/>
                </a:solidFill>
                <a:latin typeface="Times New Roman" panose="02020603050405020304" pitchFamily="18" charset="0"/>
                <a:cs typeface="Times New Roman" panose="02020603050405020304" pitchFamily="18" charset="0"/>
              </a:rPr>
              <a:t>T</a:t>
            </a:r>
            <a:r>
              <a:rPr lang="en-US" sz="2000" dirty="0" smtClean="0">
                <a:solidFill>
                  <a:schemeClr val="tx1"/>
                </a:solidFill>
                <a:latin typeface="Times New Roman" panose="02020603050405020304" pitchFamily="18" charset="0"/>
                <a:cs typeface="Times New Roman" panose="02020603050405020304" pitchFamily="18" charset="0"/>
              </a:rPr>
              <a:t> </a:t>
            </a:r>
            <a:r>
              <a:rPr lang="en-US" sz="2000" dirty="0">
                <a:solidFill>
                  <a:schemeClr val="tx1"/>
                </a:solidFill>
                <a:latin typeface="Times New Roman" panose="02020603050405020304" pitchFamily="18" charset="0"/>
                <a:cs typeface="Times New Roman" panose="02020603050405020304" pitchFamily="18" charset="0"/>
              </a:rPr>
              <a:t>is calculated using</a:t>
            </a:r>
          </a:p>
        </p:txBody>
      </p:sp>
      <p:pic>
        <p:nvPicPr>
          <p:cNvPr id="10" name="Picture 9"/>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915801" y="3151767"/>
            <a:ext cx="4477375" cy="1536992"/>
          </a:xfrm>
          <a:prstGeom prst="rect">
            <a:avLst/>
          </a:prstGeom>
        </p:spPr>
      </p:pic>
      <p:sp>
        <p:nvSpPr>
          <p:cNvPr id="6" name="TextBox 5"/>
          <p:cNvSpPr txBox="1"/>
          <p:nvPr/>
        </p:nvSpPr>
        <p:spPr>
          <a:xfrm>
            <a:off x="7622233" y="1950910"/>
            <a:ext cx="678730" cy="307777"/>
          </a:xfrm>
          <a:prstGeom prst="rect">
            <a:avLst/>
          </a:prstGeom>
          <a:noFill/>
        </p:spPr>
        <p:txBody>
          <a:bodyPr wrap="square" rtlCol="0">
            <a:spAutoFit/>
          </a:bodyPr>
          <a:lstStyle/>
          <a:p>
            <a:r>
              <a:rPr lang="en-US" dirty="0"/>
              <a:t>(5)</a:t>
            </a:r>
          </a:p>
        </p:txBody>
      </p:sp>
      <p:sp>
        <p:nvSpPr>
          <p:cNvPr id="8" name="TextBox 7"/>
          <p:cNvSpPr txBox="1"/>
          <p:nvPr/>
        </p:nvSpPr>
        <p:spPr>
          <a:xfrm>
            <a:off x="7676768" y="3805440"/>
            <a:ext cx="569660" cy="307777"/>
          </a:xfrm>
          <a:prstGeom prst="rect">
            <a:avLst/>
          </a:prstGeom>
          <a:noFill/>
        </p:spPr>
        <p:txBody>
          <a:bodyPr wrap="square" rtlCol="0">
            <a:spAutoFit/>
          </a:bodyPr>
          <a:lstStyle/>
          <a:p>
            <a:r>
              <a:rPr lang="en-US" dirty="0" smtClean="0"/>
              <a:t>(6)</a:t>
            </a:r>
            <a:endParaRPr lang="en-US" dirty="0"/>
          </a:p>
        </p:txBody>
      </p:sp>
    </p:spTree>
    <p:extLst>
      <p:ext uri="{BB962C8B-B14F-4D97-AF65-F5344CB8AC3E}">
        <p14:creationId xmlns:p14="http://schemas.microsoft.com/office/powerpoint/2010/main" val="4258465421"/>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07000" y="718329"/>
            <a:ext cx="8520600" cy="572700"/>
          </a:xfrm>
        </p:spPr>
        <p:txBody>
          <a:bodyPr>
            <a:noAutofit/>
          </a:bodyPr>
          <a:lstStyle/>
          <a:p>
            <a:r>
              <a:rPr lang="en-US" sz="3200" b="1" dirty="0" smtClean="0">
                <a:solidFill>
                  <a:schemeClr val="tx1"/>
                </a:solidFill>
                <a:latin typeface="Times New Roman" panose="02020603050405020304" pitchFamily="18" charset="0"/>
                <a:ea typeface="Calibri"/>
                <a:cs typeface="Times New Roman" panose="02020603050405020304" pitchFamily="18" charset="0"/>
              </a:rPr>
              <a:t>MV-MACO</a:t>
            </a:r>
            <a:endParaRPr lang="en-US" sz="3200" b="1" dirty="0">
              <a:solidFill>
                <a:schemeClr val="tx1"/>
              </a:solidFill>
              <a:latin typeface="Times New Roman" panose="02020603050405020304" pitchFamily="18" charset="0"/>
              <a:ea typeface="Calibri"/>
              <a:cs typeface="Times New Roman" panose="02020603050405020304" pitchFamily="18" charset="0"/>
            </a:endParaRPr>
          </a:p>
        </p:txBody>
      </p:sp>
      <p:sp>
        <p:nvSpPr>
          <p:cNvPr id="3" name="Text Placeholder 2"/>
          <p:cNvSpPr>
            <a:spLocks noGrp="1"/>
          </p:cNvSpPr>
          <p:nvPr>
            <p:ph type="body" idx="1"/>
          </p:nvPr>
        </p:nvSpPr>
        <p:spPr>
          <a:xfrm>
            <a:off x="656061" y="1224148"/>
            <a:ext cx="8025300" cy="3531492"/>
          </a:xfrm>
        </p:spPr>
        <p:txBody>
          <a:bodyPr>
            <a:noAutofit/>
          </a:bodyPr>
          <a:lstStyle/>
          <a:p>
            <a:pPr marL="342900" lvl="1" indent="-342900">
              <a:spcAft>
                <a:spcPts val="150"/>
              </a:spcAft>
              <a:buSzPct val="100000"/>
              <a:buFont typeface="Wingdings" panose="05000000000000000000" pitchFamily="2" charset="2"/>
              <a:buChar char="§"/>
            </a:pPr>
            <a:endParaRPr lang="en-US" sz="2000" dirty="0" smtClean="0">
              <a:solidFill>
                <a:schemeClr val="tx1"/>
              </a:solidFill>
              <a:latin typeface="Times New Roman" panose="02020603050405020304" pitchFamily="18" charset="0"/>
              <a:cs typeface="Times New Roman" panose="02020603050405020304" pitchFamily="18" charset="0"/>
            </a:endParaRPr>
          </a:p>
          <a:p>
            <a:pPr marL="342900" lvl="1" indent="-342900">
              <a:spcAft>
                <a:spcPts val="150"/>
              </a:spcAft>
              <a:buSzPct val="100000"/>
              <a:buFont typeface="Wingdings" panose="05000000000000000000" pitchFamily="2" charset="2"/>
              <a:buChar char="§"/>
            </a:pPr>
            <a:r>
              <a:rPr lang="en-US" sz="2000" dirty="0" smtClean="0">
                <a:solidFill>
                  <a:schemeClr val="tx1"/>
                </a:solidFill>
                <a:latin typeface="Times New Roman" panose="02020603050405020304" pitchFamily="18" charset="0"/>
                <a:cs typeface="Times New Roman" panose="02020603050405020304" pitchFamily="18" charset="0"/>
              </a:rPr>
              <a:t>After </a:t>
            </a:r>
            <a:r>
              <a:rPr lang="en-US" sz="2000" dirty="0">
                <a:solidFill>
                  <a:schemeClr val="tx1"/>
                </a:solidFill>
                <a:latin typeface="Times New Roman" panose="02020603050405020304" pitchFamily="18" charset="0"/>
                <a:cs typeface="Times New Roman" panose="02020603050405020304" pitchFamily="18" charset="0"/>
              </a:rPr>
              <a:t>each ant constructs its solution, </a:t>
            </a:r>
            <a:r>
              <a:rPr lang="en-US" sz="2000" dirty="0" smtClean="0">
                <a:solidFill>
                  <a:schemeClr val="tx1"/>
                </a:solidFill>
                <a:latin typeface="Times New Roman" panose="02020603050405020304" pitchFamily="18" charset="0"/>
                <a:cs typeface="Times New Roman" panose="02020603050405020304" pitchFamily="18" charset="0"/>
              </a:rPr>
              <a:t>the new </a:t>
            </a:r>
            <a:r>
              <a:rPr lang="en-US" sz="2000" dirty="0">
                <a:solidFill>
                  <a:schemeClr val="tx1"/>
                </a:solidFill>
                <a:latin typeface="Times New Roman" panose="02020603050405020304" pitchFamily="18" charset="0"/>
                <a:cs typeface="Times New Roman" panose="02020603050405020304" pitchFamily="18" charset="0"/>
              </a:rPr>
              <a:t>and old solutions will be sorted according to the fitness values (best to worst) </a:t>
            </a:r>
            <a:r>
              <a:rPr lang="en-US" sz="2000" dirty="0" smtClean="0">
                <a:solidFill>
                  <a:schemeClr val="tx1"/>
                </a:solidFill>
                <a:latin typeface="Times New Roman" panose="02020603050405020304" pitchFamily="18" charset="0"/>
                <a:cs typeface="Times New Roman" panose="02020603050405020304" pitchFamily="18" charset="0"/>
              </a:rPr>
              <a:t>and k </a:t>
            </a:r>
            <a:r>
              <a:rPr lang="en-US" sz="2000" dirty="0">
                <a:solidFill>
                  <a:schemeClr val="tx1"/>
                </a:solidFill>
                <a:latin typeface="Times New Roman" panose="02020603050405020304" pitchFamily="18" charset="0"/>
                <a:cs typeface="Times New Roman" panose="02020603050405020304" pitchFamily="18" charset="0"/>
              </a:rPr>
              <a:t>best solutions will be selected for the next </a:t>
            </a:r>
            <a:r>
              <a:rPr lang="en-US" sz="2000" dirty="0" smtClean="0">
                <a:solidFill>
                  <a:schemeClr val="tx1"/>
                </a:solidFill>
                <a:latin typeface="Times New Roman" panose="02020603050405020304" pitchFamily="18" charset="0"/>
                <a:cs typeface="Times New Roman" panose="02020603050405020304" pitchFamily="18" charset="0"/>
              </a:rPr>
              <a:t>iteration</a:t>
            </a:r>
          </a:p>
          <a:p>
            <a:pPr marL="342900" lvl="1" indent="-342900">
              <a:spcAft>
                <a:spcPts val="150"/>
              </a:spcAft>
              <a:buSzPct val="100000"/>
              <a:buFont typeface="Wingdings" panose="05000000000000000000" pitchFamily="2" charset="2"/>
              <a:buChar char="§"/>
            </a:pPr>
            <a:r>
              <a:rPr lang="en-US" sz="2000" dirty="0">
                <a:solidFill>
                  <a:schemeClr val="tx1"/>
                </a:solidFill>
                <a:latin typeface="Times New Roman" panose="02020603050405020304" pitchFamily="18" charset="0"/>
                <a:cs typeface="Times New Roman" panose="02020603050405020304" pitchFamily="18" charset="0"/>
              </a:rPr>
              <a:t>This process will continue </a:t>
            </a:r>
            <a:r>
              <a:rPr lang="en-US" sz="2000" dirty="0" smtClean="0">
                <a:solidFill>
                  <a:schemeClr val="tx1"/>
                </a:solidFill>
                <a:latin typeface="Times New Roman" panose="02020603050405020304" pitchFamily="18" charset="0"/>
                <a:cs typeface="Times New Roman" panose="02020603050405020304" pitchFamily="18" charset="0"/>
              </a:rPr>
              <a:t>until maximum </a:t>
            </a:r>
            <a:r>
              <a:rPr lang="en-US" sz="2000" dirty="0">
                <a:solidFill>
                  <a:schemeClr val="tx1"/>
                </a:solidFill>
                <a:latin typeface="Times New Roman" panose="02020603050405020304" pitchFamily="18" charset="0"/>
                <a:cs typeface="Times New Roman" panose="02020603050405020304" pitchFamily="18" charset="0"/>
              </a:rPr>
              <a:t>iterations are reached </a:t>
            </a:r>
            <a:r>
              <a:rPr lang="en-US" sz="2000" dirty="0" smtClean="0">
                <a:solidFill>
                  <a:schemeClr val="tx1"/>
                </a:solidFill>
                <a:latin typeface="Times New Roman" panose="02020603050405020304" pitchFamily="18" charset="0"/>
                <a:cs typeface="Times New Roman" panose="02020603050405020304" pitchFamily="18" charset="0"/>
              </a:rPr>
              <a:t>or accuracy </a:t>
            </a:r>
            <a:r>
              <a:rPr lang="en-US" sz="2000" dirty="0">
                <a:solidFill>
                  <a:schemeClr val="tx1"/>
                </a:solidFill>
                <a:latin typeface="Times New Roman" panose="02020603050405020304" pitchFamily="18" charset="0"/>
                <a:cs typeface="Times New Roman" panose="02020603050405020304" pitchFamily="18" charset="0"/>
              </a:rPr>
              <a:t>achieved is equal to a certain </a:t>
            </a:r>
            <a:r>
              <a:rPr lang="en-US" sz="2000" dirty="0" smtClean="0">
                <a:solidFill>
                  <a:schemeClr val="tx1"/>
                </a:solidFill>
                <a:latin typeface="Times New Roman" panose="02020603050405020304" pitchFamily="18" charset="0"/>
                <a:cs typeface="Times New Roman" panose="02020603050405020304" pitchFamily="18" charset="0"/>
              </a:rPr>
              <a:t>threshold for </a:t>
            </a:r>
            <a:r>
              <a:rPr lang="en-US" sz="2000" dirty="0">
                <a:solidFill>
                  <a:schemeClr val="tx1"/>
                </a:solidFill>
                <a:latin typeface="Times New Roman" panose="02020603050405020304" pitchFamily="18" charset="0"/>
                <a:cs typeface="Times New Roman" panose="02020603050405020304" pitchFamily="18" charset="0"/>
              </a:rPr>
              <a:t>each niche </a:t>
            </a:r>
          </a:p>
        </p:txBody>
      </p:sp>
      <p:sp>
        <p:nvSpPr>
          <p:cNvPr id="4" name="Slide Number Placeholder 3"/>
          <p:cNvSpPr>
            <a:spLocks noGrp="1"/>
          </p:cNvSpPr>
          <p:nvPr>
            <p:ph type="sldNum" idx="12"/>
          </p:nvPr>
        </p:nvSpPr>
        <p:spPr/>
        <p:txBody>
          <a:bodyPr/>
          <a:lstStyle/>
          <a:p>
            <a:fld id="{00000000-1234-1234-1234-123412341234}" type="slidenum">
              <a:rPr lang="en" smtClean="0"/>
              <a:pPr/>
              <a:t>32</a:t>
            </a:fld>
            <a:endParaRPr lang="en" dirty="0"/>
          </a:p>
        </p:txBody>
      </p:sp>
      <p:sp>
        <p:nvSpPr>
          <p:cNvPr id="7" name="Text Placeholder 2"/>
          <p:cNvSpPr txBox="1">
            <a:spLocks/>
          </p:cNvSpPr>
          <p:nvPr/>
        </p:nvSpPr>
        <p:spPr>
          <a:xfrm>
            <a:off x="839423" y="3392564"/>
            <a:ext cx="8025300" cy="1572941"/>
          </a:xfrm>
          <a:prstGeom prst="rect">
            <a:avLst/>
          </a:prstGeom>
        </p:spPr>
        <p:txBody>
          <a:bodyPr vert="horz" wrap="square" lIns="91425" tIns="91425" rIns="91425" bIns="91425" rtlCol="0" anchor="t" anchorCtr="0">
            <a:noAutofit/>
          </a:bodyPr>
          <a:lstStyle>
            <a:lvl1pPr marL="68580" lvl="0" indent="-68580" algn="l" defTabSz="685800" rtl="0" eaLnBrk="1" latinLnBrk="0" hangingPunct="1">
              <a:lnSpc>
                <a:spcPct val="90000"/>
              </a:lnSpc>
              <a:spcBef>
                <a:spcPts val="0"/>
              </a:spcBef>
              <a:spcAft>
                <a:spcPts val="150"/>
              </a:spcAft>
              <a:buClr>
                <a:schemeClr val="accent1"/>
              </a:buClr>
              <a:buSzPct val="100000"/>
              <a:buFont typeface="Calibri" panose="020F0502020204030204" pitchFamily="34" charset="0"/>
              <a:buChar char=" "/>
              <a:defRPr sz="1500" kern="1200">
                <a:solidFill>
                  <a:schemeClr val="tx1">
                    <a:lumMod val="75000"/>
                    <a:lumOff val="25000"/>
                  </a:schemeClr>
                </a:solidFill>
                <a:latin typeface="+mn-lt"/>
                <a:ea typeface="+mn-ea"/>
                <a:cs typeface="+mn-cs"/>
              </a:defRPr>
            </a:lvl1pPr>
            <a:lvl2pPr marL="288036" lvl="1" indent="-137160" algn="l" defTabSz="685800" rtl="0" eaLnBrk="1" latinLnBrk="0" hangingPunct="1">
              <a:lnSpc>
                <a:spcPct val="90000"/>
              </a:lnSpc>
              <a:spcBef>
                <a:spcPts val="0"/>
              </a:spcBef>
              <a:spcAft>
                <a:spcPts val="300"/>
              </a:spcAft>
              <a:buClr>
                <a:schemeClr val="accent1"/>
              </a:buClr>
              <a:buFont typeface="Calibri" pitchFamily="34" charset="0"/>
              <a:buChar char="◦"/>
              <a:defRPr sz="1350" kern="1200">
                <a:solidFill>
                  <a:schemeClr val="tx1">
                    <a:lumMod val="75000"/>
                    <a:lumOff val="25000"/>
                  </a:schemeClr>
                </a:solidFill>
                <a:latin typeface="+mn-lt"/>
                <a:ea typeface="+mn-ea"/>
                <a:cs typeface="+mn-cs"/>
              </a:defRPr>
            </a:lvl2pPr>
            <a:lvl3pPr marL="425196" lvl="2" indent="-137160" algn="l" defTabSz="685800" rtl="0" eaLnBrk="1" latinLnBrk="0" hangingPunct="1">
              <a:lnSpc>
                <a:spcPct val="90000"/>
              </a:lnSpc>
              <a:spcBef>
                <a:spcPts val="0"/>
              </a:spcBef>
              <a:spcAft>
                <a:spcPts val="300"/>
              </a:spcAft>
              <a:buClr>
                <a:schemeClr val="accent1"/>
              </a:buClr>
              <a:buFont typeface="Calibri" pitchFamily="34" charset="0"/>
              <a:buChar char="◦"/>
              <a:defRPr sz="1050" kern="1200">
                <a:solidFill>
                  <a:schemeClr val="tx1">
                    <a:lumMod val="75000"/>
                    <a:lumOff val="25000"/>
                  </a:schemeClr>
                </a:solidFill>
                <a:latin typeface="+mn-lt"/>
                <a:ea typeface="+mn-ea"/>
                <a:cs typeface="+mn-cs"/>
              </a:defRPr>
            </a:lvl3pPr>
            <a:lvl4pPr marL="562356" lvl="3" indent="-137160" algn="l" defTabSz="685800" rtl="0" eaLnBrk="1" latinLnBrk="0" hangingPunct="1">
              <a:lnSpc>
                <a:spcPct val="90000"/>
              </a:lnSpc>
              <a:spcBef>
                <a:spcPts val="0"/>
              </a:spcBef>
              <a:spcAft>
                <a:spcPts val="300"/>
              </a:spcAft>
              <a:buClr>
                <a:schemeClr val="accent1"/>
              </a:buClr>
              <a:buFont typeface="Calibri" pitchFamily="34" charset="0"/>
              <a:buChar char="◦"/>
              <a:defRPr sz="1050" kern="1200">
                <a:solidFill>
                  <a:schemeClr val="tx1">
                    <a:lumMod val="75000"/>
                    <a:lumOff val="25000"/>
                  </a:schemeClr>
                </a:solidFill>
                <a:latin typeface="+mn-lt"/>
                <a:ea typeface="+mn-ea"/>
                <a:cs typeface="+mn-cs"/>
              </a:defRPr>
            </a:lvl4pPr>
            <a:lvl5pPr marL="699516" lvl="4" indent="-137160" algn="l" defTabSz="685800" rtl="0" eaLnBrk="1" latinLnBrk="0" hangingPunct="1">
              <a:lnSpc>
                <a:spcPct val="90000"/>
              </a:lnSpc>
              <a:spcBef>
                <a:spcPts val="0"/>
              </a:spcBef>
              <a:spcAft>
                <a:spcPts val="300"/>
              </a:spcAft>
              <a:buClr>
                <a:schemeClr val="accent1"/>
              </a:buClr>
              <a:buFont typeface="Calibri" pitchFamily="34" charset="0"/>
              <a:buChar char="◦"/>
              <a:defRPr sz="1050" kern="1200">
                <a:solidFill>
                  <a:schemeClr val="tx1">
                    <a:lumMod val="75000"/>
                    <a:lumOff val="25000"/>
                  </a:schemeClr>
                </a:solidFill>
                <a:latin typeface="+mn-lt"/>
                <a:ea typeface="+mn-ea"/>
                <a:cs typeface="+mn-cs"/>
              </a:defRPr>
            </a:lvl5pPr>
            <a:lvl6pPr marL="825000" lvl="5" indent="-171450" algn="l" defTabSz="685800" rtl="0" eaLnBrk="1" latinLnBrk="0" hangingPunct="1">
              <a:lnSpc>
                <a:spcPct val="90000"/>
              </a:lnSpc>
              <a:spcBef>
                <a:spcPts val="0"/>
              </a:spcBef>
              <a:spcAft>
                <a:spcPts val="300"/>
              </a:spcAft>
              <a:buClr>
                <a:schemeClr val="accent1"/>
              </a:buClr>
              <a:buFont typeface="Calibri" pitchFamily="34" charset="0"/>
              <a:buChar char="◦"/>
              <a:defRPr sz="1050" kern="1200">
                <a:solidFill>
                  <a:schemeClr val="tx1">
                    <a:lumMod val="75000"/>
                    <a:lumOff val="25000"/>
                  </a:schemeClr>
                </a:solidFill>
                <a:latin typeface="+mn-lt"/>
                <a:ea typeface="+mn-ea"/>
                <a:cs typeface="+mn-cs"/>
              </a:defRPr>
            </a:lvl6pPr>
            <a:lvl7pPr marL="975000" lvl="6" indent="-171450" algn="l" defTabSz="685800" rtl="0" eaLnBrk="1" latinLnBrk="0" hangingPunct="1">
              <a:lnSpc>
                <a:spcPct val="90000"/>
              </a:lnSpc>
              <a:spcBef>
                <a:spcPts val="0"/>
              </a:spcBef>
              <a:spcAft>
                <a:spcPts val="300"/>
              </a:spcAft>
              <a:buClr>
                <a:schemeClr val="accent1"/>
              </a:buClr>
              <a:buFont typeface="Calibri" pitchFamily="34" charset="0"/>
              <a:buChar char="◦"/>
              <a:defRPr sz="1050" kern="1200">
                <a:solidFill>
                  <a:schemeClr val="tx1">
                    <a:lumMod val="75000"/>
                    <a:lumOff val="25000"/>
                  </a:schemeClr>
                </a:solidFill>
                <a:latin typeface="+mn-lt"/>
                <a:ea typeface="+mn-ea"/>
                <a:cs typeface="+mn-cs"/>
              </a:defRPr>
            </a:lvl7pPr>
            <a:lvl8pPr marL="1125000" lvl="7" indent="-171450" algn="l" defTabSz="685800" rtl="0" eaLnBrk="1" latinLnBrk="0" hangingPunct="1">
              <a:lnSpc>
                <a:spcPct val="90000"/>
              </a:lnSpc>
              <a:spcBef>
                <a:spcPts val="0"/>
              </a:spcBef>
              <a:spcAft>
                <a:spcPts val="300"/>
              </a:spcAft>
              <a:buClr>
                <a:schemeClr val="accent1"/>
              </a:buClr>
              <a:buFont typeface="Calibri" pitchFamily="34" charset="0"/>
              <a:buChar char="◦"/>
              <a:defRPr sz="1050" kern="1200">
                <a:solidFill>
                  <a:schemeClr val="tx1">
                    <a:lumMod val="75000"/>
                    <a:lumOff val="25000"/>
                  </a:schemeClr>
                </a:solidFill>
                <a:latin typeface="+mn-lt"/>
                <a:ea typeface="+mn-ea"/>
                <a:cs typeface="+mn-cs"/>
              </a:defRPr>
            </a:lvl8pPr>
            <a:lvl9pPr marL="1275000" lvl="8" indent="-171450" algn="l" defTabSz="685800" rtl="0" eaLnBrk="1" latinLnBrk="0" hangingPunct="1">
              <a:lnSpc>
                <a:spcPct val="90000"/>
              </a:lnSpc>
              <a:spcBef>
                <a:spcPts val="0"/>
              </a:spcBef>
              <a:spcAft>
                <a:spcPts val="300"/>
              </a:spcAft>
              <a:buClr>
                <a:schemeClr val="accent1"/>
              </a:buClr>
              <a:buFont typeface="Calibri" pitchFamily="34" charset="0"/>
              <a:buChar char="◦"/>
              <a:defRPr sz="1050" kern="1200">
                <a:solidFill>
                  <a:schemeClr val="tx1">
                    <a:lumMod val="75000"/>
                    <a:lumOff val="25000"/>
                  </a:schemeClr>
                </a:solidFill>
                <a:latin typeface="+mn-lt"/>
                <a:ea typeface="+mn-ea"/>
                <a:cs typeface="+mn-cs"/>
              </a:defRPr>
            </a:lvl9pPr>
          </a:lstStyle>
          <a:p>
            <a:pPr marL="342900" lvl="1" indent="-342900">
              <a:spcAft>
                <a:spcPts val="150"/>
              </a:spcAft>
              <a:buSzPct val="100000"/>
              <a:buFont typeface="Wingdings" panose="05000000000000000000" pitchFamily="2" charset="2"/>
              <a:buChar char="§"/>
            </a:pPr>
            <a:endParaRPr lang="en-US" sz="2000"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92970410"/>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07000" y="718329"/>
            <a:ext cx="8520600" cy="572700"/>
          </a:xfrm>
        </p:spPr>
        <p:txBody>
          <a:bodyPr>
            <a:noAutofit/>
          </a:bodyPr>
          <a:lstStyle/>
          <a:p>
            <a:r>
              <a:rPr lang="en-US" sz="3200" b="1" dirty="0" smtClean="0">
                <a:solidFill>
                  <a:schemeClr val="tx1"/>
                </a:solidFill>
                <a:latin typeface="Times New Roman" panose="02020603050405020304" pitchFamily="18" charset="0"/>
                <a:ea typeface="Calibri"/>
                <a:cs typeface="Times New Roman" panose="02020603050405020304" pitchFamily="18" charset="0"/>
              </a:rPr>
              <a:t>Difficulties Facing Niching</a:t>
            </a:r>
            <a:endParaRPr lang="en-US" sz="3200" b="1" dirty="0">
              <a:solidFill>
                <a:schemeClr val="tx1"/>
              </a:solidFill>
              <a:latin typeface="Times New Roman" panose="02020603050405020304" pitchFamily="18" charset="0"/>
              <a:ea typeface="Calibri"/>
              <a:cs typeface="Times New Roman" panose="02020603050405020304" pitchFamily="18" charset="0"/>
            </a:endParaRPr>
          </a:p>
        </p:txBody>
      </p:sp>
      <p:sp>
        <p:nvSpPr>
          <p:cNvPr id="3" name="Text Placeholder 2"/>
          <p:cNvSpPr>
            <a:spLocks noGrp="1"/>
          </p:cNvSpPr>
          <p:nvPr>
            <p:ph type="body" idx="1"/>
          </p:nvPr>
        </p:nvSpPr>
        <p:spPr>
          <a:xfrm>
            <a:off x="656061" y="1224148"/>
            <a:ext cx="8025300" cy="3531492"/>
          </a:xfrm>
        </p:spPr>
        <p:txBody>
          <a:bodyPr>
            <a:noAutofit/>
          </a:bodyPr>
          <a:lstStyle/>
          <a:p>
            <a:pPr marL="342900" lvl="1" indent="-342900">
              <a:spcAft>
                <a:spcPts val="150"/>
              </a:spcAft>
              <a:buSzPct val="100000"/>
              <a:buFont typeface="Wingdings" panose="05000000000000000000" pitchFamily="2" charset="2"/>
              <a:buChar char="§"/>
            </a:pPr>
            <a:r>
              <a:rPr lang="en-US" sz="2000" dirty="0" smtClean="0">
                <a:solidFill>
                  <a:schemeClr val="tx1"/>
                </a:solidFill>
                <a:latin typeface="Times New Roman" panose="02020603050405020304" pitchFamily="18" charset="0"/>
                <a:cs typeface="Times New Roman" panose="02020603050405020304" pitchFamily="18" charset="0"/>
              </a:rPr>
              <a:t>Niching can be incorporated in to any standard evolutionary algorithm</a:t>
            </a:r>
          </a:p>
          <a:p>
            <a:pPr marL="342900" lvl="1" indent="-342900">
              <a:spcAft>
                <a:spcPts val="150"/>
              </a:spcAft>
              <a:buSzPct val="100000"/>
              <a:buFont typeface="Wingdings" panose="05000000000000000000" pitchFamily="2" charset="2"/>
              <a:buChar char="§"/>
            </a:pPr>
            <a:r>
              <a:rPr lang="en-US" sz="2000" dirty="0" smtClean="0">
                <a:solidFill>
                  <a:schemeClr val="tx1"/>
                </a:solidFill>
                <a:latin typeface="Times New Roman" panose="02020603050405020304" pitchFamily="18" charset="0"/>
                <a:cs typeface="Times New Roman" panose="02020603050405020304" pitchFamily="18" charset="0"/>
              </a:rPr>
              <a:t>Using niching with  mixed-variable  optimization  is challenging</a:t>
            </a:r>
          </a:p>
          <a:p>
            <a:pPr marL="617220" lvl="3" indent="-342900">
              <a:spcAft>
                <a:spcPts val="150"/>
              </a:spcAft>
              <a:buSzPct val="100000"/>
              <a:buFont typeface="Wingdings" panose="05000000000000000000" pitchFamily="2" charset="2"/>
              <a:buChar char="§"/>
            </a:pPr>
            <a:r>
              <a:rPr lang="en-US" sz="1700" dirty="0" smtClean="0">
                <a:solidFill>
                  <a:schemeClr val="tx1"/>
                </a:solidFill>
                <a:latin typeface="Times New Roman" panose="02020603050405020304" pitchFamily="18" charset="0"/>
                <a:cs typeface="Times New Roman" panose="02020603050405020304" pitchFamily="18" charset="0"/>
              </a:rPr>
              <a:t>Existing niching methods are only used with continuous optimization algorithms</a:t>
            </a:r>
          </a:p>
          <a:p>
            <a:pPr marL="617220" lvl="3" indent="-342900">
              <a:spcAft>
                <a:spcPts val="150"/>
              </a:spcAft>
              <a:buSzPct val="100000"/>
              <a:buFont typeface="Wingdings" panose="05000000000000000000" pitchFamily="2" charset="2"/>
              <a:buChar char="§"/>
            </a:pPr>
            <a:r>
              <a:rPr lang="en-US" sz="1700" dirty="0" smtClean="0">
                <a:solidFill>
                  <a:schemeClr val="tx1"/>
                </a:solidFill>
                <a:latin typeface="Times New Roman" panose="02020603050405020304" pitchFamily="18" charset="0"/>
                <a:cs typeface="Times New Roman" panose="02020603050405020304" pitchFamily="18" charset="0"/>
              </a:rPr>
              <a:t>Niching is helpful for low dimensional problems</a:t>
            </a:r>
          </a:p>
          <a:p>
            <a:pPr marL="617220" lvl="3" indent="-342900">
              <a:spcAft>
                <a:spcPts val="150"/>
              </a:spcAft>
              <a:buSzPct val="100000"/>
              <a:buFont typeface="Wingdings" panose="05000000000000000000" pitchFamily="2" charset="2"/>
              <a:buChar char="§"/>
            </a:pPr>
            <a:r>
              <a:rPr lang="en-US" sz="1700" dirty="0" smtClean="0">
                <a:solidFill>
                  <a:schemeClr val="tx1"/>
                </a:solidFill>
                <a:latin typeface="Times New Roman" panose="02020603050405020304" pitchFamily="18" charset="0"/>
                <a:cs typeface="Times New Roman" panose="02020603050405020304" pitchFamily="18" charset="0"/>
              </a:rPr>
              <a:t>Additional parameters for tuning and problem dependent</a:t>
            </a:r>
          </a:p>
          <a:p>
            <a:pPr marL="617220" lvl="3" indent="-342900">
              <a:spcAft>
                <a:spcPts val="150"/>
              </a:spcAft>
              <a:buSzPct val="100000"/>
              <a:buFont typeface="Wingdings" panose="05000000000000000000" pitchFamily="2" charset="2"/>
              <a:buChar char="§"/>
            </a:pPr>
            <a:r>
              <a:rPr lang="en-US" sz="1700" dirty="0" smtClean="0">
                <a:solidFill>
                  <a:schemeClr val="tx1"/>
                </a:solidFill>
                <a:latin typeface="Times New Roman" panose="02020603050405020304" pitchFamily="18" charset="0"/>
                <a:cs typeface="Times New Roman" panose="02020603050405020304" pitchFamily="18" charset="0"/>
              </a:rPr>
              <a:t>Locations and number of optima are usually unknown</a:t>
            </a:r>
          </a:p>
          <a:p>
            <a:pPr marL="617220" lvl="3" indent="-342900">
              <a:spcAft>
                <a:spcPts val="150"/>
              </a:spcAft>
              <a:buSzPct val="100000"/>
              <a:buFont typeface="Wingdings" panose="05000000000000000000" pitchFamily="2" charset="2"/>
              <a:buChar char="§"/>
            </a:pPr>
            <a:r>
              <a:rPr lang="en-US" sz="1700" dirty="0" smtClean="0">
                <a:solidFill>
                  <a:schemeClr val="tx1"/>
                </a:solidFill>
                <a:latin typeface="Times New Roman" panose="02020603050405020304" pitchFamily="18" charset="0"/>
                <a:cs typeface="Times New Roman" panose="02020603050405020304" pitchFamily="18" charset="0"/>
              </a:rPr>
              <a:t>Applying niching to maintain good diversity</a:t>
            </a:r>
          </a:p>
          <a:p>
            <a:pPr marL="617220" lvl="3" indent="-342900">
              <a:spcAft>
                <a:spcPts val="150"/>
              </a:spcAft>
              <a:buSzPct val="100000"/>
              <a:buFont typeface="Wingdings" panose="05000000000000000000" pitchFamily="2" charset="2"/>
              <a:buChar char="§"/>
            </a:pPr>
            <a:endParaRPr lang="en-US" sz="1700" dirty="0" smtClean="0">
              <a:solidFill>
                <a:schemeClr val="tx1"/>
              </a:solidFill>
              <a:latin typeface="Times New Roman" panose="02020603050405020304" pitchFamily="18" charset="0"/>
              <a:cs typeface="Times New Roman" panose="02020603050405020304" pitchFamily="18" charset="0"/>
            </a:endParaRPr>
          </a:p>
          <a:p>
            <a:pPr marL="342900" lvl="1" indent="-342900">
              <a:spcAft>
                <a:spcPts val="150"/>
              </a:spcAft>
              <a:buSzPct val="100000"/>
              <a:buFont typeface="Wingdings" panose="05000000000000000000" pitchFamily="2" charset="2"/>
              <a:buChar char="§"/>
            </a:pPr>
            <a:endParaRPr lang="en-US" sz="2000" dirty="0">
              <a:solidFill>
                <a:schemeClr val="tx1"/>
              </a:solidFill>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idx="12"/>
          </p:nvPr>
        </p:nvSpPr>
        <p:spPr/>
        <p:txBody>
          <a:bodyPr/>
          <a:lstStyle/>
          <a:p>
            <a:fld id="{00000000-1234-1234-1234-123412341234}" type="slidenum">
              <a:rPr lang="en" smtClean="0"/>
              <a:pPr/>
              <a:t>33</a:t>
            </a:fld>
            <a:endParaRPr lang="en" dirty="0"/>
          </a:p>
        </p:txBody>
      </p:sp>
      <p:sp>
        <p:nvSpPr>
          <p:cNvPr id="7" name="Text Placeholder 2"/>
          <p:cNvSpPr txBox="1">
            <a:spLocks/>
          </p:cNvSpPr>
          <p:nvPr/>
        </p:nvSpPr>
        <p:spPr>
          <a:xfrm>
            <a:off x="839423" y="3392564"/>
            <a:ext cx="8025300" cy="1572941"/>
          </a:xfrm>
          <a:prstGeom prst="rect">
            <a:avLst/>
          </a:prstGeom>
        </p:spPr>
        <p:txBody>
          <a:bodyPr vert="horz" wrap="square" lIns="91425" tIns="91425" rIns="91425" bIns="91425" rtlCol="0" anchor="t" anchorCtr="0">
            <a:noAutofit/>
          </a:bodyPr>
          <a:lstStyle>
            <a:lvl1pPr marL="68580" lvl="0" indent="-68580" algn="l" defTabSz="685800" rtl="0" eaLnBrk="1" latinLnBrk="0" hangingPunct="1">
              <a:lnSpc>
                <a:spcPct val="90000"/>
              </a:lnSpc>
              <a:spcBef>
                <a:spcPts val="0"/>
              </a:spcBef>
              <a:spcAft>
                <a:spcPts val="150"/>
              </a:spcAft>
              <a:buClr>
                <a:schemeClr val="accent1"/>
              </a:buClr>
              <a:buSzPct val="100000"/>
              <a:buFont typeface="Calibri" panose="020F0502020204030204" pitchFamily="34" charset="0"/>
              <a:buChar char=" "/>
              <a:defRPr sz="1500" kern="1200">
                <a:solidFill>
                  <a:schemeClr val="tx1">
                    <a:lumMod val="75000"/>
                    <a:lumOff val="25000"/>
                  </a:schemeClr>
                </a:solidFill>
                <a:latin typeface="+mn-lt"/>
                <a:ea typeface="+mn-ea"/>
                <a:cs typeface="+mn-cs"/>
              </a:defRPr>
            </a:lvl1pPr>
            <a:lvl2pPr marL="288036" lvl="1" indent="-137160" algn="l" defTabSz="685800" rtl="0" eaLnBrk="1" latinLnBrk="0" hangingPunct="1">
              <a:lnSpc>
                <a:spcPct val="90000"/>
              </a:lnSpc>
              <a:spcBef>
                <a:spcPts val="0"/>
              </a:spcBef>
              <a:spcAft>
                <a:spcPts val="300"/>
              </a:spcAft>
              <a:buClr>
                <a:schemeClr val="accent1"/>
              </a:buClr>
              <a:buFont typeface="Calibri" pitchFamily="34" charset="0"/>
              <a:buChar char="◦"/>
              <a:defRPr sz="1350" kern="1200">
                <a:solidFill>
                  <a:schemeClr val="tx1">
                    <a:lumMod val="75000"/>
                    <a:lumOff val="25000"/>
                  </a:schemeClr>
                </a:solidFill>
                <a:latin typeface="+mn-lt"/>
                <a:ea typeface="+mn-ea"/>
                <a:cs typeface="+mn-cs"/>
              </a:defRPr>
            </a:lvl2pPr>
            <a:lvl3pPr marL="425196" lvl="2" indent="-137160" algn="l" defTabSz="685800" rtl="0" eaLnBrk="1" latinLnBrk="0" hangingPunct="1">
              <a:lnSpc>
                <a:spcPct val="90000"/>
              </a:lnSpc>
              <a:spcBef>
                <a:spcPts val="0"/>
              </a:spcBef>
              <a:spcAft>
                <a:spcPts val="300"/>
              </a:spcAft>
              <a:buClr>
                <a:schemeClr val="accent1"/>
              </a:buClr>
              <a:buFont typeface="Calibri" pitchFamily="34" charset="0"/>
              <a:buChar char="◦"/>
              <a:defRPr sz="1050" kern="1200">
                <a:solidFill>
                  <a:schemeClr val="tx1">
                    <a:lumMod val="75000"/>
                    <a:lumOff val="25000"/>
                  </a:schemeClr>
                </a:solidFill>
                <a:latin typeface="+mn-lt"/>
                <a:ea typeface="+mn-ea"/>
                <a:cs typeface="+mn-cs"/>
              </a:defRPr>
            </a:lvl3pPr>
            <a:lvl4pPr marL="562356" lvl="3" indent="-137160" algn="l" defTabSz="685800" rtl="0" eaLnBrk="1" latinLnBrk="0" hangingPunct="1">
              <a:lnSpc>
                <a:spcPct val="90000"/>
              </a:lnSpc>
              <a:spcBef>
                <a:spcPts val="0"/>
              </a:spcBef>
              <a:spcAft>
                <a:spcPts val="300"/>
              </a:spcAft>
              <a:buClr>
                <a:schemeClr val="accent1"/>
              </a:buClr>
              <a:buFont typeface="Calibri" pitchFamily="34" charset="0"/>
              <a:buChar char="◦"/>
              <a:defRPr sz="1050" kern="1200">
                <a:solidFill>
                  <a:schemeClr val="tx1">
                    <a:lumMod val="75000"/>
                    <a:lumOff val="25000"/>
                  </a:schemeClr>
                </a:solidFill>
                <a:latin typeface="+mn-lt"/>
                <a:ea typeface="+mn-ea"/>
                <a:cs typeface="+mn-cs"/>
              </a:defRPr>
            </a:lvl4pPr>
            <a:lvl5pPr marL="699516" lvl="4" indent="-137160" algn="l" defTabSz="685800" rtl="0" eaLnBrk="1" latinLnBrk="0" hangingPunct="1">
              <a:lnSpc>
                <a:spcPct val="90000"/>
              </a:lnSpc>
              <a:spcBef>
                <a:spcPts val="0"/>
              </a:spcBef>
              <a:spcAft>
                <a:spcPts val="300"/>
              </a:spcAft>
              <a:buClr>
                <a:schemeClr val="accent1"/>
              </a:buClr>
              <a:buFont typeface="Calibri" pitchFamily="34" charset="0"/>
              <a:buChar char="◦"/>
              <a:defRPr sz="1050" kern="1200">
                <a:solidFill>
                  <a:schemeClr val="tx1">
                    <a:lumMod val="75000"/>
                    <a:lumOff val="25000"/>
                  </a:schemeClr>
                </a:solidFill>
                <a:latin typeface="+mn-lt"/>
                <a:ea typeface="+mn-ea"/>
                <a:cs typeface="+mn-cs"/>
              </a:defRPr>
            </a:lvl5pPr>
            <a:lvl6pPr marL="825000" lvl="5" indent="-171450" algn="l" defTabSz="685800" rtl="0" eaLnBrk="1" latinLnBrk="0" hangingPunct="1">
              <a:lnSpc>
                <a:spcPct val="90000"/>
              </a:lnSpc>
              <a:spcBef>
                <a:spcPts val="0"/>
              </a:spcBef>
              <a:spcAft>
                <a:spcPts val="300"/>
              </a:spcAft>
              <a:buClr>
                <a:schemeClr val="accent1"/>
              </a:buClr>
              <a:buFont typeface="Calibri" pitchFamily="34" charset="0"/>
              <a:buChar char="◦"/>
              <a:defRPr sz="1050" kern="1200">
                <a:solidFill>
                  <a:schemeClr val="tx1">
                    <a:lumMod val="75000"/>
                    <a:lumOff val="25000"/>
                  </a:schemeClr>
                </a:solidFill>
                <a:latin typeface="+mn-lt"/>
                <a:ea typeface="+mn-ea"/>
                <a:cs typeface="+mn-cs"/>
              </a:defRPr>
            </a:lvl6pPr>
            <a:lvl7pPr marL="975000" lvl="6" indent="-171450" algn="l" defTabSz="685800" rtl="0" eaLnBrk="1" latinLnBrk="0" hangingPunct="1">
              <a:lnSpc>
                <a:spcPct val="90000"/>
              </a:lnSpc>
              <a:spcBef>
                <a:spcPts val="0"/>
              </a:spcBef>
              <a:spcAft>
                <a:spcPts val="300"/>
              </a:spcAft>
              <a:buClr>
                <a:schemeClr val="accent1"/>
              </a:buClr>
              <a:buFont typeface="Calibri" pitchFamily="34" charset="0"/>
              <a:buChar char="◦"/>
              <a:defRPr sz="1050" kern="1200">
                <a:solidFill>
                  <a:schemeClr val="tx1">
                    <a:lumMod val="75000"/>
                    <a:lumOff val="25000"/>
                  </a:schemeClr>
                </a:solidFill>
                <a:latin typeface="+mn-lt"/>
                <a:ea typeface="+mn-ea"/>
                <a:cs typeface="+mn-cs"/>
              </a:defRPr>
            </a:lvl7pPr>
            <a:lvl8pPr marL="1125000" lvl="7" indent="-171450" algn="l" defTabSz="685800" rtl="0" eaLnBrk="1" latinLnBrk="0" hangingPunct="1">
              <a:lnSpc>
                <a:spcPct val="90000"/>
              </a:lnSpc>
              <a:spcBef>
                <a:spcPts val="0"/>
              </a:spcBef>
              <a:spcAft>
                <a:spcPts val="300"/>
              </a:spcAft>
              <a:buClr>
                <a:schemeClr val="accent1"/>
              </a:buClr>
              <a:buFont typeface="Calibri" pitchFamily="34" charset="0"/>
              <a:buChar char="◦"/>
              <a:defRPr sz="1050" kern="1200">
                <a:solidFill>
                  <a:schemeClr val="tx1">
                    <a:lumMod val="75000"/>
                    <a:lumOff val="25000"/>
                  </a:schemeClr>
                </a:solidFill>
                <a:latin typeface="+mn-lt"/>
                <a:ea typeface="+mn-ea"/>
                <a:cs typeface="+mn-cs"/>
              </a:defRPr>
            </a:lvl8pPr>
            <a:lvl9pPr marL="1275000" lvl="8" indent="-171450" algn="l" defTabSz="685800" rtl="0" eaLnBrk="1" latinLnBrk="0" hangingPunct="1">
              <a:lnSpc>
                <a:spcPct val="90000"/>
              </a:lnSpc>
              <a:spcBef>
                <a:spcPts val="0"/>
              </a:spcBef>
              <a:spcAft>
                <a:spcPts val="300"/>
              </a:spcAft>
              <a:buClr>
                <a:schemeClr val="accent1"/>
              </a:buClr>
              <a:buFont typeface="Calibri" pitchFamily="34" charset="0"/>
              <a:buChar char="◦"/>
              <a:defRPr sz="1050" kern="1200">
                <a:solidFill>
                  <a:schemeClr val="tx1">
                    <a:lumMod val="75000"/>
                    <a:lumOff val="25000"/>
                  </a:schemeClr>
                </a:solidFill>
                <a:latin typeface="+mn-lt"/>
                <a:ea typeface="+mn-ea"/>
                <a:cs typeface="+mn-cs"/>
              </a:defRPr>
            </a:lvl9pPr>
          </a:lstStyle>
          <a:p>
            <a:pPr marL="342900" lvl="1" indent="-342900">
              <a:spcAft>
                <a:spcPts val="150"/>
              </a:spcAft>
              <a:buSzPct val="100000"/>
              <a:buFont typeface="Wingdings" panose="05000000000000000000" pitchFamily="2" charset="2"/>
              <a:buChar char="§"/>
            </a:pPr>
            <a:endParaRPr lang="en-US" sz="2000" dirty="0">
              <a:solidFill>
                <a:schemeClr val="tx1"/>
              </a:solidFill>
              <a:latin typeface="Times New Roman" panose="02020603050405020304" pitchFamily="18" charset="0"/>
              <a:cs typeface="Times New Roman" panose="02020603050405020304" pitchFamily="18" charset="0"/>
            </a:endParaRPr>
          </a:p>
        </p:txBody>
      </p:sp>
      <p:sp>
        <p:nvSpPr>
          <p:cNvPr id="9" name="Text Placeholder 2"/>
          <p:cNvSpPr txBox="1">
            <a:spLocks/>
          </p:cNvSpPr>
          <p:nvPr/>
        </p:nvSpPr>
        <p:spPr>
          <a:xfrm>
            <a:off x="839423" y="2468881"/>
            <a:ext cx="8025300" cy="466484"/>
          </a:xfrm>
          <a:prstGeom prst="rect">
            <a:avLst/>
          </a:prstGeom>
        </p:spPr>
        <p:txBody>
          <a:bodyPr vert="horz" wrap="square" lIns="91425" tIns="91425" rIns="91425" bIns="91425" rtlCol="0" anchor="t" anchorCtr="0">
            <a:noAutofit/>
          </a:bodyPr>
          <a:lstStyle>
            <a:lvl1pPr marL="68580" lvl="0" indent="-68580" algn="l" defTabSz="685800" rtl="0" eaLnBrk="1" latinLnBrk="0" hangingPunct="1">
              <a:lnSpc>
                <a:spcPct val="90000"/>
              </a:lnSpc>
              <a:spcBef>
                <a:spcPts val="0"/>
              </a:spcBef>
              <a:spcAft>
                <a:spcPts val="150"/>
              </a:spcAft>
              <a:buClr>
                <a:schemeClr val="accent1"/>
              </a:buClr>
              <a:buSzPct val="100000"/>
              <a:buFont typeface="Calibri" panose="020F0502020204030204" pitchFamily="34" charset="0"/>
              <a:buChar char=" "/>
              <a:defRPr sz="1500" kern="1200">
                <a:solidFill>
                  <a:schemeClr val="tx1">
                    <a:lumMod val="75000"/>
                    <a:lumOff val="25000"/>
                  </a:schemeClr>
                </a:solidFill>
                <a:latin typeface="+mn-lt"/>
                <a:ea typeface="+mn-ea"/>
                <a:cs typeface="+mn-cs"/>
              </a:defRPr>
            </a:lvl1pPr>
            <a:lvl2pPr marL="288036" lvl="1" indent="-137160" algn="l" defTabSz="685800" rtl="0" eaLnBrk="1" latinLnBrk="0" hangingPunct="1">
              <a:lnSpc>
                <a:spcPct val="90000"/>
              </a:lnSpc>
              <a:spcBef>
                <a:spcPts val="0"/>
              </a:spcBef>
              <a:spcAft>
                <a:spcPts val="300"/>
              </a:spcAft>
              <a:buClr>
                <a:schemeClr val="accent1"/>
              </a:buClr>
              <a:buFont typeface="Calibri" pitchFamily="34" charset="0"/>
              <a:buChar char="◦"/>
              <a:defRPr sz="1350" kern="1200">
                <a:solidFill>
                  <a:schemeClr val="tx1">
                    <a:lumMod val="75000"/>
                    <a:lumOff val="25000"/>
                  </a:schemeClr>
                </a:solidFill>
                <a:latin typeface="+mn-lt"/>
                <a:ea typeface="+mn-ea"/>
                <a:cs typeface="+mn-cs"/>
              </a:defRPr>
            </a:lvl2pPr>
            <a:lvl3pPr marL="425196" lvl="2" indent="-137160" algn="l" defTabSz="685800" rtl="0" eaLnBrk="1" latinLnBrk="0" hangingPunct="1">
              <a:lnSpc>
                <a:spcPct val="90000"/>
              </a:lnSpc>
              <a:spcBef>
                <a:spcPts val="0"/>
              </a:spcBef>
              <a:spcAft>
                <a:spcPts val="300"/>
              </a:spcAft>
              <a:buClr>
                <a:schemeClr val="accent1"/>
              </a:buClr>
              <a:buFont typeface="Calibri" pitchFamily="34" charset="0"/>
              <a:buChar char="◦"/>
              <a:defRPr sz="1050" kern="1200">
                <a:solidFill>
                  <a:schemeClr val="tx1">
                    <a:lumMod val="75000"/>
                    <a:lumOff val="25000"/>
                  </a:schemeClr>
                </a:solidFill>
                <a:latin typeface="+mn-lt"/>
                <a:ea typeface="+mn-ea"/>
                <a:cs typeface="+mn-cs"/>
              </a:defRPr>
            </a:lvl3pPr>
            <a:lvl4pPr marL="562356" lvl="3" indent="-137160" algn="l" defTabSz="685800" rtl="0" eaLnBrk="1" latinLnBrk="0" hangingPunct="1">
              <a:lnSpc>
                <a:spcPct val="90000"/>
              </a:lnSpc>
              <a:spcBef>
                <a:spcPts val="0"/>
              </a:spcBef>
              <a:spcAft>
                <a:spcPts val="300"/>
              </a:spcAft>
              <a:buClr>
                <a:schemeClr val="accent1"/>
              </a:buClr>
              <a:buFont typeface="Calibri" pitchFamily="34" charset="0"/>
              <a:buChar char="◦"/>
              <a:defRPr sz="1050" kern="1200">
                <a:solidFill>
                  <a:schemeClr val="tx1">
                    <a:lumMod val="75000"/>
                    <a:lumOff val="25000"/>
                  </a:schemeClr>
                </a:solidFill>
                <a:latin typeface="+mn-lt"/>
                <a:ea typeface="+mn-ea"/>
                <a:cs typeface="+mn-cs"/>
              </a:defRPr>
            </a:lvl4pPr>
            <a:lvl5pPr marL="699516" lvl="4" indent="-137160" algn="l" defTabSz="685800" rtl="0" eaLnBrk="1" latinLnBrk="0" hangingPunct="1">
              <a:lnSpc>
                <a:spcPct val="90000"/>
              </a:lnSpc>
              <a:spcBef>
                <a:spcPts val="0"/>
              </a:spcBef>
              <a:spcAft>
                <a:spcPts val="300"/>
              </a:spcAft>
              <a:buClr>
                <a:schemeClr val="accent1"/>
              </a:buClr>
              <a:buFont typeface="Calibri" pitchFamily="34" charset="0"/>
              <a:buChar char="◦"/>
              <a:defRPr sz="1050" kern="1200">
                <a:solidFill>
                  <a:schemeClr val="tx1">
                    <a:lumMod val="75000"/>
                    <a:lumOff val="25000"/>
                  </a:schemeClr>
                </a:solidFill>
                <a:latin typeface="+mn-lt"/>
                <a:ea typeface="+mn-ea"/>
                <a:cs typeface="+mn-cs"/>
              </a:defRPr>
            </a:lvl5pPr>
            <a:lvl6pPr marL="825000" lvl="5" indent="-171450" algn="l" defTabSz="685800" rtl="0" eaLnBrk="1" latinLnBrk="0" hangingPunct="1">
              <a:lnSpc>
                <a:spcPct val="90000"/>
              </a:lnSpc>
              <a:spcBef>
                <a:spcPts val="0"/>
              </a:spcBef>
              <a:spcAft>
                <a:spcPts val="300"/>
              </a:spcAft>
              <a:buClr>
                <a:schemeClr val="accent1"/>
              </a:buClr>
              <a:buFont typeface="Calibri" pitchFamily="34" charset="0"/>
              <a:buChar char="◦"/>
              <a:defRPr sz="1050" kern="1200">
                <a:solidFill>
                  <a:schemeClr val="tx1">
                    <a:lumMod val="75000"/>
                    <a:lumOff val="25000"/>
                  </a:schemeClr>
                </a:solidFill>
                <a:latin typeface="+mn-lt"/>
                <a:ea typeface="+mn-ea"/>
                <a:cs typeface="+mn-cs"/>
              </a:defRPr>
            </a:lvl6pPr>
            <a:lvl7pPr marL="975000" lvl="6" indent="-171450" algn="l" defTabSz="685800" rtl="0" eaLnBrk="1" latinLnBrk="0" hangingPunct="1">
              <a:lnSpc>
                <a:spcPct val="90000"/>
              </a:lnSpc>
              <a:spcBef>
                <a:spcPts val="0"/>
              </a:spcBef>
              <a:spcAft>
                <a:spcPts val="300"/>
              </a:spcAft>
              <a:buClr>
                <a:schemeClr val="accent1"/>
              </a:buClr>
              <a:buFont typeface="Calibri" pitchFamily="34" charset="0"/>
              <a:buChar char="◦"/>
              <a:defRPr sz="1050" kern="1200">
                <a:solidFill>
                  <a:schemeClr val="tx1">
                    <a:lumMod val="75000"/>
                    <a:lumOff val="25000"/>
                  </a:schemeClr>
                </a:solidFill>
                <a:latin typeface="+mn-lt"/>
                <a:ea typeface="+mn-ea"/>
                <a:cs typeface="+mn-cs"/>
              </a:defRPr>
            </a:lvl7pPr>
            <a:lvl8pPr marL="1125000" lvl="7" indent="-171450" algn="l" defTabSz="685800" rtl="0" eaLnBrk="1" latinLnBrk="0" hangingPunct="1">
              <a:lnSpc>
                <a:spcPct val="90000"/>
              </a:lnSpc>
              <a:spcBef>
                <a:spcPts val="0"/>
              </a:spcBef>
              <a:spcAft>
                <a:spcPts val="300"/>
              </a:spcAft>
              <a:buClr>
                <a:schemeClr val="accent1"/>
              </a:buClr>
              <a:buFont typeface="Calibri" pitchFamily="34" charset="0"/>
              <a:buChar char="◦"/>
              <a:defRPr sz="1050" kern="1200">
                <a:solidFill>
                  <a:schemeClr val="tx1">
                    <a:lumMod val="75000"/>
                    <a:lumOff val="25000"/>
                  </a:schemeClr>
                </a:solidFill>
                <a:latin typeface="+mn-lt"/>
                <a:ea typeface="+mn-ea"/>
                <a:cs typeface="+mn-cs"/>
              </a:defRPr>
            </a:lvl8pPr>
            <a:lvl9pPr marL="1275000" lvl="8" indent="-171450" algn="l" defTabSz="685800" rtl="0" eaLnBrk="1" latinLnBrk="0" hangingPunct="1">
              <a:lnSpc>
                <a:spcPct val="90000"/>
              </a:lnSpc>
              <a:spcBef>
                <a:spcPts val="0"/>
              </a:spcBef>
              <a:spcAft>
                <a:spcPts val="300"/>
              </a:spcAft>
              <a:buClr>
                <a:schemeClr val="accent1"/>
              </a:buClr>
              <a:buFont typeface="Calibri" pitchFamily="34" charset="0"/>
              <a:buChar char="◦"/>
              <a:defRPr sz="1050" kern="1200">
                <a:solidFill>
                  <a:schemeClr val="tx1">
                    <a:lumMod val="75000"/>
                    <a:lumOff val="25000"/>
                  </a:schemeClr>
                </a:solidFill>
                <a:latin typeface="+mn-lt"/>
                <a:ea typeface="+mn-ea"/>
                <a:cs typeface="+mn-cs"/>
              </a:defRPr>
            </a:lvl9pPr>
          </a:lstStyle>
          <a:p>
            <a:pPr marL="342900" lvl="1" indent="-342900">
              <a:spcAft>
                <a:spcPts val="150"/>
              </a:spcAft>
              <a:buSzPct val="100000"/>
              <a:buFont typeface="Wingdings" panose="05000000000000000000" pitchFamily="2" charset="2"/>
              <a:buChar char="§"/>
            </a:pPr>
            <a:endParaRPr lang="en-US" sz="2000"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07069478"/>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07000" y="718329"/>
            <a:ext cx="8520600" cy="572700"/>
          </a:xfrm>
        </p:spPr>
        <p:txBody>
          <a:bodyPr>
            <a:noAutofit/>
          </a:bodyPr>
          <a:lstStyle/>
          <a:p>
            <a:r>
              <a:rPr lang="en-US" sz="3200" b="1" dirty="0">
                <a:solidFill>
                  <a:schemeClr val="tx1"/>
                </a:solidFill>
                <a:latin typeface="Times New Roman" panose="02020603050405020304" pitchFamily="18" charset="0"/>
                <a:ea typeface="Calibri"/>
                <a:cs typeface="Times New Roman" panose="02020603050405020304" pitchFamily="18" charset="0"/>
              </a:rPr>
              <a:t>Timeline for Thesis-II</a:t>
            </a:r>
          </a:p>
        </p:txBody>
      </p:sp>
      <p:sp>
        <p:nvSpPr>
          <p:cNvPr id="3" name="Text Placeholder 2"/>
          <p:cNvSpPr>
            <a:spLocks noGrp="1"/>
          </p:cNvSpPr>
          <p:nvPr>
            <p:ph type="body" idx="1"/>
          </p:nvPr>
        </p:nvSpPr>
        <p:spPr>
          <a:xfrm>
            <a:off x="656061" y="1224148"/>
            <a:ext cx="8025300" cy="3531492"/>
          </a:xfrm>
        </p:spPr>
        <p:txBody>
          <a:bodyPr>
            <a:noAutofit/>
          </a:bodyPr>
          <a:lstStyle/>
          <a:p>
            <a:pPr marL="0" lvl="1" indent="0">
              <a:spcAft>
                <a:spcPts val="150"/>
              </a:spcAft>
              <a:buSzPct val="100000"/>
              <a:buNone/>
            </a:pPr>
            <a:r>
              <a:rPr lang="en-US" sz="2000" dirty="0">
                <a:solidFill>
                  <a:schemeClr val="tx1"/>
                </a:solidFill>
                <a:latin typeface="Times New Roman" panose="02020603050405020304" pitchFamily="18" charset="0"/>
                <a:cs typeface="Times New Roman" panose="02020603050405020304" pitchFamily="18" charset="0"/>
              </a:rPr>
              <a:t>Thesis-II will consists of following steps</a:t>
            </a:r>
            <a:r>
              <a:rPr lang="en-US" sz="2000" dirty="0" smtClean="0">
                <a:solidFill>
                  <a:schemeClr val="tx1"/>
                </a:solidFill>
                <a:latin typeface="Times New Roman" panose="02020603050405020304" pitchFamily="18" charset="0"/>
                <a:cs typeface="Times New Roman" panose="02020603050405020304" pitchFamily="18" charset="0"/>
              </a:rPr>
              <a:t>:</a:t>
            </a:r>
          </a:p>
          <a:p>
            <a:pPr marL="342900" lvl="1" indent="-342900">
              <a:spcAft>
                <a:spcPts val="150"/>
              </a:spcAft>
              <a:buSzPct val="100000"/>
              <a:buFont typeface="Wingdings" panose="05000000000000000000" pitchFamily="2" charset="2"/>
              <a:buChar char="§"/>
            </a:pPr>
            <a:r>
              <a:rPr lang="en-US" sz="2000" dirty="0">
                <a:solidFill>
                  <a:schemeClr val="tx1"/>
                </a:solidFill>
                <a:latin typeface="Times New Roman" panose="02020603050405020304" pitchFamily="18" charset="0"/>
                <a:cs typeface="Times New Roman" panose="02020603050405020304" pitchFamily="18" charset="0"/>
              </a:rPr>
              <a:t>Implementation of the proposed </a:t>
            </a:r>
            <a:r>
              <a:rPr lang="en-US" sz="2000" dirty="0" smtClean="0">
                <a:solidFill>
                  <a:schemeClr val="tx1"/>
                </a:solidFill>
                <a:latin typeface="Times New Roman" panose="02020603050405020304" pitchFamily="18" charset="0"/>
                <a:cs typeface="Times New Roman" panose="02020603050405020304" pitchFamily="18" charset="0"/>
              </a:rPr>
              <a:t>methodology</a:t>
            </a:r>
          </a:p>
          <a:p>
            <a:pPr marL="342900" lvl="1" indent="-342900">
              <a:spcAft>
                <a:spcPts val="150"/>
              </a:spcAft>
              <a:buSzPct val="100000"/>
              <a:buFont typeface="Wingdings" panose="05000000000000000000" pitchFamily="2" charset="2"/>
              <a:buChar char="§"/>
            </a:pPr>
            <a:r>
              <a:rPr lang="en-US" sz="2000" dirty="0">
                <a:solidFill>
                  <a:schemeClr val="tx1"/>
                </a:solidFill>
                <a:latin typeface="Times New Roman" panose="02020603050405020304" pitchFamily="18" charset="0"/>
                <a:cs typeface="Times New Roman" panose="02020603050405020304" pitchFamily="18" charset="0"/>
              </a:rPr>
              <a:t>A detailed explanation of our proposed technique with respect to state of the </a:t>
            </a:r>
            <a:r>
              <a:rPr lang="en-US" sz="2000" dirty="0" smtClean="0">
                <a:solidFill>
                  <a:schemeClr val="tx1"/>
                </a:solidFill>
                <a:latin typeface="Times New Roman" panose="02020603050405020304" pitchFamily="18" charset="0"/>
                <a:cs typeface="Times New Roman" panose="02020603050405020304" pitchFamily="18" charset="0"/>
              </a:rPr>
              <a:t>art algorithms</a:t>
            </a:r>
          </a:p>
          <a:p>
            <a:pPr marL="342900" lvl="1" indent="-342900">
              <a:spcAft>
                <a:spcPts val="150"/>
              </a:spcAft>
              <a:buSzPct val="100000"/>
              <a:buFont typeface="Wingdings" panose="05000000000000000000" pitchFamily="2" charset="2"/>
              <a:buChar char="§"/>
            </a:pPr>
            <a:r>
              <a:rPr lang="en-US" sz="2000" dirty="0">
                <a:solidFill>
                  <a:schemeClr val="tx1"/>
                </a:solidFill>
                <a:latin typeface="Times New Roman" panose="02020603050405020304" pitchFamily="18" charset="0"/>
                <a:cs typeface="Times New Roman" panose="02020603050405020304" pitchFamily="18" charset="0"/>
              </a:rPr>
              <a:t>A detailed analysis will be performed on the results obtained with the results </a:t>
            </a:r>
            <a:r>
              <a:rPr lang="en-US" sz="2000" dirty="0" smtClean="0">
                <a:solidFill>
                  <a:schemeClr val="tx1"/>
                </a:solidFill>
                <a:latin typeface="Times New Roman" panose="02020603050405020304" pitchFamily="18" charset="0"/>
                <a:cs typeface="Times New Roman" panose="02020603050405020304" pitchFamily="18" charset="0"/>
              </a:rPr>
              <a:t>of the </a:t>
            </a:r>
            <a:r>
              <a:rPr lang="en-US" sz="2000" dirty="0">
                <a:solidFill>
                  <a:schemeClr val="tx1"/>
                </a:solidFill>
                <a:latin typeface="Times New Roman" panose="02020603050405020304" pitchFamily="18" charset="0"/>
                <a:cs typeface="Times New Roman" panose="02020603050405020304" pitchFamily="18" charset="0"/>
              </a:rPr>
              <a:t>state of the art </a:t>
            </a:r>
            <a:r>
              <a:rPr lang="en-US" sz="2000" dirty="0" smtClean="0">
                <a:solidFill>
                  <a:schemeClr val="tx1"/>
                </a:solidFill>
                <a:latin typeface="Times New Roman" panose="02020603050405020304" pitchFamily="18" charset="0"/>
                <a:cs typeface="Times New Roman" panose="02020603050405020304" pitchFamily="18" charset="0"/>
              </a:rPr>
              <a:t>algorithms</a:t>
            </a:r>
          </a:p>
          <a:p>
            <a:pPr marL="342900" lvl="1" indent="-342900">
              <a:spcAft>
                <a:spcPts val="150"/>
              </a:spcAft>
              <a:buSzPct val="100000"/>
              <a:buFont typeface="Wingdings" panose="05000000000000000000" pitchFamily="2" charset="2"/>
              <a:buChar char="§"/>
            </a:pPr>
            <a:r>
              <a:rPr lang="en-US" sz="2000" dirty="0">
                <a:solidFill>
                  <a:schemeClr val="tx1"/>
                </a:solidFill>
                <a:latin typeface="Times New Roman" panose="02020603050405020304" pitchFamily="18" charset="0"/>
                <a:cs typeface="Times New Roman" panose="02020603050405020304" pitchFamily="18" charset="0"/>
              </a:rPr>
              <a:t>Further improvements if results are not </a:t>
            </a:r>
            <a:r>
              <a:rPr lang="en-US" sz="2000" dirty="0" smtClean="0">
                <a:solidFill>
                  <a:schemeClr val="tx1"/>
                </a:solidFill>
                <a:latin typeface="Times New Roman" panose="02020603050405020304" pitchFamily="18" charset="0"/>
                <a:cs typeface="Times New Roman" panose="02020603050405020304" pitchFamily="18" charset="0"/>
              </a:rPr>
              <a:t>satisfactory</a:t>
            </a:r>
          </a:p>
          <a:p>
            <a:pPr marL="342900" lvl="1" indent="-342900">
              <a:spcAft>
                <a:spcPts val="150"/>
              </a:spcAft>
              <a:buSzPct val="100000"/>
              <a:buFont typeface="Wingdings" panose="05000000000000000000" pitchFamily="2" charset="2"/>
              <a:buChar char="§"/>
            </a:pPr>
            <a:r>
              <a:rPr lang="en-US" sz="2000" dirty="0">
                <a:solidFill>
                  <a:schemeClr val="tx1"/>
                </a:solidFill>
                <a:latin typeface="Times New Roman" panose="02020603050405020304" pitchFamily="18" charset="0"/>
                <a:cs typeface="Times New Roman" panose="02020603050405020304" pitchFamily="18" charset="0"/>
              </a:rPr>
              <a:t>I</a:t>
            </a:r>
            <a:r>
              <a:rPr lang="en-US" sz="2000" dirty="0" smtClean="0">
                <a:solidFill>
                  <a:schemeClr val="tx1"/>
                </a:solidFill>
                <a:latin typeface="Times New Roman" panose="02020603050405020304" pitchFamily="18" charset="0"/>
                <a:cs typeface="Times New Roman" panose="02020603050405020304" pitchFamily="18" charset="0"/>
              </a:rPr>
              <a:t>mprovements </a:t>
            </a:r>
            <a:r>
              <a:rPr lang="en-US" sz="2000" dirty="0">
                <a:solidFill>
                  <a:schemeClr val="tx1"/>
                </a:solidFill>
                <a:latin typeface="Times New Roman" panose="02020603050405020304" pitchFamily="18" charset="0"/>
                <a:cs typeface="Times New Roman" panose="02020603050405020304" pitchFamily="18" charset="0"/>
              </a:rPr>
              <a:t>will </a:t>
            </a:r>
            <a:r>
              <a:rPr lang="en-US" sz="2000" dirty="0" smtClean="0">
                <a:solidFill>
                  <a:schemeClr val="tx1"/>
                </a:solidFill>
                <a:latin typeface="Times New Roman" panose="02020603050405020304" pitchFamily="18" charset="0"/>
                <a:cs typeface="Times New Roman" panose="02020603050405020304" pitchFamily="18" charset="0"/>
              </a:rPr>
              <a:t>consist </a:t>
            </a:r>
            <a:r>
              <a:rPr lang="en-US" sz="2000" dirty="0">
                <a:solidFill>
                  <a:schemeClr val="tx1"/>
                </a:solidFill>
                <a:latin typeface="Times New Roman" panose="02020603050405020304" pitchFamily="18" charset="0"/>
                <a:cs typeface="Times New Roman" panose="02020603050405020304" pitchFamily="18" charset="0"/>
              </a:rPr>
              <a:t>of either one or multiple of the following</a:t>
            </a:r>
            <a:r>
              <a:rPr lang="en-US" sz="2000" dirty="0" smtClean="0">
                <a:solidFill>
                  <a:schemeClr val="tx1"/>
                </a:solidFill>
                <a:latin typeface="Times New Roman" panose="02020603050405020304" pitchFamily="18" charset="0"/>
                <a:cs typeface="Times New Roman" panose="02020603050405020304" pitchFamily="18" charset="0"/>
              </a:rPr>
              <a:t>:</a:t>
            </a:r>
          </a:p>
          <a:p>
            <a:pPr marL="754380" lvl="4" indent="-342900">
              <a:spcAft>
                <a:spcPts val="150"/>
              </a:spcAft>
              <a:buSzPct val="100000"/>
              <a:buFont typeface="Wingdings" panose="05000000000000000000" pitchFamily="2" charset="2"/>
              <a:buChar char="§"/>
            </a:pPr>
            <a:r>
              <a:rPr lang="en-US" sz="1800" dirty="0">
                <a:solidFill>
                  <a:schemeClr val="tx1"/>
                </a:solidFill>
                <a:latin typeface="Times New Roman" panose="02020603050405020304" pitchFamily="18" charset="0"/>
                <a:cs typeface="Times New Roman" panose="02020603050405020304" pitchFamily="18" charset="0"/>
              </a:rPr>
              <a:t>Incremental population </a:t>
            </a:r>
            <a:r>
              <a:rPr lang="en-US" sz="1800" dirty="0" smtClean="0">
                <a:solidFill>
                  <a:schemeClr val="tx1"/>
                </a:solidFill>
                <a:latin typeface="Times New Roman" panose="02020603050405020304" pitchFamily="18" charset="0"/>
                <a:cs typeface="Times New Roman" panose="02020603050405020304" pitchFamily="18" charset="0"/>
              </a:rPr>
              <a:t>size</a:t>
            </a:r>
          </a:p>
          <a:p>
            <a:pPr marL="754380" lvl="4" indent="-342900">
              <a:spcAft>
                <a:spcPts val="150"/>
              </a:spcAft>
              <a:buSzPct val="100000"/>
              <a:buFont typeface="Wingdings" panose="05000000000000000000" pitchFamily="2" charset="2"/>
              <a:buChar char="§"/>
            </a:pPr>
            <a:r>
              <a:rPr lang="en-US" sz="1800" dirty="0" smtClean="0">
                <a:solidFill>
                  <a:schemeClr val="tx1"/>
                </a:solidFill>
                <a:latin typeface="Times New Roman" panose="02020603050405020304" pitchFamily="18" charset="0"/>
                <a:cs typeface="Times New Roman" panose="02020603050405020304" pitchFamily="18" charset="0"/>
              </a:rPr>
              <a:t>local </a:t>
            </a:r>
            <a:r>
              <a:rPr lang="en-US" sz="1800" dirty="0">
                <a:solidFill>
                  <a:schemeClr val="tx1"/>
                </a:solidFill>
                <a:latin typeface="Times New Roman" panose="02020603050405020304" pitchFamily="18" charset="0"/>
                <a:cs typeface="Times New Roman" panose="02020603050405020304" pitchFamily="18" charset="0"/>
              </a:rPr>
              <a:t>search mechanism </a:t>
            </a:r>
            <a:r>
              <a:rPr lang="en-US" sz="1800" dirty="0" smtClean="0">
                <a:solidFill>
                  <a:schemeClr val="tx1"/>
                </a:solidFill>
                <a:latin typeface="Times New Roman" panose="02020603050405020304" pitchFamily="18" charset="0"/>
                <a:cs typeface="Times New Roman" panose="02020603050405020304" pitchFamily="18" charset="0"/>
              </a:rPr>
              <a:t>to </a:t>
            </a:r>
            <a:r>
              <a:rPr lang="en-US" sz="1800" dirty="0">
                <a:solidFill>
                  <a:schemeClr val="tx1"/>
                </a:solidFill>
                <a:latin typeface="Times New Roman" panose="02020603050405020304" pitchFamily="18" charset="0"/>
                <a:cs typeface="Times New Roman" panose="02020603050405020304" pitchFamily="18" charset="0"/>
              </a:rPr>
              <a:t>improve the quality of  </a:t>
            </a:r>
            <a:r>
              <a:rPr lang="en-US" sz="1800" dirty="0" smtClean="0">
                <a:solidFill>
                  <a:schemeClr val="tx1"/>
                </a:solidFill>
                <a:latin typeface="Times New Roman" panose="02020603050405020304" pitchFamily="18" charset="0"/>
                <a:cs typeface="Times New Roman" panose="02020603050405020304" pitchFamily="18" charset="0"/>
              </a:rPr>
              <a:t>the solutions</a:t>
            </a:r>
          </a:p>
          <a:p>
            <a:pPr marL="754380" lvl="4" indent="-342900">
              <a:spcAft>
                <a:spcPts val="150"/>
              </a:spcAft>
              <a:buSzPct val="100000"/>
              <a:buFont typeface="Wingdings" panose="05000000000000000000" pitchFamily="2" charset="2"/>
              <a:buChar char="§"/>
            </a:pPr>
            <a:r>
              <a:rPr lang="en-US" sz="1800" dirty="0">
                <a:solidFill>
                  <a:schemeClr val="tx1"/>
                </a:solidFill>
                <a:latin typeface="Times New Roman" panose="02020603050405020304" pitchFamily="18" charset="0"/>
                <a:cs typeface="Times New Roman" panose="02020603050405020304" pitchFamily="18" charset="0"/>
              </a:rPr>
              <a:t>C</a:t>
            </a:r>
            <a:r>
              <a:rPr lang="en-US" sz="1800" dirty="0" smtClean="0">
                <a:solidFill>
                  <a:schemeClr val="tx1"/>
                </a:solidFill>
                <a:latin typeface="Times New Roman" panose="02020603050405020304" pitchFamily="18" charset="0"/>
                <a:cs typeface="Times New Roman" panose="02020603050405020304" pitchFamily="18" charset="0"/>
              </a:rPr>
              <a:t>rossover </a:t>
            </a:r>
            <a:r>
              <a:rPr lang="en-US" sz="1800" dirty="0">
                <a:solidFill>
                  <a:schemeClr val="tx1"/>
                </a:solidFill>
                <a:latin typeface="Times New Roman" panose="02020603050405020304" pitchFamily="18" charset="0"/>
                <a:cs typeface="Times New Roman" panose="02020603050405020304" pitchFamily="18" charset="0"/>
              </a:rPr>
              <a:t>operator to generate new population </a:t>
            </a:r>
            <a:endParaRPr lang="en-US" sz="1800" dirty="0" smtClean="0">
              <a:solidFill>
                <a:schemeClr val="tx1"/>
              </a:solidFill>
              <a:latin typeface="Times New Roman" panose="02020603050405020304" pitchFamily="18" charset="0"/>
              <a:cs typeface="Times New Roman" panose="02020603050405020304" pitchFamily="18" charset="0"/>
            </a:endParaRPr>
          </a:p>
          <a:p>
            <a:pPr marL="754380" lvl="4" indent="-342900">
              <a:spcAft>
                <a:spcPts val="150"/>
              </a:spcAft>
              <a:buSzPct val="100000"/>
              <a:buFont typeface="Wingdings" panose="05000000000000000000" pitchFamily="2" charset="2"/>
              <a:buChar char="§"/>
            </a:pPr>
            <a:r>
              <a:rPr lang="en-US" sz="1800" dirty="0" smtClean="0">
                <a:solidFill>
                  <a:schemeClr val="tx1"/>
                </a:solidFill>
                <a:latin typeface="Times New Roman" panose="02020603050405020304" pitchFamily="18" charset="0"/>
                <a:cs typeface="Times New Roman" panose="02020603050405020304" pitchFamily="18" charset="0"/>
              </a:rPr>
              <a:t>Improve </a:t>
            </a:r>
            <a:r>
              <a:rPr lang="en-US" sz="1800" dirty="0">
                <a:solidFill>
                  <a:schemeClr val="tx1"/>
                </a:solidFill>
                <a:latin typeface="Times New Roman" panose="02020603050405020304" pitchFamily="18" charset="0"/>
                <a:cs typeface="Times New Roman" panose="02020603050405020304" pitchFamily="18" charset="0"/>
              </a:rPr>
              <a:t>existing niching strategy to enhance </a:t>
            </a:r>
            <a:r>
              <a:rPr lang="en-US" sz="1800" dirty="0" smtClean="0">
                <a:solidFill>
                  <a:schemeClr val="tx1"/>
                </a:solidFill>
                <a:latin typeface="Times New Roman" panose="02020603050405020304" pitchFamily="18" charset="0"/>
                <a:cs typeface="Times New Roman" panose="02020603050405020304" pitchFamily="18" charset="0"/>
              </a:rPr>
              <a:t>performance</a:t>
            </a:r>
            <a:endParaRPr lang="en-US" sz="1800" dirty="0">
              <a:solidFill>
                <a:schemeClr val="tx1"/>
              </a:solidFill>
              <a:latin typeface="Times New Roman" panose="02020603050405020304" pitchFamily="18" charset="0"/>
              <a:cs typeface="Times New Roman" panose="02020603050405020304" pitchFamily="18" charset="0"/>
            </a:endParaRPr>
          </a:p>
          <a:p>
            <a:pPr marL="480060" lvl="2" indent="-342900">
              <a:spcAft>
                <a:spcPts val="150"/>
              </a:spcAft>
              <a:buSzPct val="100000"/>
              <a:buFont typeface="Wingdings" panose="05000000000000000000" pitchFamily="2" charset="2"/>
              <a:buChar char="§"/>
            </a:pPr>
            <a:endParaRPr lang="en-US" sz="1700" dirty="0" smtClean="0">
              <a:solidFill>
                <a:schemeClr val="tx1"/>
              </a:solidFill>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idx="12"/>
          </p:nvPr>
        </p:nvSpPr>
        <p:spPr/>
        <p:txBody>
          <a:bodyPr/>
          <a:lstStyle/>
          <a:p>
            <a:fld id="{00000000-1234-1234-1234-123412341234}" type="slidenum">
              <a:rPr lang="en" smtClean="0"/>
              <a:pPr/>
              <a:t>34</a:t>
            </a:fld>
            <a:endParaRPr lang="en" dirty="0"/>
          </a:p>
        </p:txBody>
      </p:sp>
    </p:spTree>
    <p:extLst>
      <p:ext uri="{BB962C8B-B14F-4D97-AF65-F5344CB8AC3E}">
        <p14:creationId xmlns:p14="http://schemas.microsoft.com/office/powerpoint/2010/main" val="937933344"/>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200" b="1" dirty="0">
                <a:solidFill>
                  <a:schemeClr val="tx1"/>
                </a:solidFill>
                <a:latin typeface="Times New Roman" panose="02020603050405020304" pitchFamily="18" charset="0"/>
                <a:ea typeface="Calibri"/>
                <a:cs typeface="Times New Roman" panose="02020603050405020304" pitchFamily="18" charset="0"/>
              </a:rPr>
              <a:t>References</a:t>
            </a:r>
          </a:p>
        </p:txBody>
      </p:sp>
      <p:sp>
        <p:nvSpPr>
          <p:cNvPr id="3" name="Text Placeholder 2"/>
          <p:cNvSpPr>
            <a:spLocks noGrp="1"/>
          </p:cNvSpPr>
          <p:nvPr>
            <p:ph type="body" idx="1"/>
          </p:nvPr>
        </p:nvSpPr>
        <p:spPr>
          <a:xfrm>
            <a:off x="311700" y="1353959"/>
            <a:ext cx="8520600" cy="3334800"/>
          </a:xfrm>
        </p:spPr>
        <p:txBody>
          <a:bodyPr>
            <a:normAutofit/>
          </a:bodyPr>
          <a:lstStyle/>
          <a:p>
            <a:endParaRPr lang="en-US" sz="1200" dirty="0" smtClean="0"/>
          </a:p>
          <a:p>
            <a:endParaRPr lang="en-US" sz="1200" dirty="0" smtClean="0"/>
          </a:p>
          <a:p>
            <a:endParaRPr lang="en-US" sz="1200" dirty="0" smtClean="0"/>
          </a:p>
          <a:p>
            <a:endParaRPr lang="en-US" sz="1200" dirty="0"/>
          </a:p>
        </p:txBody>
      </p:sp>
      <p:sp>
        <p:nvSpPr>
          <p:cNvPr id="4" name="Slide Number Placeholder 3"/>
          <p:cNvSpPr>
            <a:spLocks noGrp="1"/>
          </p:cNvSpPr>
          <p:nvPr>
            <p:ph type="sldNum" idx="12"/>
          </p:nvPr>
        </p:nvSpPr>
        <p:spPr/>
        <p:txBody>
          <a:bodyPr/>
          <a:lstStyle/>
          <a:p>
            <a:fld id="{00000000-1234-1234-1234-123412341234}" type="slidenum">
              <a:rPr lang="en" smtClean="0"/>
              <a:pPr/>
              <a:t>35</a:t>
            </a:fld>
            <a:endParaRPr lang="en" dirty="0"/>
          </a:p>
        </p:txBody>
      </p:sp>
      <p:sp>
        <p:nvSpPr>
          <p:cNvPr id="7" name="Rectangle 6"/>
          <p:cNvSpPr/>
          <p:nvPr/>
        </p:nvSpPr>
        <p:spPr>
          <a:xfrm>
            <a:off x="251749" y="1017725"/>
            <a:ext cx="8520600" cy="3416320"/>
          </a:xfrm>
          <a:prstGeom prst="rect">
            <a:avLst/>
          </a:prstGeom>
          <a:solidFill>
            <a:schemeClr val="bg1"/>
          </a:solidFill>
        </p:spPr>
        <p:txBody>
          <a:bodyPr wrap="square">
            <a:spAutoFit/>
          </a:bodyPr>
          <a:lstStyle/>
          <a:p>
            <a:pPr lvl="6" algn="just"/>
            <a:r>
              <a:rPr lang="en-US" sz="1200" dirty="0" smtClean="0"/>
              <a:t>[1] Qu</a:t>
            </a:r>
            <a:r>
              <a:rPr lang="en-US" sz="1200" dirty="0"/>
              <a:t>, B. Y., P. N. Suganthan, and J. J. Liang (2012). Differential evolution with </a:t>
            </a:r>
            <a:r>
              <a:rPr lang="en-US" sz="1200" dirty="0" smtClean="0"/>
              <a:t>neighborhood mutation </a:t>
            </a:r>
            <a:r>
              <a:rPr lang="en-US" sz="1200" dirty="0"/>
              <a:t>for </a:t>
            </a:r>
            <a:r>
              <a:rPr lang="en-US" sz="1200" dirty="0" smtClean="0"/>
              <a:t>multimodal</a:t>
            </a:r>
          </a:p>
          <a:p>
            <a:pPr lvl="6" algn="just"/>
            <a:r>
              <a:rPr lang="en-US" sz="1200" dirty="0" smtClean="0"/>
              <a:t>     optimization</a:t>
            </a:r>
            <a:r>
              <a:rPr lang="en-US" sz="1200" dirty="0"/>
              <a:t>. IEEE Trans. Evol. Comput. 16(5</a:t>
            </a:r>
            <a:r>
              <a:rPr lang="en-US" sz="1200" dirty="0" smtClean="0"/>
              <a:t>), 601–614.</a:t>
            </a:r>
          </a:p>
          <a:p>
            <a:pPr algn="just"/>
            <a:r>
              <a:rPr lang="en-US" sz="1200" dirty="0" smtClean="0"/>
              <a:t>[2] Gao</a:t>
            </a:r>
            <a:r>
              <a:rPr lang="en-US" sz="1200" dirty="0"/>
              <a:t>, W., G. G. Yen, and S. Liu (2014). A cluster-based differential evolution with </a:t>
            </a:r>
            <a:r>
              <a:rPr lang="en-US" sz="1200" dirty="0" smtClean="0"/>
              <a:t>self adaptive strategy </a:t>
            </a:r>
            <a:r>
              <a:rPr lang="en-US" sz="1200" dirty="0"/>
              <a:t>for multimodal </a:t>
            </a:r>
            <a:endParaRPr lang="en-US" sz="1200" dirty="0" smtClean="0"/>
          </a:p>
          <a:p>
            <a:pPr algn="just"/>
            <a:r>
              <a:rPr lang="en-US" sz="1200" dirty="0"/>
              <a:t> </a:t>
            </a:r>
            <a:r>
              <a:rPr lang="en-US" sz="1200" dirty="0" smtClean="0"/>
              <a:t>    optimization</a:t>
            </a:r>
            <a:r>
              <a:rPr lang="en-US" sz="1200" dirty="0"/>
              <a:t>. IEEE Trans. Cybern. 44(8), 1314–1327</a:t>
            </a:r>
            <a:r>
              <a:rPr lang="en-US" sz="1200" dirty="0" smtClean="0"/>
              <a:t>.</a:t>
            </a:r>
          </a:p>
          <a:p>
            <a:pPr algn="just"/>
            <a:r>
              <a:rPr lang="en-US" sz="1200" dirty="0" smtClean="0"/>
              <a:t>[3] Li</a:t>
            </a:r>
            <a:r>
              <a:rPr lang="en-US" sz="1200" dirty="0"/>
              <a:t>, L. and K. Tang (2015). History-based topological speciation for multimodal </a:t>
            </a:r>
            <a:r>
              <a:rPr lang="en-US" sz="1200" dirty="0" smtClean="0"/>
              <a:t>optimization. IEEE </a:t>
            </a:r>
            <a:r>
              <a:rPr lang="en-US" sz="1200" dirty="0"/>
              <a:t>Trans. Evol. </a:t>
            </a:r>
            <a:r>
              <a:rPr lang="en-US" sz="1200" dirty="0" smtClean="0"/>
              <a:t>Comput. </a:t>
            </a:r>
          </a:p>
          <a:p>
            <a:pPr algn="just"/>
            <a:r>
              <a:rPr lang="en-US" sz="1200" dirty="0"/>
              <a:t> </a:t>
            </a:r>
            <a:r>
              <a:rPr lang="en-US" sz="1200" dirty="0" smtClean="0"/>
              <a:t>    19(1</a:t>
            </a:r>
            <a:r>
              <a:rPr lang="en-US" sz="1200" dirty="0"/>
              <a:t>), 136–150</a:t>
            </a:r>
            <a:r>
              <a:rPr lang="en-US" sz="1200" dirty="0" smtClean="0"/>
              <a:t>.</a:t>
            </a:r>
          </a:p>
          <a:p>
            <a:pPr algn="just"/>
            <a:r>
              <a:rPr lang="en-US" sz="1200" dirty="0" smtClean="0"/>
              <a:t>[4] Field send, </a:t>
            </a:r>
            <a:r>
              <a:rPr lang="en-US" sz="1200" dirty="0"/>
              <a:t>J. E. (2014). Running Up Those Hills: Multi-modal search with the </a:t>
            </a:r>
            <a:r>
              <a:rPr lang="en-US" sz="1200" dirty="0" smtClean="0"/>
              <a:t>niching migratory </a:t>
            </a:r>
            <a:r>
              <a:rPr lang="en-US" sz="1200" dirty="0"/>
              <a:t>multi-swarm </a:t>
            </a:r>
            <a:r>
              <a:rPr lang="en-US" sz="1200" dirty="0" smtClean="0"/>
              <a:t>optimizer. </a:t>
            </a:r>
          </a:p>
          <a:p>
            <a:pPr algn="just"/>
            <a:r>
              <a:rPr lang="en-US" sz="1200" dirty="0"/>
              <a:t> </a:t>
            </a:r>
            <a:r>
              <a:rPr lang="en-US" sz="1200" dirty="0" smtClean="0"/>
              <a:t>    Proc</a:t>
            </a:r>
            <a:r>
              <a:rPr lang="en-US" sz="1200" dirty="0"/>
              <a:t>. 2014 IEEE Congr. Evol. Comput. CEC </a:t>
            </a:r>
            <a:r>
              <a:rPr lang="en-US" sz="1200" dirty="0" smtClean="0"/>
              <a:t>2014, 2593–2600.</a:t>
            </a:r>
          </a:p>
          <a:p>
            <a:pPr algn="just"/>
            <a:r>
              <a:rPr lang="en-US" sz="1200" dirty="0" smtClean="0"/>
              <a:t>[5] Qu</a:t>
            </a:r>
            <a:r>
              <a:rPr lang="en-US" sz="1200" dirty="0"/>
              <a:t>, B. Y., P. N. Suganthan, and S. Das (2013). A distance-based locally informed </a:t>
            </a:r>
            <a:r>
              <a:rPr lang="en-US" sz="1200" dirty="0" smtClean="0"/>
              <a:t>particle swarm </a:t>
            </a:r>
            <a:r>
              <a:rPr lang="en-US" sz="1200" dirty="0"/>
              <a:t>model for multimodal </a:t>
            </a:r>
            <a:endParaRPr lang="en-US" sz="1200" dirty="0" smtClean="0"/>
          </a:p>
          <a:p>
            <a:pPr algn="just"/>
            <a:r>
              <a:rPr lang="en-US" sz="1200" dirty="0"/>
              <a:t> </a:t>
            </a:r>
            <a:r>
              <a:rPr lang="en-US" sz="1200" dirty="0" smtClean="0"/>
              <a:t>    optimization</a:t>
            </a:r>
            <a:r>
              <a:rPr lang="en-US" sz="1200" dirty="0"/>
              <a:t>. IEEE Trans. Evol. Comput. 17(3), 387–402</a:t>
            </a:r>
            <a:r>
              <a:rPr lang="en-US" sz="1200" dirty="0" smtClean="0"/>
              <a:t>.</a:t>
            </a:r>
          </a:p>
          <a:p>
            <a:pPr algn="just"/>
            <a:r>
              <a:rPr lang="en-US" sz="1200" dirty="0" smtClean="0"/>
              <a:t>[6] Yang</a:t>
            </a:r>
            <a:r>
              <a:rPr lang="en-US" sz="1200" dirty="0"/>
              <a:t>, Q., W. N. Chen, Z. Yu, T. Gu, Y. Li, H. Zhang, and J. Zhang (2017, April</a:t>
            </a:r>
            <a:r>
              <a:rPr lang="en-US" sz="1200" dirty="0" smtClean="0"/>
              <a:t>). Adaptive </a:t>
            </a:r>
            <a:r>
              <a:rPr lang="en-US" sz="1200" dirty="0"/>
              <a:t>multimodal continuous ant </a:t>
            </a:r>
            <a:endParaRPr lang="en-US" sz="1200" dirty="0" smtClean="0"/>
          </a:p>
          <a:p>
            <a:pPr algn="just"/>
            <a:r>
              <a:rPr lang="en-US" sz="1200" dirty="0"/>
              <a:t> </a:t>
            </a:r>
            <a:r>
              <a:rPr lang="en-US" sz="1200" dirty="0" smtClean="0"/>
              <a:t>    colony </a:t>
            </a:r>
            <a:r>
              <a:rPr lang="en-US" sz="1200" dirty="0"/>
              <a:t>optimization. IEEE Transactions on </a:t>
            </a:r>
            <a:r>
              <a:rPr lang="en-US" sz="1200" dirty="0" smtClean="0"/>
              <a:t>Evolutionary Computation </a:t>
            </a:r>
            <a:r>
              <a:rPr lang="en-US" sz="1200" dirty="0"/>
              <a:t>21(2), 191–205</a:t>
            </a:r>
            <a:r>
              <a:rPr lang="en-US" sz="1200" dirty="0" smtClean="0"/>
              <a:t>.</a:t>
            </a:r>
          </a:p>
          <a:p>
            <a:pPr algn="just"/>
            <a:r>
              <a:rPr lang="en-US" sz="1200" dirty="0" smtClean="0"/>
              <a:t>[7] Lin</a:t>
            </a:r>
            <a:r>
              <a:rPr lang="en-US" sz="1200" dirty="0"/>
              <a:t>, Y. C., M. Clauß, and M. Middendorf (2016). Simple Probabilistic </a:t>
            </a:r>
            <a:r>
              <a:rPr lang="en-US" sz="1200" dirty="0" smtClean="0"/>
              <a:t>Population-Based Optimization</a:t>
            </a:r>
            <a:r>
              <a:rPr lang="en-US" sz="1200" dirty="0"/>
              <a:t>. IEEE Trans. Evol. </a:t>
            </a:r>
            <a:endParaRPr lang="en-US" sz="1200" dirty="0" smtClean="0"/>
          </a:p>
          <a:p>
            <a:pPr algn="just"/>
            <a:r>
              <a:rPr lang="en-US" sz="1200" dirty="0"/>
              <a:t> </a:t>
            </a:r>
            <a:r>
              <a:rPr lang="en-US" sz="1200" dirty="0" smtClean="0"/>
              <a:t>     Comput</a:t>
            </a:r>
            <a:r>
              <a:rPr lang="en-US" sz="1200" dirty="0"/>
              <a:t>. 20(2), 245–262</a:t>
            </a:r>
            <a:r>
              <a:rPr lang="en-US" sz="1200" dirty="0" smtClean="0"/>
              <a:t>.</a:t>
            </a:r>
          </a:p>
          <a:p>
            <a:pPr algn="just"/>
            <a:r>
              <a:rPr lang="en-US" sz="1200" dirty="0" smtClean="0"/>
              <a:t>[8] Basak</a:t>
            </a:r>
            <a:r>
              <a:rPr lang="en-US" sz="1200" dirty="0"/>
              <a:t>, A., S. Das, and K. C. Tan (2013). Multimodal optimization using a </a:t>
            </a:r>
            <a:r>
              <a:rPr lang="en-US" sz="1200" dirty="0" smtClean="0"/>
              <a:t>biobjective differential </a:t>
            </a:r>
            <a:r>
              <a:rPr lang="en-US" sz="1200" dirty="0"/>
              <a:t>evolution algorithm </a:t>
            </a:r>
            <a:endParaRPr lang="en-US" sz="1200" dirty="0" smtClean="0"/>
          </a:p>
          <a:p>
            <a:pPr algn="just"/>
            <a:r>
              <a:rPr lang="en-US" sz="1200" dirty="0"/>
              <a:t> </a:t>
            </a:r>
            <a:r>
              <a:rPr lang="en-US" sz="1200" dirty="0" smtClean="0"/>
              <a:t>    enhanced </a:t>
            </a:r>
            <a:r>
              <a:rPr lang="en-US" sz="1200" dirty="0"/>
              <a:t>with mean distance-based selection. </a:t>
            </a:r>
            <a:r>
              <a:rPr lang="en-US" sz="1200" dirty="0" smtClean="0"/>
              <a:t>IEEE Trans</a:t>
            </a:r>
            <a:r>
              <a:rPr lang="en-US" sz="1200" dirty="0"/>
              <a:t>. Evol. Comput. 17(5), 666–685</a:t>
            </a:r>
            <a:r>
              <a:rPr lang="en-US" sz="1200" dirty="0" smtClean="0"/>
              <a:t>.</a:t>
            </a:r>
          </a:p>
          <a:p>
            <a:pPr algn="just"/>
            <a:r>
              <a:rPr lang="en-US" sz="1200" dirty="0" smtClean="0"/>
              <a:t>[9] Liao</a:t>
            </a:r>
            <a:r>
              <a:rPr lang="en-US" sz="1200" dirty="0"/>
              <a:t>, T., K. Socha, M. A. M. de Oca, T. </a:t>
            </a:r>
            <a:r>
              <a:rPr lang="en-US" sz="1200" dirty="0" smtClean="0"/>
              <a:t>Stutzle</a:t>
            </a:r>
            <a:r>
              <a:rPr lang="en-US" sz="1200" dirty="0"/>
              <a:t>, and M. Dorigo (2014). Ant colony </a:t>
            </a:r>
            <a:r>
              <a:rPr lang="en-US" sz="1200" dirty="0" smtClean="0"/>
              <a:t>optimization for </a:t>
            </a:r>
            <a:r>
              <a:rPr lang="en-US" sz="1200" dirty="0"/>
              <a:t>mixed-variable </a:t>
            </a:r>
            <a:endParaRPr lang="en-US" sz="1200" dirty="0" smtClean="0"/>
          </a:p>
          <a:p>
            <a:pPr algn="just"/>
            <a:r>
              <a:rPr lang="en-US" sz="1200" dirty="0"/>
              <a:t> </a:t>
            </a:r>
            <a:r>
              <a:rPr lang="en-US" sz="1200" dirty="0" smtClean="0"/>
              <a:t>    optimization </a:t>
            </a:r>
            <a:r>
              <a:rPr lang="en-US" sz="1200" dirty="0"/>
              <a:t>problems. IEEE Trans. Evolutionary </a:t>
            </a:r>
            <a:r>
              <a:rPr lang="en-US" sz="1200" dirty="0" smtClean="0"/>
              <a:t>Computation 18(4</a:t>
            </a:r>
            <a:r>
              <a:rPr lang="en-US" sz="1200" dirty="0"/>
              <a:t>), 503–518.</a:t>
            </a:r>
          </a:p>
        </p:txBody>
      </p:sp>
    </p:spTree>
    <p:extLst>
      <p:ext uri="{BB962C8B-B14F-4D97-AF65-F5344CB8AC3E}">
        <p14:creationId xmlns:p14="http://schemas.microsoft.com/office/powerpoint/2010/main" val="1912054698"/>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1749" y="52445"/>
            <a:ext cx="8520600" cy="572700"/>
          </a:xfrm>
        </p:spPr>
        <p:txBody>
          <a:bodyPr>
            <a:noAutofit/>
          </a:bodyPr>
          <a:lstStyle/>
          <a:p>
            <a:r>
              <a:rPr lang="en-US" sz="3200" b="1" dirty="0">
                <a:solidFill>
                  <a:schemeClr val="tx1"/>
                </a:solidFill>
                <a:latin typeface="Times New Roman" panose="02020603050405020304" pitchFamily="18" charset="0"/>
                <a:ea typeface="Calibri"/>
                <a:cs typeface="Times New Roman" panose="02020603050405020304" pitchFamily="18" charset="0"/>
              </a:rPr>
              <a:t>References</a:t>
            </a:r>
          </a:p>
        </p:txBody>
      </p:sp>
      <p:sp>
        <p:nvSpPr>
          <p:cNvPr id="4" name="Slide Number Placeholder 3"/>
          <p:cNvSpPr>
            <a:spLocks noGrp="1"/>
          </p:cNvSpPr>
          <p:nvPr>
            <p:ph type="sldNum" idx="12"/>
          </p:nvPr>
        </p:nvSpPr>
        <p:spPr/>
        <p:txBody>
          <a:bodyPr/>
          <a:lstStyle/>
          <a:p>
            <a:fld id="{00000000-1234-1234-1234-123412341234}" type="slidenum">
              <a:rPr lang="en" smtClean="0"/>
              <a:pPr/>
              <a:t>36</a:t>
            </a:fld>
            <a:endParaRPr lang="en" dirty="0"/>
          </a:p>
        </p:txBody>
      </p:sp>
      <p:sp>
        <p:nvSpPr>
          <p:cNvPr id="7" name="Rectangle 6"/>
          <p:cNvSpPr/>
          <p:nvPr/>
        </p:nvSpPr>
        <p:spPr>
          <a:xfrm>
            <a:off x="407325" y="718441"/>
            <a:ext cx="8520600" cy="3970318"/>
          </a:xfrm>
          <a:prstGeom prst="rect">
            <a:avLst/>
          </a:prstGeom>
          <a:solidFill>
            <a:schemeClr val="bg1"/>
          </a:solidFill>
        </p:spPr>
        <p:txBody>
          <a:bodyPr wrap="square">
            <a:spAutoFit/>
          </a:bodyPr>
          <a:lstStyle/>
          <a:p>
            <a:pPr algn="just"/>
            <a:r>
              <a:rPr lang="en-US" sz="1200" dirty="0" smtClean="0"/>
              <a:t>[10] Liao</a:t>
            </a:r>
            <a:r>
              <a:rPr lang="en-US" sz="1200" dirty="0"/>
              <a:t>, T. W., R. J. Kuo, and J. T. Hu (2012). Hybrid ant colony optimization </a:t>
            </a:r>
            <a:r>
              <a:rPr lang="en-US" sz="1200" dirty="0" smtClean="0"/>
              <a:t>algorithms for </a:t>
            </a:r>
            <a:r>
              <a:rPr lang="en-US" sz="1200" dirty="0"/>
              <a:t>mixed </a:t>
            </a:r>
            <a:r>
              <a:rPr lang="en-US" sz="1200" dirty="0" smtClean="0"/>
              <a:t>discrete-continuous</a:t>
            </a:r>
          </a:p>
          <a:p>
            <a:pPr algn="just"/>
            <a:r>
              <a:rPr lang="en-US" sz="1200" dirty="0"/>
              <a:t> </a:t>
            </a:r>
            <a:r>
              <a:rPr lang="en-US" sz="1200" dirty="0" smtClean="0"/>
              <a:t>      </a:t>
            </a:r>
            <a:r>
              <a:rPr lang="en-US" sz="1200" dirty="0"/>
              <a:t>optimization problems. Appl. Math. Comput. 219(6</a:t>
            </a:r>
            <a:r>
              <a:rPr lang="en-US" sz="1200" dirty="0" smtClean="0"/>
              <a:t>), 3241–3252.</a:t>
            </a:r>
          </a:p>
          <a:p>
            <a:pPr algn="just"/>
            <a:r>
              <a:rPr lang="en-US" sz="1200" dirty="0" smtClean="0"/>
              <a:t>[11] Liao</a:t>
            </a:r>
            <a:r>
              <a:rPr lang="en-US" sz="1200" dirty="0"/>
              <a:t>, T., T. St ¨ utzle, M. A. Montes De Oca, and M. Dorigo (2014). A unified ant </a:t>
            </a:r>
            <a:r>
              <a:rPr lang="en-US" sz="1200" dirty="0" smtClean="0"/>
              <a:t>colony optimization </a:t>
            </a:r>
            <a:r>
              <a:rPr lang="en-US" sz="1200" dirty="0"/>
              <a:t>algorithm for </a:t>
            </a:r>
            <a:endParaRPr lang="en-US" sz="1200" dirty="0" smtClean="0"/>
          </a:p>
          <a:p>
            <a:pPr algn="just"/>
            <a:r>
              <a:rPr lang="en-US" sz="1200" dirty="0"/>
              <a:t> </a:t>
            </a:r>
            <a:r>
              <a:rPr lang="en-US" sz="1200" dirty="0" smtClean="0"/>
              <a:t>      continuous </a:t>
            </a:r>
            <a:r>
              <a:rPr lang="en-US" sz="1200" dirty="0"/>
              <a:t>optimization. Eur. J. Oper. Res. 234(3), 597–609</a:t>
            </a:r>
            <a:r>
              <a:rPr lang="en-US" sz="1200" dirty="0" smtClean="0"/>
              <a:t>.</a:t>
            </a:r>
          </a:p>
          <a:p>
            <a:pPr algn="just"/>
            <a:r>
              <a:rPr lang="en-US" sz="1200" dirty="0" smtClean="0"/>
              <a:t>[12] Liao</a:t>
            </a:r>
            <a:r>
              <a:rPr lang="en-US" sz="1200" dirty="0"/>
              <a:t>, T., M. A. Montes de Oca, D. Aydin, T. </a:t>
            </a:r>
            <a:r>
              <a:rPr lang="en-US" sz="1200" dirty="0" smtClean="0"/>
              <a:t>Stutzle</a:t>
            </a:r>
            <a:r>
              <a:rPr lang="en-US" sz="1200" dirty="0"/>
              <a:t>, and M. Dorigo (2011). An </a:t>
            </a:r>
            <a:r>
              <a:rPr lang="en-US" sz="1200" dirty="0" smtClean="0"/>
              <a:t>incremental ant </a:t>
            </a:r>
            <a:r>
              <a:rPr lang="en-US" sz="1200" dirty="0"/>
              <a:t>colony algorithm with </a:t>
            </a:r>
            <a:endParaRPr lang="en-US" sz="1200" dirty="0" smtClean="0"/>
          </a:p>
          <a:p>
            <a:pPr algn="just"/>
            <a:r>
              <a:rPr lang="en-US" sz="1200" dirty="0"/>
              <a:t> </a:t>
            </a:r>
            <a:r>
              <a:rPr lang="en-US" sz="1200" dirty="0" smtClean="0"/>
              <a:t>      local </a:t>
            </a:r>
            <a:r>
              <a:rPr lang="en-US" sz="1200" dirty="0"/>
              <a:t>search for continuous optimization. </a:t>
            </a:r>
            <a:r>
              <a:rPr lang="en-US" sz="1200" dirty="0" smtClean="0"/>
              <a:t>Proc. 13th </a:t>
            </a:r>
            <a:r>
              <a:rPr lang="en-US" sz="1200" dirty="0"/>
              <a:t>Annu. Conf. Genet. Evol. Comput. - GECCO ’11, 125</a:t>
            </a:r>
            <a:r>
              <a:rPr lang="en-US" sz="1200" dirty="0" smtClean="0"/>
              <a:t>.</a:t>
            </a:r>
          </a:p>
          <a:p>
            <a:pPr algn="just"/>
            <a:r>
              <a:rPr lang="en-US" sz="1200" dirty="0" smtClean="0"/>
              <a:t>[13] Xiao-Min</a:t>
            </a:r>
            <a:r>
              <a:rPr lang="en-US" sz="1200" dirty="0"/>
              <a:t>, H., Z. Jun, H. S. H. Chung, L. Yun, and L. Ou (2010). SamACO: </a:t>
            </a:r>
            <a:r>
              <a:rPr lang="en-US" sz="1200" dirty="0" smtClean="0"/>
              <a:t>Variable Sampling </a:t>
            </a:r>
            <a:r>
              <a:rPr lang="en-US" sz="1200" dirty="0"/>
              <a:t>Ant Colony Optimization </a:t>
            </a:r>
            <a:endParaRPr lang="en-US" sz="1200" dirty="0" smtClean="0"/>
          </a:p>
          <a:p>
            <a:pPr algn="just"/>
            <a:r>
              <a:rPr lang="en-US" sz="1200" dirty="0"/>
              <a:t> </a:t>
            </a:r>
            <a:r>
              <a:rPr lang="en-US" sz="1200" dirty="0" smtClean="0"/>
              <a:t>      Algorithm </a:t>
            </a:r>
            <a:r>
              <a:rPr lang="en-US" sz="1200" dirty="0"/>
              <a:t>for Continuous Optimization. </a:t>
            </a:r>
            <a:r>
              <a:rPr lang="en-US" sz="1200" dirty="0" smtClean="0"/>
              <a:t>Syst. Man</a:t>
            </a:r>
            <a:r>
              <a:rPr lang="en-US" sz="1200" dirty="0"/>
              <a:t>, Cybern. Part B Cybern. IEEE Trans. 40(6), 1555–1566</a:t>
            </a:r>
            <a:r>
              <a:rPr lang="en-US" sz="1200" dirty="0" smtClean="0"/>
              <a:t>.</a:t>
            </a:r>
          </a:p>
          <a:p>
            <a:pPr algn="just"/>
            <a:r>
              <a:rPr lang="en-US" sz="1200" dirty="0" smtClean="0"/>
              <a:t>[14] Socha</a:t>
            </a:r>
            <a:r>
              <a:rPr lang="en-US" sz="1200" dirty="0"/>
              <a:t>, K. and M. Dorigo (2008). Ant colony optimization for continuous </a:t>
            </a:r>
            <a:r>
              <a:rPr lang="en-US" sz="1200" dirty="0" smtClean="0"/>
              <a:t>domains. European </a:t>
            </a:r>
            <a:r>
              <a:rPr lang="en-US" sz="1200" dirty="0"/>
              <a:t>journal of operational </a:t>
            </a:r>
            <a:endParaRPr lang="en-US" sz="1200" dirty="0" smtClean="0"/>
          </a:p>
          <a:p>
            <a:pPr algn="just"/>
            <a:r>
              <a:rPr lang="en-US" sz="1200" dirty="0"/>
              <a:t> </a:t>
            </a:r>
            <a:r>
              <a:rPr lang="en-US" sz="1200" dirty="0" smtClean="0"/>
              <a:t>      research </a:t>
            </a:r>
            <a:r>
              <a:rPr lang="en-US" sz="1200" dirty="0"/>
              <a:t>185(3), 1155–1173</a:t>
            </a:r>
            <a:r>
              <a:rPr lang="en-US" sz="1200" dirty="0" smtClean="0"/>
              <a:t>.</a:t>
            </a:r>
          </a:p>
          <a:p>
            <a:pPr algn="just"/>
            <a:r>
              <a:rPr lang="en-US" sz="1200" dirty="0" smtClean="0"/>
              <a:t>[15] Chen</a:t>
            </a:r>
            <a:r>
              <a:rPr lang="en-US" sz="1200" dirty="0"/>
              <a:t>, Z., S. Zhou, and J. Luo (2017). A robust ant colony optimization for </a:t>
            </a:r>
            <a:r>
              <a:rPr lang="en-US" sz="1200" dirty="0" smtClean="0"/>
              <a:t>continuous functions</a:t>
            </a:r>
            <a:r>
              <a:rPr lang="en-US" sz="1200" dirty="0"/>
              <a:t>. Expert Syst. Appl. </a:t>
            </a:r>
            <a:endParaRPr lang="en-US" sz="1200" dirty="0" smtClean="0"/>
          </a:p>
          <a:p>
            <a:pPr algn="just"/>
            <a:r>
              <a:rPr lang="en-US" sz="1200" dirty="0"/>
              <a:t> </a:t>
            </a:r>
            <a:r>
              <a:rPr lang="en-US" sz="1200" dirty="0" smtClean="0"/>
              <a:t>      81(April</a:t>
            </a:r>
            <a:r>
              <a:rPr lang="en-US" sz="1200" dirty="0"/>
              <a:t>), 309–320</a:t>
            </a:r>
            <a:r>
              <a:rPr lang="en-US" sz="1200" dirty="0" smtClean="0"/>
              <a:t>.</a:t>
            </a:r>
          </a:p>
          <a:p>
            <a:pPr algn="just"/>
            <a:r>
              <a:rPr lang="en-US" sz="1200" dirty="0" smtClean="0"/>
              <a:t>[16] Wang</a:t>
            </a:r>
            <a:r>
              <a:rPr lang="en-US" sz="1200" dirty="0"/>
              <a:t>, Y., H. X. Li, G. G. Yen, </a:t>
            </a:r>
            <a:r>
              <a:rPr lang="en-US" sz="1200" dirty="0" smtClean="0"/>
              <a:t>and W</a:t>
            </a:r>
            <a:r>
              <a:rPr lang="en-US" sz="1200" dirty="0"/>
              <a:t>. Song (2015). MOMMOP: Multiobjective </a:t>
            </a:r>
            <a:r>
              <a:rPr lang="en-US" sz="1200" dirty="0" smtClean="0"/>
              <a:t>Optimization for </a:t>
            </a:r>
            <a:r>
              <a:rPr lang="en-US" sz="1200" dirty="0"/>
              <a:t>Locating Multiple </a:t>
            </a:r>
            <a:endParaRPr lang="en-US" sz="1200" dirty="0" smtClean="0"/>
          </a:p>
          <a:p>
            <a:pPr algn="just"/>
            <a:r>
              <a:rPr lang="en-US" sz="1200" dirty="0"/>
              <a:t> </a:t>
            </a:r>
            <a:r>
              <a:rPr lang="en-US" sz="1200" dirty="0" smtClean="0"/>
              <a:t>      Optimal </a:t>
            </a:r>
            <a:r>
              <a:rPr lang="en-US" sz="1200" dirty="0"/>
              <a:t>Solutions of Multimodal Optimization </a:t>
            </a:r>
            <a:r>
              <a:rPr lang="en-US" sz="1200" dirty="0" smtClean="0"/>
              <a:t>Problems. IEEE </a:t>
            </a:r>
            <a:r>
              <a:rPr lang="en-US" sz="1200" dirty="0"/>
              <a:t>Trans. Cybern. 45(4), 830–843</a:t>
            </a:r>
            <a:r>
              <a:rPr lang="en-US" sz="1200" dirty="0" smtClean="0"/>
              <a:t>.</a:t>
            </a:r>
          </a:p>
          <a:p>
            <a:pPr algn="just"/>
            <a:r>
              <a:rPr lang="en-US" sz="1200" dirty="0" smtClean="0"/>
              <a:t>[17] Gong</a:t>
            </a:r>
            <a:r>
              <a:rPr lang="en-US" sz="1200" dirty="0"/>
              <a:t>, M., L. Pan, T. Song, K. Tang, and X. Zhang (2015). Ant Colony Optimization </a:t>
            </a:r>
            <a:r>
              <a:rPr lang="en-US" sz="1200" dirty="0" smtClean="0"/>
              <a:t>with Different </a:t>
            </a:r>
            <a:r>
              <a:rPr lang="en-US" sz="1200" dirty="0"/>
              <a:t>Crossover Schemes </a:t>
            </a:r>
            <a:endParaRPr lang="en-US" sz="1200" dirty="0" smtClean="0"/>
          </a:p>
          <a:p>
            <a:pPr algn="just"/>
            <a:r>
              <a:rPr lang="en-US" sz="1200" dirty="0"/>
              <a:t> </a:t>
            </a:r>
            <a:r>
              <a:rPr lang="en-US" sz="1200" dirty="0" smtClean="0"/>
              <a:t>      for </a:t>
            </a:r>
            <a:r>
              <a:rPr lang="en-US" sz="1200" dirty="0"/>
              <a:t>Continuous Optimization. Bio-inspired computing </a:t>
            </a:r>
            <a:r>
              <a:rPr lang="en-US" sz="1200" dirty="0" smtClean="0"/>
              <a:t>- theories </a:t>
            </a:r>
            <a:r>
              <a:rPr lang="en-US" sz="1200" dirty="0"/>
              <a:t>and applications: 10th international conference, bic-ta </a:t>
            </a:r>
            <a:r>
              <a:rPr lang="en-US" sz="1200" dirty="0" smtClean="0"/>
              <a:t> </a:t>
            </a:r>
          </a:p>
          <a:p>
            <a:pPr algn="just"/>
            <a:r>
              <a:rPr lang="en-US" sz="1200" dirty="0"/>
              <a:t> </a:t>
            </a:r>
            <a:r>
              <a:rPr lang="en-US" sz="1200" dirty="0" smtClean="0"/>
              <a:t>      2015 Hefei, </a:t>
            </a:r>
            <a:r>
              <a:rPr lang="en-US" sz="1200" dirty="0"/>
              <a:t>China, </a:t>
            </a:r>
            <a:r>
              <a:rPr lang="en-US" sz="1200" dirty="0" smtClean="0"/>
              <a:t>September 25-28</a:t>
            </a:r>
            <a:r>
              <a:rPr lang="en-US" sz="1200" dirty="0"/>
              <a:t>, 2015 proceedings 562, 56–62</a:t>
            </a:r>
            <a:r>
              <a:rPr lang="en-US" sz="1200" dirty="0" smtClean="0"/>
              <a:t>.</a:t>
            </a:r>
          </a:p>
          <a:p>
            <a:pPr algn="just"/>
            <a:r>
              <a:rPr lang="en-US" sz="1200" dirty="0" smtClean="0"/>
              <a:t>[18] Xiao</a:t>
            </a:r>
            <a:r>
              <a:rPr lang="en-US" sz="1200" dirty="0"/>
              <a:t>, J. and L. Li (2011). A hybrid ant colony optimization for continuous </a:t>
            </a:r>
            <a:r>
              <a:rPr lang="en-US" sz="1200" dirty="0" smtClean="0"/>
              <a:t>domains. Expert </a:t>
            </a:r>
            <a:r>
              <a:rPr lang="en-US" sz="1200" dirty="0"/>
              <a:t>Syst. Appl. 38(9), 11072</a:t>
            </a:r>
            <a:r>
              <a:rPr lang="en-US" sz="1200" dirty="0" smtClean="0"/>
              <a:t>–</a:t>
            </a:r>
          </a:p>
          <a:p>
            <a:pPr algn="just"/>
            <a:r>
              <a:rPr lang="en-US" sz="1200" dirty="0"/>
              <a:t> </a:t>
            </a:r>
            <a:r>
              <a:rPr lang="en-US" sz="1200" dirty="0" smtClean="0"/>
              <a:t>      11077.</a:t>
            </a:r>
          </a:p>
          <a:p>
            <a:pPr algn="just"/>
            <a:r>
              <a:rPr lang="en-US" sz="1200" dirty="0" smtClean="0"/>
              <a:t>[19] Ciornei</a:t>
            </a:r>
            <a:r>
              <a:rPr lang="en-US" sz="1200" dirty="0"/>
              <a:t>, I. and E. </a:t>
            </a:r>
            <a:r>
              <a:rPr lang="en-US" sz="1200" dirty="0" smtClean="0"/>
              <a:t>Kyriakos's </a:t>
            </a:r>
            <a:r>
              <a:rPr lang="en-US" sz="1200" dirty="0"/>
              <a:t>(2012). Hybrid ant colony-genetic algorithm (GAAPI) </a:t>
            </a:r>
            <a:r>
              <a:rPr lang="en-US" sz="1200" dirty="0" smtClean="0"/>
              <a:t>for global </a:t>
            </a:r>
            <a:r>
              <a:rPr lang="en-US" sz="1200" dirty="0"/>
              <a:t>continuous optimization. </a:t>
            </a:r>
            <a:endParaRPr lang="en-US" sz="1200" dirty="0" smtClean="0"/>
          </a:p>
          <a:p>
            <a:pPr algn="just"/>
            <a:r>
              <a:rPr lang="en-US" sz="1200" dirty="0" smtClean="0"/>
              <a:t>       IEEE </a:t>
            </a:r>
            <a:r>
              <a:rPr lang="en-US" sz="1200" dirty="0"/>
              <a:t>Trans. Syst. Man, Cybern. Part B Cybern. 42(1</a:t>
            </a:r>
            <a:r>
              <a:rPr lang="en-US" sz="1200" dirty="0" smtClean="0"/>
              <a:t>), 234–245</a:t>
            </a:r>
            <a:r>
              <a:rPr lang="en-US" sz="1200" dirty="0"/>
              <a:t>.</a:t>
            </a:r>
          </a:p>
        </p:txBody>
      </p:sp>
    </p:spTree>
    <p:extLst>
      <p:ext uri="{BB962C8B-B14F-4D97-AF65-F5344CB8AC3E}">
        <p14:creationId xmlns:p14="http://schemas.microsoft.com/office/powerpoint/2010/main" val="2623173844"/>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1749" y="52445"/>
            <a:ext cx="8520600" cy="572700"/>
          </a:xfrm>
        </p:spPr>
        <p:txBody>
          <a:bodyPr>
            <a:noAutofit/>
          </a:bodyPr>
          <a:lstStyle/>
          <a:p>
            <a:r>
              <a:rPr lang="en-US" sz="3200" b="1" dirty="0">
                <a:solidFill>
                  <a:schemeClr val="tx1"/>
                </a:solidFill>
                <a:latin typeface="Times New Roman" panose="02020603050405020304" pitchFamily="18" charset="0"/>
                <a:ea typeface="Calibri"/>
                <a:cs typeface="Times New Roman" panose="02020603050405020304" pitchFamily="18" charset="0"/>
              </a:rPr>
              <a:t>References</a:t>
            </a:r>
          </a:p>
        </p:txBody>
      </p:sp>
      <p:sp>
        <p:nvSpPr>
          <p:cNvPr id="4" name="Slide Number Placeholder 3"/>
          <p:cNvSpPr>
            <a:spLocks noGrp="1"/>
          </p:cNvSpPr>
          <p:nvPr>
            <p:ph type="sldNum" idx="12"/>
          </p:nvPr>
        </p:nvSpPr>
        <p:spPr/>
        <p:txBody>
          <a:bodyPr/>
          <a:lstStyle/>
          <a:p>
            <a:fld id="{00000000-1234-1234-1234-123412341234}" type="slidenum">
              <a:rPr lang="en" smtClean="0"/>
              <a:pPr/>
              <a:t>37</a:t>
            </a:fld>
            <a:endParaRPr lang="en" dirty="0"/>
          </a:p>
        </p:txBody>
      </p:sp>
      <p:sp>
        <p:nvSpPr>
          <p:cNvPr id="7" name="Rectangle 6"/>
          <p:cNvSpPr/>
          <p:nvPr/>
        </p:nvSpPr>
        <p:spPr>
          <a:xfrm>
            <a:off x="407325" y="718441"/>
            <a:ext cx="8520600" cy="2123658"/>
          </a:xfrm>
          <a:prstGeom prst="rect">
            <a:avLst/>
          </a:prstGeom>
          <a:solidFill>
            <a:schemeClr val="bg1"/>
          </a:solidFill>
        </p:spPr>
        <p:txBody>
          <a:bodyPr wrap="square">
            <a:spAutoFit/>
          </a:bodyPr>
          <a:lstStyle/>
          <a:p>
            <a:pPr algn="just"/>
            <a:r>
              <a:rPr lang="en-US" sz="1200" dirty="0"/>
              <a:t>[20] Zhang, Y., Y. Gong, H. Zhang, T. Gu, and J. Zhang (2017). Toward fast niching </a:t>
            </a:r>
            <a:r>
              <a:rPr lang="en-US" sz="1200" dirty="0" smtClean="0"/>
              <a:t>evolutionary algorithms</a:t>
            </a:r>
            <a:r>
              <a:rPr lang="en-US" sz="1200" dirty="0"/>
              <a:t>: A locality </a:t>
            </a:r>
            <a:r>
              <a:rPr lang="en-US" sz="1200" dirty="0" smtClean="0"/>
              <a:t>  </a:t>
            </a:r>
          </a:p>
          <a:p>
            <a:pPr algn="just"/>
            <a:r>
              <a:rPr lang="en-US" sz="1200" dirty="0"/>
              <a:t> </a:t>
            </a:r>
            <a:r>
              <a:rPr lang="en-US" sz="1200" dirty="0" smtClean="0"/>
              <a:t>      sensitive </a:t>
            </a:r>
            <a:r>
              <a:rPr lang="en-US" sz="1200" dirty="0"/>
              <a:t>hashing-based approach. IEEE Trans. </a:t>
            </a:r>
            <a:r>
              <a:rPr lang="en-US" sz="1200" dirty="0" smtClean="0"/>
              <a:t>Evolutionary Computation </a:t>
            </a:r>
            <a:r>
              <a:rPr lang="en-US" sz="1200" dirty="0"/>
              <a:t>21(3), 347–362</a:t>
            </a:r>
            <a:r>
              <a:rPr lang="en-US" sz="1200" dirty="0" smtClean="0"/>
              <a:t>.</a:t>
            </a:r>
          </a:p>
          <a:p>
            <a:pPr algn="just"/>
            <a:r>
              <a:rPr lang="en-US" sz="1200" dirty="0" smtClean="0"/>
              <a:t>[21] STUTZLEz</a:t>
            </a:r>
            <a:r>
              <a:rPr lang="en-US" sz="1200" dirty="0"/>
              <a:t>, T., M. DORIGO, IRIDIA, U. L. de Bruxelles, Belgium, ftstutzle, and </a:t>
            </a:r>
            <a:r>
              <a:rPr lang="en-US" sz="1200" dirty="0" smtClean="0"/>
              <a:t>mdorigog@ ulb.ac.be </a:t>
            </a:r>
            <a:r>
              <a:rPr lang="en-US" sz="1200" dirty="0"/>
              <a:t>(1999). 1 </a:t>
            </a:r>
            <a:r>
              <a:rPr lang="en-US" sz="1200" dirty="0" smtClean="0"/>
              <a:t>aco </a:t>
            </a:r>
          </a:p>
          <a:p>
            <a:pPr algn="just"/>
            <a:r>
              <a:rPr lang="en-US" sz="1200" dirty="0"/>
              <a:t> </a:t>
            </a:r>
            <a:r>
              <a:rPr lang="en-US" sz="1200" dirty="0" smtClean="0"/>
              <a:t>      algorithms </a:t>
            </a:r>
            <a:r>
              <a:rPr lang="en-US" sz="1200" dirty="0"/>
              <a:t>for the traveling salesman </a:t>
            </a:r>
            <a:r>
              <a:rPr lang="en-US" sz="1200" dirty="0" smtClean="0"/>
              <a:t>problem. </a:t>
            </a:r>
          </a:p>
          <a:p>
            <a:pPr algn="just"/>
            <a:r>
              <a:rPr lang="en-US" sz="1200" dirty="0" smtClean="0"/>
              <a:t>[22] </a:t>
            </a:r>
            <a:r>
              <a:rPr lang="en-US" sz="1200" dirty="0"/>
              <a:t>Li, X., M. G. Epitropakis, K. Deb, and A. </a:t>
            </a:r>
            <a:r>
              <a:rPr lang="en-US" sz="1200" dirty="0" smtClean="0"/>
              <a:t>Engel Brecht </a:t>
            </a:r>
            <a:r>
              <a:rPr lang="en-US" sz="1200" dirty="0"/>
              <a:t>(2017, August). Seeking </a:t>
            </a:r>
            <a:r>
              <a:rPr lang="en-US" sz="1200" dirty="0" smtClean="0"/>
              <a:t>multiple solutions</a:t>
            </a:r>
            <a:r>
              <a:rPr lang="en-US" sz="1200" dirty="0"/>
              <a:t>: An updated survey on </a:t>
            </a:r>
            <a:r>
              <a:rPr lang="en-US" sz="1200" dirty="0" smtClean="0"/>
              <a:t> </a:t>
            </a:r>
          </a:p>
          <a:p>
            <a:pPr algn="just"/>
            <a:r>
              <a:rPr lang="en-US" sz="1200" dirty="0"/>
              <a:t> </a:t>
            </a:r>
            <a:r>
              <a:rPr lang="en-US" sz="1200" dirty="0" smtClean="0"/>
              <a:t>      niching </a:t>
            </a:r>
            <a:r>
              <a:rPr lang="en-US" sz="1200" dirty="0"/>
              <a:t>methods and their applications. </a:t>
            </a:r>
            <a:r>
              <a:rPr lang="en-US" sz="1200" dirty="0" smtClean="0"/>
              <a:t>IEEE Transactions </a:t>
            </a:r>
            <a:r>
              <a:rPr lang="en-US" sz="1200" dirty="0"/>
              <a:t>on Evolutionary Computation 21(4), 518–538</a:t>
            </a:r>
            <a:r>
              <a:rPr lang="en-US" sz="1200" dirty="0" smtClean="0"/>
              <a:t>.</a:t>
            </a:r>
          </a:p>
          <a:p>
            <a:pPr algn="just"/>
            <a:r>
              <a:rPr lang="en-US" sz="1200" dirty="0" smtClean="0"/>
              <a:t>[23] </a:t>
            </a:r>
            <a:r>
              <a:rPr lang="en-US" sz="1200" dirty="0"/>
              <a:t>Cheng, R., M. Li, K. Li, and X. Yao (2017). Evolutionary Multiobjective </a:t>
            </a:r>
            <a:r>
              <a:rPr lang="en-US" sz="1200" dirty="0" smtClean="0"/>
              <a:t>Optimization Based </a:t>
            </a:r>
            <a:r>
              <a:rPr lang="en-US" sz="1200" dirty="0"/>
              <a:t>Multimodal Optimization: </a:t>
            </a:r>
            <a:endParaRPr lang="en-US" sz="1200" dirty="0" smtClean="0"/>
          </a:p>
          <a:p>
            <a:pPr algn="just"/>
            <a:r>
              <a:rPr lang="en-US" sz="1200" dirty="0"/>
              <a:t> </a:t>
            </a:r>
            <a:r>
              <a:rPr lang="en-US" sz="1200" dirty="0" smtClean="0"/>
              <a:t>      Fitness </a:t>
            </a:r>
            <a:r>
              <a:rPr lang="en-US" sz="1200" dirty="0"/>
              <a:t>Landscape Approximation and </a:t>
            </a:r>
            <a:r>
              <a:rPr lang="en-US" sz="1200" dirty="0" smtClean="0"/>
              <a:t>Peak Detection</a:t>
            </a:r>
            <a:r>
              <a:rPr lang="en-US" sz="1200" dirty="0"/>
              <a:t>. IEEE Trans. Evol. Comput. XX(X), 1–15</a:t>
            </a:r>
            <a:r>
              <a:rPr lang="en-US" sz="1200" dirty="0" smtClean="0"/>
              <a:t>.</a:t>
            </a:r>
          </a:p>
          <a:p>
            <a:pPr algn="just"/>
            <a:r>
              <a:rPr lang="en-US" sz="1200" dirty="0" smtClean="0"/>
              <a:t>[24] </a:t>
            </a:r>
            <a:r>
              <a:rPr lang="en-US" sz="1200" dirty="0"/>
              <a:t>Dasa, S., S. Maity, B. Y. Qu, and P. N. Suganthan (2011). Real-parameter </a:t>
            </a:r>
            <a:r>
              <a:rPr lang="en-US" sz="1200" dirty="0" smtClean="0"/>
              <a:t>evolutionary multimodal optimization-A </a:t>
            </a:r>
          </a:p>
          <a:p>
            <a:pPr algn="just"/>
            <a:r>
              <a:rPr lang="en-US" sz="1200" dirty="0"/>
              <a:t> </a:t>
            </a:r>
            <a:r>
              <a:rPr lang="en-US" sz="1200" dirty="0" smtClean="0"/>
              <a:t>      survey </a:t>
            </a:r>
            <a:r>
              <a:rPr lang="en-US" sz="1200" dirty="0"/>
              <a:t>of the state-of-the-art. Swarm Evol. Comput. 1(2</a:t>
            </a:r>
            <a:r>
              <a:rPr lang="en-US" sz="1200" dirty="0" smtClean="0"/>
              <a:t>), 71–78.</a:t>
            </a:r>
          </a:p>
          <a:p>
            <a:endParaRPr lang="en-US" sz="1200" dirty="0"/>
          </a:p>
        </p:txBody>
      </p:sp>
    </p:spTree>
    <p:extLst>
      <p:ext uri="{BB962C8B-B14F-4D97-AF65-F5344CB8AC3E}">
        <p14:creationId xmlns:p14="http://schemas.microsoft.com/office/powerpoint/2010/main" val="4276133888"/>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Diagram 4"/>
          <p:cNvGraphicFramePr/>
          <p:nvPr>
            <p:extLst>
              <p:ext uri="{D42A27DB-BD31-4B8C-83A1-F6EECF244321}">
                <p14:modId xmlns:p14="http://schemas.microsoft.com/office/powerpoint/2010/main" val="367560359"/>
              </p:ext>
            </p:extLst>
          </p:nvPr>
        </p:nvGraphicFramePr>
        <p:xfrm>
          <a:off x="251749" y="1273215"/>
          <a:ext cx="8520600" cy="195612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Slide Number Placeholder 3"/>
          <p:cNvSpPr>
            <a:spLocks noGrp="1"/>
          </p:cNvSpPr>
          <p:nvPr>
            <p:ph type="sldNum" idx="12"/>
          </p:nvPr>
        </p:nvSpPr>
        <p:spPr/>
        <p:txBody>
          <a:bodyPr/>
          <a:lstStyle/>
          <a:p>
            <a:fld id="{00000000-1234-1234-1234-123412341234}" type="slidenum">
              <a:rPr lang="en" smtClean="0"/>
              <a:pPr/>
              <a:t>38</a:t>
            </a:fld>
            <a:endParaRPr lang="en" dirty="0"/>
          </a:p>
        </p:txBody>
      </p:sp>
    </p:spTree>
    <p:extLst>
      <p:ext uri="{BB962C8B-B14F-4D97-AF65-F5344CB8AC3E}">
        <p14:creationId xmlns:p14="http://schemas.microsoft.com/office/powerpoint/2010/main" val="26088179"/>
      </p:ext>
    </p:extLst>
  </p:cSld>
  <p:clrMapOvr>
    <a:masterClrMapping/>
  </p:clrMapOvr>
  <p:timing>
    <p:tnLst>
      <p:par>
        <p:cTn id="1" dur="indefinite" restart="never" nodeType="tmRoot"/>
      </p:par>
    </p:tnLst>
  </p:timing>
</p:sld>
</file>

<file path=ppt/theme/theme1.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ppt/theme/theme2.xml><?xml version="1.0" encoding="utf-8"?>
<a:theme xmlns:a="http://schemas.openxmlformats.org/drawingml/2006/main" name="Custom Theme">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Retrospect</Template>
  <TotalTime>1723</TotalTime>
  <Words>5749</Words>
  <Application>Microsoft Office PowerPoint</Application>
  <PresentationFormat>On-screen Show (16:9)</PresentationFormat>
  <Paragraphs>627</Paragraphs>
  <Slides>38</Slides>
  <Notes>31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38</vt:i4>
      </vt:variant>
    </vt:vector>
  </HeadingPairs>
  <TitlesOfParts>
    <vt:vector size="45" baseType="lpstr">
      <vt:lpstr>Calibri</vt:lpstr>
      <vt:lpstr>Times New Roman</vt:lpstr>
      <vt:lpstr>Wingdings</vt:lpstr>
      <vt:lpstr>Arial</vt:lpstr>
      <vt:lpstr>Calibri Light</vt:lpstr>
      <vt:lpstr>Playfair Display</vt:lpstr>
      <vt:lpstr>Retrospect</vt:lpstr>
      <vt:lpstr>Multimodal Ant Colony Optimization for Mixed Variable Optimization Problems</vt:lpstr>
      <vt:lpstr>Table of Contents</vt:lpstr>
      <vt:lpstr>Introduction</vt:lpstr>
      <vt:lpstr>Background </vt:lpstr>
      <vt:lpstr>Background </vt:lpstr>
      <vt:lpstr>Problem Statement</vt:lpstr>
      <vt:lpstr>Motivation </vt:lpstr>
      <vt:lpstr>Literature Review</vt:lpstr>
      <vt:lpstr>Ant Colony Optimization for Continuous Domains [1]  </vt:lpstr>
      <vt:lpstr>Ant Colony Optimization for Continuous Domains [1]</vt:lpstr>
      <vt:lpstr>Adaptive Multimodal Continuous Ant Colony Optimization [2]</vt:lpstr>
      <vt:lpstr>Adaptive Multimodal Continuous Ant Colony Optimization [2]</vt:lpstr>
      <vt:lpstr>A Unified Ant Colony Optimization Algorithm for Continuous Optimization [3]</vt:lpstr>
      <vt:lpstr>A Unified Ant Colony Optimization Algorithm for Continuous Optimization [3]</vt:lpstr>
      <vt:lpstr>Multiobjective Optimization for Locating Multiple Optimal Solutions of Multimodal Optimization Problems [4]</vt:lpstr>
      <vt:lpstr>Multiobjective Optimization for Locating Multiple Optimal Solutions of Multimodal Optimization Problems [4]</vt:lpstr>
      <vt:lpstr>Running Up Those Hills: MultiModal Search With the Niching Migratory Multi-Swarm Optimizer [5]</vt:lpstr>
      <vt:lpstr>Running Up Those Hills: MultiModal Search With the Niching Migratory Multi-Swarm Optimizer [5]</vt:lpstr>
      <vt:lpstr>A Distance Based Locally Informed Particle Swarm Model for MultiModal Optimization [6]  </vt:lpstr>
      <vt:lpstr>A Distance Based Locally Informed Particle Swarm Model for MultiModal Optimization [6]</vt:lpstr>
      <vt:lpstr>Comparative Analysis</vt:lpstr>
      <vt:lpstr>Comparative Analysis</vt:lpstr>
      <vt:lpstr>Comparative Analysis</vt:lpstr>
      <vt:lpstr>Comparative Analysis</vt:lpstr>
      <vt:lpstr>Comparative Analysis</vt:lpstr>
      <vt:lpstr>Comparative Analysis Results</vt:lpstr>
      <vt:lpstr>Proposed Methodology  (MV-MACO)</vt:lpstr>
      <vt:lpstr>MV-MACO</vt:lpstr>
      <vt:lpstr>MV-MACO</vt:lpstr>
      <vt:lpstr>MV-MACO</vt:lpstr>
      <vt:lpstr>MV-MACO</vt:lpstr>
      <vt:lpstr>MV-MACO</vt:lpstr>
      <vt:lpstr>Difficulties Facing Niching</vt:lpstr>
      <vt:lpstr>Timeline for Thesis-II</vt:lpstr>
      <vt:lpstr>References</vt:lpstr>
      <vt:lpstr>References</vt:lpstr>
      <vt:lpstr>References</vt:lpstr>
      <vt:lpstr>PowerPoint Presentation</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Continuous Multimodal Ant Colony Optimization</dc:title>
  <dc:creator>AWAIS ALI</dc:creator>
  <cp:lastModifiedBy>AWAIS ALI</cp:lastModifiedBy>
  <cp:revision>339</cp:revision>
  <dcterms:modified xsi:type="dcterms:W3CDTF">2018-01-01T05:33:45Z</dcterms:modified>
</cp:coreProperties>
</file>